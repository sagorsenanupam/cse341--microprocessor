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7010400" cy="9296400"/>
  <p:embeddedFontLst>
    <p:embeddedFont>
      <p:font typeface="Open Sans ExtraBold"/>
      <p:bold r:id="rId19"/>
      <p:boldItalic r:id="rId20"/>
    </p:embeddedFont>
    <p:embeddedFont>
      <p:font typeface="Open Sans Medium"/>
      <p:regular r:id="rId21"/>
      <p:bold r:id="rId22"/>
      <p:italic r:id="rId23"/>
      <p:boldItalic r:id="rId24"/>
    </p:embeddedFont>
    <p:embeddedFont>
      <p:font typeface="Gill Sans"/>
      <p:regular r:id="rId25"/>
      <p:bold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hoRsAraXEPo6jpaB5njjI0S15E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ExtraBold-boldItalic.fntdata"/><Relationship Id="rId22" Type="http://schemas.openxmlformats.org/officeDocument/2006/relationships/font" Target="fonts/OpenSansMedium-bold.fntdata"/><Relationship Id="rId21" Type="http://schemas.openxmlformats.org/officeDocument/2006/relationships/font" Target="fonts/OpenSansMedium-regular.fntdata"/><Relationship Id="rId24" Type="http://schemas.openxmlformats.org/officeDocument/2006/relationships/font" Target="fonts/OpenSansMedium-boldItalic.fntdata"/><Relationship Id="rId23" Type="http://schemas.openxmlformats.org/officeDocument/2006/relationships/font" Target="fonts/Open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penSansExtraBold-bold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:notes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4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1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14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4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pic>
        <p:nvPicPr>
          <p:cNvPr descr="BracU Logo | Brac University" id="31" name="Google Shape;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6" name="Google Shape;46;p16"/>
          <p:cNvSpPr txBox="1"/>
          <p:nvPr/>
        </p:nvSpPr>
        <p:spPr>
          <a:xfrm>
            <a:off x="2286000" y="6396335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</p:txBody>
      </p:sp>
      <p:pic>
        <p:nvPicPr>
          <p:cNvPr descr="BracU Logo | Brac University" id="47" name="Google Shape;4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7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" name="Google Shape;54;p17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" name="Google Shape;55;p17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" name="Google Shape;56;p17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1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1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1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8" name="Google Shape;38;p1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9" name="Google Shape;39;p1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Flag Register</a:t>
            </a:r>
            <a:endParaRPr/>
          </a:p>
        </p:txBody>
      </p:sp>
      <p:pic>
        <p:nvPicPr>
          <p:cNvPr descr="BracU Logo | Brac University" id="65" name="Google Shape;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71" name="Google Shape;71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Book:</a:t>
            </a:r>
            <a:endParaRPr/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🞂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163322" lvl="1" marL="548640" rtl="0" algn="l"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8086 Flag Register</a:t>
            </a:r>
            <a:endParaRPr/>
          </a:p>
        </p:txBody>
      </p:sp>
      <p:sp>
        <p:nvSpPr>
          <p:cNvPr id="78" name="Google Shape;78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72"/>
              <a:buChar char="🞂"/>
            </a:pPr>
            <a:r>
              <a:rPr lang="en-US" sz="2200"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r>
              <a:rPr lang="en-US" sz="2200"/>
              <a:t>6-</a:t>
            </a:r>
            <a:r>
              <a:rPr b="1" lang="en-US" sz="2200">
                <a:latin typeface="Open Sans ExtraBold"/>
                <a:ea typeface="Open Sans ExtraBold"/>
                <a:cs typeface="Open Sans ExtraBold"/>
                <a:sym typeface="Open Sans ExtraBold"/>
              </a:rPr>
              <a:t>Bit register 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444"/>
              <a:buFont typeface="Arial"/>
              <a:buChar char="•"/>
            </a:pPr>
            <a:r>
              <a:rPr b="1" lang="en-US" sz="1900">
                <a:latin typeface="Open Sans ExtraBold"/>
                <a:ea typeface="Open Sans ExtraBold"/>
                <a:cs typeface="Open Sans ExtraBold"/>
                <a:sym typeface="Open Sans ExtraBold"/>
              </a:rPr>
              <a:t>     7 bits are undefined/unused (marked by red x in the figure below)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444"/>
              <a:buFont typeface="Arial"/>
              <a:buChar char="•"/>
            </a:pPr>
            <a:r>
              <a:rPr b="1" lang="en-US" sz="1900">
                <a:latin typeface="Open Sans ExtraBold"/>
                <a:ea typeface="Open Sans ExtraBold"/>
                <a:cs typeface="Open Sans ExtraBold"/>
                <a:sym typeface="Open Sans ExtraBold"/>
              </a:rPr>
              <a:t>     6 status/condition flags (marked by blue circles)</a:t>
            </a:r>
            <a:endParaRPr/>
          </a:p>
          <a:p>
            <a:pPr indent="-274320" lvl="1" marL="548640" rtl="0" algn="l">
              <a:spcBef>
                <a:spcPts val="500"/>
              </a:spcBef>
              <a:spcAft>
                <a:spcPts val="0"/>
              </a:spcAft>
              <a:buSzPts val="1444"/>
              <a:buFont typeface="Arial"/>
              <a:buChar char="•"/>
            </a:pPr>
            <a:r>
              <a:rPr b="1" lang="en-US" sz="1900">
                <a:latin typeface="Open Sans ExtraBold"/>
                <a:ea typeface="Open Sans ExtraBold"/>
                <a:cs typeface="Open Sans ExtraBold"/>
                <a:sym typeface="Open Sans ExtraBold"/>
              </a:rPr>
              <a:t>     3 control flags (those in grey boxes)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The condition flags are set (1) or reset (0) depending on the result of an arithmetic/logical operation.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US" sz="2400"/>
              <a:t>Control flags control the operations of the CPU </a:t>
            </a:r>
            <a:endParaRPr/>
          </a:p>
          <a:p>
            <a:pPr indent="-139192" lvl="0" marL="274320" rtl="0" algn="l"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 b="78889" l="0" r="5782" t="0"/>
          <a:stretch/>
        </p:blipFill>
        <p:spPr>
          <a:xfrm>
            <a:off x="1219200" y="4724400"/>
            <a:ext cx="6206490" cy="68961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1219200" y="4491335"/>
            <a:ext cx="62064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entury"/>
                <a:ea typeface="Century"/>
                <a:cs typeface="Century"/>
                <a:sym typeface="Century"/>
              </a:rPr>
              <a:t>                                                            Bit Positions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15   14  13   12   11   10   9    8   7   6   5    4   3    2   1    0</a:t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>
            <a:off x="1371600" y="4648200"/>
            <a:ext cx="2286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3"/>
          <p:cNvCxnSpPr/>
          <p:nvPr/>
        </p:nvCxnSpPr>
        <p:spPr>
          <a:xfrm>
            <a:off x="4953000" y="4648200"/>
            <a:ext cx="2286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89" name="Google Shape;89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5228"/>
          <a:stretch/>
        </p:blipFill>
        <p:spPr>
          <a:xfrm>
            <a:off x="329398" y="1371600"/>
            <a:ext cx="8817650" cy="41438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/>
          <p:nvPr/>
        </p:nvSpPr>
        <p:spPr>
          <a:xfrm flipH="1">
            <a:off x="710400" y="5204936"/>
            <a:ext cx="5538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Flags are useful in programming e.g. when writing conditions such as: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 answer is zero, do … else …. // zero flag comes in hand here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 answer is less than zero, do … else …. // sign flag can be used here 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10400" y="5181600"/>
            <a:ext cx="5538000" cy="83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228600" y="1143000"/>
            <a:ext cx="8686800" cy="51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Carry Flag (CF)</a:t>
            </a:r>
            <a:r>
              <a:rPr lang="en-US" sz="2400"/>
              <a:t> - is set to ’1’ when there is an unsigned overflow. E.g. when you add bytes 255 + 1 (result is not in range 0...255).  When there is no overflow this flag is reset to 0.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Parity Flag (PF)</a:t>
            </a:r>
            <a:r>
              <a:rPr lang="en-US" sz="2400"/>
              <a:t> - set to ’1’ when there is even number of one bits in result, and reset to ’0’ when there is odd number of one bits.  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Auxiliary Flag (AF)</a:t>
            </a:r>
            <a:r>
              <a:rPr lang="en-US" sz="2400"/>
              <a:t> - set to ’1’  when there is an unsigned overflow for low nibble (4 bits).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228600" y="1143000"/>
            <a:ext cx="8686800" cy="5137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Zero Flag (ZF)</a:t>
            </a:r>
            <a:r>
              <a:rPr lang="en-US" sz="2400"/>
              <a:t> - set to ’1’  when result is zero. For non-zero result this flag is reset to ’0’.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Sign Flag (SF)</a:t>
            </a:r>
            <a:r>
              <a:rPr lang="en-US" sz="2400"/>
              <a:t> - set to ’1’ when result is negative.  When result is positive it is reset to ‘0’. (This flag takes the value of the most significant bit). </a:t>
            </a:r>
            <a:endParaRPr/>
          </a:p>
          <a:p>
            <a:pPr indent="-274320" lvl="0" marL="274320" rtl="0" algn="just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b="1" lang="en-US" sz="2400"/>
              <a:t>Overflow Flag (OF)</a:t>
            </a:r>
            <a:r>
              <a:rPr lang="en-US" sz="2400"/>
              <a:t> - set to ’1’ when there is a signed overflow.  For example, when you add bytes 100 + 50.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112" name="Google Shape;112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609600" y="2667000"/>
            <a:ext cx="8229600" cy="153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MOV AL, 50  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MOV BL, 32  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ADD AL, BL  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609600" y="268224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AL, 50h  ( 0 1 0 1 0 0 0 0 ) 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BL, 32h  ( 0 0 1 1 0 0 1 0 )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 AL, BL</a:t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2895600" y="4130040"/>
            <a:ext cx="4572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( 1 0 0 0 0 0 1 0 )</a:t>
            </a:r>
            <a:endParaRPr/>
          </a:p>
        </p:txBody>
      </p:sp>
      <p:cxnSp>
        <p:nvCxnSpPr>
          <p:cNvPr id="116" name="Google Shape;116;p7"/>
          <p:cNvCxnSpPr/>
          <p:nvPr/>
        </p:nvCxnSpPr>
        <p:spPr>
          <a:xfrm>
            <a:off x="3124200" y="4070350"/>
            <a:ext cx="3810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7"/>
          <p:cNvSpPr txBox="1"/>
          <p:nvPr/>
        </p:nvSpPr>
        <p:spPr>
          <a:xfrm flipH="1">
            <a:off x="6324600" y="4648200"/>
            <a:ext cx="2667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ZF=0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 answer is NOT zero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has an EVEN number of 1s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8" name="Google Shape;118;p7"/>
          <p:cNvSpPr/>
          <p:nvPr/>
        </p:nvSpPr>
        <p:spPr>
          <a:xfrm flipH="1">
            <a:off x="4872087" y="2567225"/>
            <a:ext cx="309512" cy="267415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026843" y="2843309"/>
            <a:ext cx="383357" cy="113433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7"/>
          <p:cNvSpPr/>
          <p:nvPr/>
        </p:nvSpPr>
        <p:spPr>
          <a:xfrm flipH="1">
            <a:off x="3805287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1" name="Google Shape;121;p7"/>
          <p:cNvSpPr/>
          <p:nvPr/>
        </p:nvSpPr>
        <p:spPr>
          <a:xfrm flipH="1">
            <a:off x="3500487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0" y="2934415"/>
            <a:ext cx="609600" cy="96702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2212157" y="2374463"/>
            <a:ext cx="41886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38BAD"/>
                </a:solidFill>
                <a:latin typeface="Arial"/>
                <a:ea typeface="Arial"/>
                <a:cs typeface="Arial"/>
                <a:sym typeface="Arial"/>
              </a:rPr>
              <a:t>Carry                    1     1      1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 flipH="1">
            <a:off x="3810000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7"/>
          <p:cNvSpPr/>
          <p:nvPr/>
        </p:nvSpPr>
        <p:spPr>
          <a:xfrm flipH="1">
            <a:off x="3505200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6" name="Google Shape;126;p7"/>
          <p:cNvSpPr/>
          <p:nvPr/>
        </p:nvSpPr>
        <p:spPr>
          <a:xfrm flipH="1">
            <a:off x="3810000" y="2682240"/>
            <a:ext cx="309513" cy="17630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500487" y="2636520"/>
            <a:ext cx="614313" cy="26741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7"/>
          <p:cNvSpPr/>
          <p:nvPr/>
        </p:nvSpPr>
        <p:spPr>
          <a:xfrm flipH="1" rot="10800000">
            <a:off x="6324600" y="4685590"/>
            <a:ext cx="2667000" cy="1162938"/>
          </a:xfrm>
          <a:prstGeom prst="wedgeRoundRectCallout">
            <a:avLst>
              <a:gd fmla="val -62900" name="adj1"/>
              <a:gd fmla="val 59759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655243" y="4206240"/>
            <a:ext cx="2821757" cy="36933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7"/>
          <p:cNvSpPr/>
          <p:nvPr/>
        </p:nvSpPr>
        <p:spPr>
          <a:xfrm flipH="1">
            <a:off x="3505200" y="4648217"/>
            <a:ext cx="300083" cy="275573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19050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3403764" y="436272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x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 rot="10800000">
            <a:off x="457200" y="4762225"/>
            <a:ext cx="2667000" cy="653173"/>
          </a:xfrm>
          <a:prstGeom prst="wedgeRoundRectCallout">
            <a:avLst>
              <a:gd fmla="val -60178" name="adj1"/>
              <a:gd fmla="val 56342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7"/>
          <p:cNvSpPr txBox="1"/>
          <p:nvPr/>
        </p:nvSpPr>
        <p:spPr>
          <a:xfrm flipH="1">
            <a:off x="462696" y="4823936"/>
            <a:ext cx="274045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 answer has NO carry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7"/>
          <p:cNvSpPr/>
          <p:nvPr/>
        </p:nvSpPr>
        <p:spPr>
          <a:xfrm rot="10800000">
            <a:off x="3403764" y="5349239"/>
            <a:ext cx="2656072" cy="980418"/>
          </a:xfrm>
          <a:prstGeom prst="wedgeRoundRectCallout">
            <a:avLst>
              <a:gd fmla="val 32485" name="adj1"/>
              <a:gd fmla="val 134605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5" name="Google Shape;135;p7"/>
          <p:cNvSpPr txBox="1"/>
          <p:nvPr/>
        </p:nvSpPr>
        <p:spPr>
          <a:xfrm flipH="1">
            <a:off x="3403764" y="5402243"/>
            <a:ext cx="2656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MSB is 1 indicating a negative answer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687060" y="1693784"/>
            <a:ext cx="2667000" cy="855342"/>
          </a:xfrm>
          <a:prstGeom prst="wedgeRoundRectCallout">
            <a:avLst>
              <a:gd fmla="val -67797" name="adj1"/>
              <a:gd fmla="val 66779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7"/>
          <p:cNvSpPr txBox="1"/>
          <p:nvPr/>
        </p:nvSpPr>
        <p:spPr>
          <a:xfrm flipH="1">
            <a:off x="5681980" y="1667470"/>
            <a:ext cx="27404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there is NO carry from the lower nibble to the upper nibble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" name="Google Shape;138;p7"/>
          <p:cNvSpPr/>
          <p:nvPr/>
        </p:nvSpPr>
        <p:spPr>
          <a:xfrm flipH="1">
            <a:off x="3825557" y="2648307"/>
            <a:ext cx="309512" cy="267415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2D05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9" name="Google Shape;139;p7"/>
          <p:cNvSpPr/>
          <p:nvPr/>
        </p:nvSpPr>
        <p:spPr>
          <a:xfrm flipH="1">
            <a:off x="3469957" y="2667000"/>
            <a:ext cx="309512" cy="267415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0" name="Google Shape;140;p7"/>
          <p:cNvSpPr/>
          <p:nvPr/>
        </p:nvSpPr>
        <p:spPr>
          <a:xfrm flipH="1">
            <a:off x="228596" y="1655247"/>
            <a:ext cx="3733803" cy="669013"/>
          </a:xfrm>
          <a:prstGeom prst="wedgeRoundRectCallout">
            <a:avLst>
              <a:gd fmla="val -40574" name="adj1"/>
              <a:gd fmla="val 94796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1" name="Google Shape;141;p7"/>
          <p:cNvSpPr txBox="1"/>
          <p:nvPr/>
        </p:nvSpPr>
        <p:spPr>
          <a:xfrm flipH="1">
            <a:off x="228597" y="1591270"/>
            <a:ext cx="35508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OF=1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there is a carry from the 7</a:t>
            </a:r>
            <a:r>
              <a:rPr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ONLY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835717" y="31160"/>
            <a:ext cx="5003483" cy="112050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20" y="50707"/>
                </a:moveTo>
                <a:lnTo>
                  <a:pt x="-20428" y="172612"/>
                </a:lnTo>
              </a:path>
            </a:pathLst>
          </a:cu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" name="Google Shape;143;p7"/>
          <p:cNvSpPr txBox="1"/>
          <p:nvPr/>
        </p:nvSpPr>
        <p:spPr>
          <a:xfrm flipH="1">
            <a:off x="3835716" y="-3870"/>
            <a:ext cx="500348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NB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 is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to 1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there is a carry from: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ONLY or 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ONLY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 there is a carry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then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 =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Status Flags</a:t>
            </a:r>
            <a:endParaRPr/>
          </a:p>
        </p:txBody>
      </p:sp>
      <p:sp>
        <p:nvSpPr>
          <p:cNvPr id="149" name="Google Shape;149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0" name="Google Shape;150;p8"/>
          <p:cNvGrpSpPr/>
          <p:nvPr/>
        </p:nvGrpSpPr>
        <p:grpSpPr>
          <a:xfrm>
            <a:off x="457200" y="2362200"/>
            <a:ext cx="7543800" cy="3115270"/>
            <a:chOff x="1143000" y="1037550"/>
            <a:chExt cx="7543800" cy="3115270"/>
          </a:xfrm>
        </p:grpSpPr>
        <p:sp>
          <p:nvSpPr>
            <p:cNvPr id="151" name="Google Shape;151;p8"/>
            <p:cNvSpPr txBox="1"/>
            <p:nvPr/>
          </p:nvSpPr>
          <p:spPr>
            <a:xfrm>
              <a:off x="3429000" y="2895600"/>
              <a:ext cx="4572000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n-US" sz="2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0 0 0 0 0 0 0 0 </a:t>
              </a:r>
              <a:endParaRPr/>
            </a:p>
          </p:txBody>
        </p:sp>
        <p:cxnSp>
          <p:nvCxnSpPr>
            <p:cNvPr id="152" name="Google Shape;152;p8"/>
            <p:cNvCxnSpPr/>
            <p:nvPr/>
          </p:nvCxnSpPr>
          <p:spPr>
            <a:xfrm>
              <a:off x="3657600" y="2835910"/>
              <a:ext cx="3810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p8"/>
            <p:cNvSpPr txBox="1"/>
            <p:nvPr/>
          </p:nvSpPr>
          <p:spPr>
            <a:xfrm>
              <a:off x="1143000" y="1447800"/>
              <a:ext cx="7543800" cy="2705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74320" lvl="0" marL="27432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976"/>
                <a:buFont typeface="Noto Sans Symbols"/>
                <a:buChar char="🞂"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MOV AL, FFh    1 1 1 1 1 1 1 1  </a:t>
              </a:r>
              <a:endParaRPr/>
            </a:p>
            <a:p>
              <a:pPr indent="-274320" lvl="0" marL="27432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ts val="1976"/>
                <a:buFont typeface="Noto Sans Symbols"/>
                <a:buChar char="🞂"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MOV BL, 01h    0 0 0 0 0 0 0 1 </a:t>
              </a:r>
              <a:endParaRPr/>
            </a:p>
            <a:p>
              <a:pPr indent="-274320" lvl="0" marL="274320" marR="0" rtl="0" algn="l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1"/>
                </a:buClr>
                <a:buSzPts val="1976"/>
                <a:buFont typeface="Noto Sans Symbols"/>
                <a:buChar char="🞂"/>
              </a:pPr>
              <a:r>
                <a:rPr lang="en-US" sz="2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 AL, BL</a:t>
              </a:r>
              <a:endParaRPr/>
            </a:p>
          </p:txBody>
        </p:sp>
        <p:cxnSp>
          <p:nvCxnSpPr>
            <p:cNvPr id="154" name="Google Shape;154;p8"/>
            <p:cNvCxnSpPr/>
            <p:nvPr/>
          </p:nvCxnSpPr>
          <p:spPr>
            <a:xfrm>
              <a:off x="4267200" y="3505200"/>
              <a:ext cx="270510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" name="Google Shape;155;p8"/>
            <p:cNvSpPr txBox="1"/>
            <p:nvPr/>
          </p:nvSpPr>
          <p:spPr>
            <a:xfrm>
              <a:off x="3048000" y="1037550"/>
              <a:ext cx="41886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638BAD"/>
                  </a:solidFill>
                  <a:latin typeface="Arial"/>
                  <a:ea typeface="Arial"/>
                  <a:cs typeface="Arial"/>
                  <a:sym typeface="Arial"/>
                </a:rPr>
                <a:t>Carry       </a:t>
              </a:r>
              <a:r>
                <a:rPr lang="en-US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1     1</a:t>
              </a:r>
              <a:r>
                <a:rPr lang="en-US" sz="1400">
                  <a:solidFill>
                    <a:srgbClr val="B38806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lang="en-US" sz="1400">
                  <a:solidFill>
                    <a:srgbClr val="638BAD"/>
                  </a:solidFill>
                  <a:latin typeface="Arial"/>
                  <a:ea typeface="Arial"/>
                  <a:cs typeface="Arial"/>
                  <a:sym typeface="Arial"/>
                </a:rPr>
                <a:t>1      1      1     1      1      1   </a:t>
              </a: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4114800" y="2936557"/>
              <a:ext cx="2971800" cy="416243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4152900" y="2971800"/>
              <a:ext cx="342900" cy="381000"/>
            </a:xfrm>
            <a:prstGeom prst="ellipse">
              <a:avLst/>
            </a:prstGeom>
            <a:noFill/>
            <a:ln cap="flat" cmpd="sng" w="28575">
              <a:solidFill>
                <a:srgbClr val="B388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 flipH="1">
              <a:off x="3962400" y="3352800"/>
              <a:ext cx="361950" cy="228582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9" name="Google Shape;159;p8"/>
            <p:cNvSpPr/>
            <p:nvPr/>
          </p:nvSpPr>
          <p:spPr>
            <a:xfrm flipH="1">
              <a:off x="5405487" y="1447799"/>
              <a:ext cx="385713" cy="216781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4114800" y="2936557"/>
              <a:ext cx="2971800" cy="416243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1" name="Google Shape;161;p8"/>
            <p:cNvSpPr/>
            <p:nvPr/>
          </p:nvSpPr>
          <p:spPr>
            <a:xfrm flipH="1">
              <a:off x="4262487" y="1447800"/>
              <a:ext cx="385713" cy="216781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2" name="Google Shape;162;p8"/>
            <p:cNvSpPr/>
            <p:nvPr/>
          </p:nvSpPr>
          <p:spPr>
            <a:xfrm flipH="1">
              <a:off x="3886200" y="1447800"/>
              <a:ext cx="385713" cy="216781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00B05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63" name="Google Shape;163;p8"/>
          <p:cNvSpPr txBox="1"/>
          <p:nvPr/>
        </p:nvSpPr>
        <p:spPr>
          <a:xfrm flipH="1">
            <a:off x="6324600" y="4861560"/>
            <a:ext cx="2667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ZF=1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IS zero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has an EVEN number of 1s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4" name="Google Shape;164;p8"/>
          <p:cNvSpPr/>
          <p:nvPr/>
        </p:nvSpPr>
        <p:spPr>
          <a:xfrm flipH="1" rot="10800000">
            <a:off x="6324600" y="4898950"/>
            <a:ext cx="2667000" cy="1162938"/>
          </a:xfrm>
          <a:prstGeom prst="wedgeRoundRectCallout">
            <a:avLst>
              <a:gd fmla="val -46519" name="adj1"/>
              <a:gd fmla="val 84221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8"/>
          <p:cNvSpPr/>
          <p:nvPr/>
        </p:nvSpPr>
        <p:spPr>
          <a:xfrm rot="10800000">
            <a:off x="457200" y="4975584"/>
            <a:ext cx="2362201" cy="653173"/>
          </a:xfrm>
          <a:prstGeom prst="wedgeRoundRectCallout">
            <a:avLst>
              <a:gd fmla="val -68350" name="adj1"/>
              <a:gd fmla="val 98340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8"/>
          <p:cNvSpPr txBox="1"/>
          <p:nvPr/>
        </p:nvSpPr>
        <p:spPr>
          <a:xfrm flipH="1">
            <a:off x="462696" y="5037296"/>
            <a:ext cx="274045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CF=1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 answer has a carry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7" name="Google Shape;167;p8"/>
          <p:cNvSpPr/>
          <p:nvPr/>
        </p:nvSpPr>
        <p:spPr>
          <a:xfrm rot="10800000">
            <a:off x="3200400" y="5562599"/>
            <a:ext cx="2656072" cy="762001"/>
          </a:xfrm>
          <a:prstGeom prst="wedgeRoundRectCallout">
            <a:avLst>
              <a:gd fmla="val 30190" name="adj1"/>
              <a:gd fmla="val 138750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8"/>
          <p:cNvSpPr txBox="1"/>
          <p:nvPr/>
        </p:nvSpPr>
        <p:spPr>
          <a:xfrm flipH="1">
            <a:off x="3200400" y="5553670"/>
            <a:ext cx="26560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SF=0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 MSB is 0 indicating a positive answer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324600" y="2268858"/>
            <a:ext cx="2667000" cy="855342"/>
          </a:xfrm>
          <a:prstGeom prst="wedgeRoundRectCallout">
            <a:avLst>
              <a:gd fmla="val -95226" name="adj1"/>
              <a:gd fmla="val 21641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8"/>
          <p:cNvSpPr txBox="1"/>
          <p:nvPr/>
        </p:nvSpPr>
        <p:spPr>
          <a:xfrm flipH="1">
            <a:off x="6319520" y="2277070"/>
            <a:ext cx="267208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AF=1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Set because there IS a carry from the lower nibble to the upper nibble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1" name="Google Shape;171;p8"/>
          <p:cNvSpPr/>
          <p:nvPr/>
        </p:nvSpPr>
        <p:spPr>
          <a:xfrm flipH="1">
            <a:off x="2362200" y="1447800"/>
            <a:ext cx="3550868" cy="950285"/>
          </a:xfrm>
          <a:prstGeom prst="wedgeRoundRectCallout">
            <a:avLst>
              <a:gd fmla="val 15221" name="adj1"/>
              <a:gd fmla="val 89451" name="adj2"/>
              <a:gd fmla="val 16667" name="adj3"/>
            </a:avLst>
          </a:prstGeom>
          <a:noFill/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8"/>
          <p:cNvSpPr txBox="1"/>
          <p:nvPr/>
        </p:nvSpPr>
        <p:spPr>
          <a:xfrm flipH="1">
            <a:off x="2362200" y="1438870"/>
            <a:ext cx="35508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OF=0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because there is a carry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835717" y="31160"/>
            <a:ext cx="5003483" cy="112050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420" y="50707"/>
                </a:moveTo>
                <a:lnTo>
                  <a:pt x="-20428" y="172612"/>
                </a:lnTo>
              </a:path>
            </a:pathLst>
          </a:cu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" name="Google Shape;174;p8"/>
          <p:cNvSpPr txBox="1"/>
          <p:nvPr/>
        </p:nvSpPr>
        <p:spPr>
          <a:xfrm flipH="1">
            <a:off x="3835716" y="-3870"/>
            <a:ext cx="500348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NB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OF is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reset to 0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if: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 is a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carry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or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 is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NO carry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from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7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bit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and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from the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to the 9</a:t>
            </a:r>
            <a:r>
              <a:rPr b="1" baseline="30000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bit </a:t>
            </a:r>
            <a:r>
              <a:rPr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at </a:t>
            </a:r>
            <a:r>
              <a:rPr b="1" lang="en-US" sz="12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 SAME TIME </a:t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952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Control Flags:</a:t>
            </a:r>
            <a:endParaRPr/>
          </a:p>
        </p:txBody>
      </p:sp>
      <p:sp>
        <p:nvSpPr>
          <p:cNvPr id="180" name="Google Shape;180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928" y="1752600"/>
            <a:ext cx="8305700" cy="4118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b="1" lang="en-US"/>
              <a:t>Control Flags:</a:t>
            </a:r>
            <a:endParaRPr/>
          </a:p>
        </p:txBody>
      </p:sp>
      <p:sp>
        <p:nvSpPr>
          <p:cNvPr id="187" name="Google Shape;187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Trap Flag (TF)</a:t>
            </a:r>
            <a:r>
              <a:rPr lang="en-US"/>
              <a:t> - Used for on-chip single-step debugging.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Interrupt enable Flag (IF)</a:t>
            </a:r>
            <a:r>
              <a:rPr lang="en-US"/>
              <a:t> - when this flag is set to ’1’ CPU reacts to interrupts from external devices.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b="1" lang="en-US"/>
              <a:t>Direction Flag (DF)</a:t>
            </a:r>
            <a:r>
              <a:rPr lang="en-US"/>
              <a:t> - this flag is used by some instructions to process data chains, when this flag is set to ’0’ - the processing is done forward, when this flag is set to ‘1’ the processing is done backward.</a:t>
            </a:r>
            <a:endParaRPr/>
          </a:p>
          <a:p>
            <a:pPr indent="-148844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Quiz: Status Flag Values?</a:t>
            </a:r>
            <a:endParaRPr/>
          </a:p>
        </p:txBody>
      </p:sp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1143000" y="1447800"/>
            <a:ext cx="7543800" cy="2705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AX, ABCDh     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 BX, 9876h     </a:t>
            </a:r>
            <a:endParaRPr/>
          </a:p>
          <a:p>
            <a:pPr indent="-274320" lvl="0" marL="27432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 AX, BX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Thank You !!</a:t>
            </a:r>
            <a:endParaRPr/>
          </a:p>
        </p:txBody>
      </p:sp>
      <p:sp>
        <p:nvSpPr>
          <p:cNvPr id="201" name="Google Shape;201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j0178141" id="203" name="Google Shape;2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112" y="1219200"/>
            <a:ext cx="4295775" cy="472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