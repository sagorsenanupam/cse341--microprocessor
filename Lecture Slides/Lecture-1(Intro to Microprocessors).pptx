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9144000"/>
  <p:notesSz cx="7315200" cy="9601200"/>
  <p:embeddedFontLst>
    <p:embeddedFont>
      <p:font typeface="Arial Black"/>
      <p:regular r:id="rId28"/>
    </p:embeddedFont>
    <p:embeddedFont>
      <p:font typeface="Gill Sans"/>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1" roundtripDataSignature="AMtx7mgUcHckp6OOWLQbSToz4+xmoppr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4BD7F86-C59A-4E14-B102-DDCDFD399497}">
  <a:tblStyle styleId="{34BD7F86-C59A-4E14-B102-DDCDFD399497}" styleName="Table_0">
    <a:wholeTbl>
      <a:tcTxStyle b="off" i="off">
        <a:font>
          <a:latin typeface="Gill Sans MT"/>
          <a:ea typeface="Gill Sans MT"/>
          <a:cs typeface="Gill Sans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BECF0"/>
          </a:solidFill>
        </a:fill>
      </a:tcStyle>
    </a:wholeTbl>
    <a:band1H>
      <a:tcTxStyle b="off" i="off"/>
      <a:tcStyle>
        <a:fill>
          <a:solidFill>
            <a:srgbClr val="D4D6E0"/>
          </a:solidFill>
        </a:fill>
      </a:tcStyle>
    </a:band1H>
    <a:band2H>
      <a:tcTxStyle b="off" i="off"/>
    </a:band2H>
    <a:band1V>
      <a:tcTxStyle b="off" i="off"/>
      <a:tcStyle>
        <a:fill>
          <a:solidFill>
            <a:srgbClr val="D4D6E0"/>
          </a:solidFill>
        </a:fill>
      </a:tcStyle>
    </a:band1V>
    <a:band2V>
      <a:tcTxStyle b="off" i="off"/>
    </a:band2V>
    <a:lastCol>
      <a:tcTxStyle b="on" i="off">
        <a:font>
          <a:latin typeface="Gill Sans MT"/>
          <a:ea typeface="Gill Sans MT"/>
          <a:cs typeface="Gill Sans MT"/>
        </a:font>
        <a:schemeClr val="lt1"/>
      </a:tcTxStyle>
      <a:tcStyle>
        <a:fill>
          <a:solidFill>
            <a:schemeClr val="accent1"/>
          </a:solidFill>
        </a:fill>
      </a:tcStyle>
    </a:lastCol>
    <a:firstCol>
      <a:tcTxStyle b="on" i="off">
        <a:font>
          <a:latin typeface="Gill Sans MT"/>
          <a:ea typeface="Gill Sans MT"/>
          <a:cs typeface="Gill Sans MT"/>
        </a:font>
        <a:schemeClr val="lt1"/>
      </a:tcTxStyle>
      <a:tcStyle>
        <a:fill>
          <a:solidFill>
            <a:schemeClr val="accent1"/>
          </a:solidFill>
        </a:fill>
      </a:tcStyle>
    </a:firstCol>
    <a:lastRow>
      <a:tcTxStyle b="on" i="off">
        <a:font>
          <a:latin typeface="Gill Sans MT"/>
          <a:ea typeface="Gill Sans MT"/>
          <a:cs typeface="Gill Sans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Gill Sans MT"/>
          <a:ea typeface="Gill Sans MT"/>
          <a:cs typeface="Gill Sans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ArialBlack-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GillSans-regular.fntdata"/><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font" Target="fonts/GillSans-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0060"/>
          </a:xfrm>
          <a:prstGeom prst="rect">
            <a:avLst/>
          </a:prstGeom>
          <a:noFill/>
          <a:ln>
            <a:noFill/>
          </a:ln>
        </p:spPr>
        <p:txBody>
          <a:bodyPr anchorCtr="0" anchor="t"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0060"/>
          </a:xfrm>
          <a:prstGeom prst="rect">
            <a:avLst/>
          </a:prstGeom>
          <a:noFill/>
          <a:ln>
            <a:noFill/>
          </a:ln>
        </p:spPr>
        <p:txBody>
          <a:bodyPr anchorCtr="0" anchor="t" bIns="48325" lIns="96650" spcFirstLastPara="1" rIns="96650" wrap="square" tIns="483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0060"/>
          </a:xfrm>
          <a:prstGeom prst="rect">
            <a:avLst/>
          </a:prstGeom>
          <a:noFill/>
          <a:ln>
            <a:noFill/>
          </a:ln>
        </p:spPr>
        <p:txBody>
          <a:bodyPr anchorCtr="0" anchor="b"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35" name="Google Shape;35;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44" name="Google Shape;44;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53" name="Google Shape;53;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63" name="Google Shape;63;p4: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72" name="Google Shape;72;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81" name="Google Shape;81;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97" name="Google Shape;97;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25" name="Google Shape;125;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34" name="Google Shape;134;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52" name="Google Shape;152;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61" name="Google Shape;161;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81" name="Google Shape;181;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00" name="Google Shape;200;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27" name="Google Shape;227;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40" name="Google Shape;240;p15: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49" name="Google Shape;249;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57" name="Google Shape;257;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308" name="Google Shape;308;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317" name="Google Shape;317;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326" name="Google Shape;326;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335" name="Google Shape;335;p2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23"/>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Clr>
                <a:schemeClr val="dk1"/>
              </a:buClr>
              <a:buSzPts val="3200"/>
              <a:buFont typeface="Bookman Old Style"/>
              <a:buNone/>
              <a:defRPr sz="3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3"/>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lnSpc>
                <a:spcPct val="100000"/>
              </a:lnSpc>
              <a:spcBef>
                <a:spcPts val="500"/>
              </a:spcBef>
              <a:spcAft>
                <a:spcPts val="0"/>
              </a:spcAft>
              <a:buSzPts val="1368"/>
              <a:buNone/>
              <a:defRPr/>
            </a:lvl2pPr>
            <a:lvl3pPr lvl="2" algn="ctr">
              <a:lnSpc>
                <a:spcPct val="100000"/>
              </a:lnSpc>
              <a:spcBef>
                <a:spcPts val="500"/>
              </a:spcBef>
              <a:spcAft>
                <a:spcPts val="0"/>
              </a:spcAft>
              <a:buSzPts val="1368"/>
              <a:buNone/>
              <a:defRPr/>
            </a:lvl3pPr>
            <a:lvl4pPr lvl="3" algn="ctr">
              <a:lnSpc>
                <a:spcPct val="100000"/>
              </a:lnSpc>
              <a:spcBef>
                <a:spcPts val="400"/>
              </a:spcBef>
              <a:spcAft>
                <a:spcPts val="0"/>
              </a:spcAft>
              <a:buSzPts val="1260"/>
              <a:buNone/>
              <a:defRPr/>
            </a:lvl4pPr>
            <a:lvl5pPr lvl="4" algn="ctr">
              <a:lnSpc>
                <a:spcPct val="100000"/>
              </a:lnSpc>
              <a:spcBef>
                <a:spcPts val="300"/>
              </a:spcBef>
              <a:spcAft>
                <a:spcPts val="0"/>
              </a:spcAft>
              <a:buSzPts val="1260"/>
              <a:buNone/>
              <a:defRPr/>
            </a:lvl5pPr>
            <a:lvl6pPr lvl="5" algn="ctr">
              <a:lnSpc>
                <a:spcPct val="100000"/>
              </a:lnSpc>
              <a:spcBef>
                <a:spcPts val="300"/>
              </a:spcBef>
              <a:spcAft>
                <a:spcPts val="0"/>
              </a:spcAft>
              <a:buSzPts val="1350"/>
              <a:buNone/>
              <a:defRPr/>
            </a:lvl6pPr>
            <a:lvl7pPr lvl="6" algn="ctr">
              <a:lnSpc>
                <a:spcPct val="100000"/>
              </a:lnSpc>
              <a:spcBef>
                <a:spcPts val="300"/>
              </a:spcBef>
              <a:spcAft>
                <a:spcPts val="0"/>
              </a:spcAft>
              <a:buSzPts val="1350"/>
              <a:buNone/>
              <a:defRPr/>
            </a:lvl7pPr>
            <a:lvl8pPr lvl="7" algn="ctr">
              <a:lnSpc>
                <a:spcPct val="100000"/>
              </a:lnSpc>
              <a:spcBef>
                <a:spcPts val="300"/>
              </a:spcBef>
              <a:spcAft>
                <a:spcPts val="0"/>
              </a:spcAft>
              <a:buSzPts val="1350"/>
              <a:buNone/>
              <a:defRPr/>
            </a:lvl8pPr>
            <a:lvl9pPr lvl="8" algn="ctr">
              <a:lnSpc>
                <a:spcPct val="100000"/>
              </a:lnSpc>
              <a:spcBef>
                <a:spcPts val="300"/>
              </a:spcBef>
              <a:spcAft>
                <a:spcPts val="0"/>
              </a:spcAft>
              <a:buSzPts val="1350"/>
              <a:buNone/>
              <a:defRPr/>
            </a:lvl9pPr>
          </a:lstStyle>
          <a:p/>
        </p:txBody>
      </p:sp>
      <p:sp>
        <p:nvSpPr>
          <p:cNvPr id="21" name="Google Shape;21;p23"/>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23" name="Google Shape;23;p23"/>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4" name="Google Shape;24;p23"/>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5" name="Google Shape;25;p23"/>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6" name="Google Shape;26;p23"/>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2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31" name="Google Shape;31;p2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32" name="Google Shape;32;p24"/>
          <p:cNvSpPr txBox="1"/>
          <p:nvPr>
            <p:ph idx="11" type="ftr"/>
          </p:nvPr>
        </p:nvSpPr>
        <p:spPr>
          <a:xfrm>
            <a:off x="2286000" y="6355080"/>
            <a:ext cx="4572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2"/>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lnSpc>
                <a:spcPct val="100000"/>
              </a:lnSpc>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lnSpc>
                <a:spcPct val="100000"/>
              </a:lnSpc>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lnSpc>
                <a:spcPct val="100000"/>
              </a:lnSpc>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lnSpc>
                <a:spcPct val="100000"/>
              </a:lnSpc>
              <a:spcBef>
                <a:spcPts val="400"/>
              </a:spcBef>
              <a:spcAft>
                <a:spcPts val="0"/>
              </a:spcAft>
              <a:buClr>
                <a:srgbClr val="8BA1B3"/>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lnSpc>
                <a:spcPct val="100000"/>
              </a:lnSpc>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lnSpc>
                <a:spcPct val="100000"/>
              </a:lnSpc>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lnSpc>
                <a:spcPct val="100000"/>
              </a:lnSpc>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lnSpc>
                <a:spcPct val="100000"/>
              </a:lnSpc>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lnSpc>
                <a:spcPct val="100000"/>
              </a:lnSpc>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2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3" name="Google Shape;13;p2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14" name="Google Shape;14;p22"/>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5" name="Google Shape;15;p22"/>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6" name="Google Shape;16;p22"/>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7" name="Google Shape;17;p22"/>
          <p:cNvSpPr txBox="1"/>
          <p:nvPr>
            <p:ph idx="11" type="ftr"/>
          </p:nvPr>
        </p:nvSpPr>
        <p:spPr>
          <a:xfrm>
            <a:off x="2286000" y="6248400"/>
            <a:ext cx="4572000" cy="3657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1"/>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1"/>
              </a:buClr>
              <a:buSzPts val="2000"/>
              <a:buFont typeface="Arial"/>
              <a:buNone/>
            </a:pPr>
            <a:r>
              <a:rPr lang="en-US" sz="2000">
                <a:latin typeface="Arial"/>
                <a:ea typeface="Arial"/>
                <a:cs typeface="Arial"/>
                <a:sym typeface="Arial"/>
              </a:rPr>
              <a:t>Department of Computer Science and Engineering</a:t>
            </a:r>
            <a:endParaRPr sz="2000">
              <a:latin typeface="Arial"/>
              <a:ea typeface="Arial"/>
              <a:cs typeface="Arial"/>
              <a:sym typeface="Arial"/>
            </a:endParaRPr>
          </a:p>
        </p:txBody>
      </p:sp>
      <p:sp>
        <p:nvSpPr>
          <p:cNvPr id="38" name="Google Shape;38;p1"/>
          <p:cNvSpPr txBox="1"/>
          <p:nvPr>
            <p:ph idx="1" type="subTitle"/>
          </p:nvPr>
        </p:nvSpPr>
        <p:spPr>
          <a:xfrm>
            <a:off x="1219200" y="5124450"/>
            <a:ext cx="6858000" cy="89535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1064"/>
              <a:buNone/>
            </a:pPr>
            <a:r>
              <a:rPr b="1" lang="en-US" sz="1400">
                <a:solidFill>
                  <a:schemeClr val="dk1"/>
                </a:solidFill>
                <a:latin typeface="Arial"/>
                <a:ea typeface="Arial"/>
                <a:cs typeface="Arial"/>
                <a:sym typeface="Arial"/>
              </a:rPr>
              <a:t>Course ID : CSE 341</a:t>
            </a:r>
            <a:endParaRPr/>
          </a:p>
          <a:p>
            <a:pPr indent="0" lvl="0" marL="0" rtl="0" algn="ctr">
              <a:lnSpc>
                <a:spcPct val="100000"/>
              </a:lnSpc>
              <a:spcBef>
                <a:spcPts val="600"/>
              </a:spcBef>
              <a:spcAft>
                <a:spcPts val="0"/>
              </a:spcAft>
              <a:buSzPts val="1064"/>
              <a:buNone/>
            </a:pPr>
            <a:r>
              <a:rPr b="1" lang="en-US" sz="1400">
                <a:solidFill>
                  <a:schemeClr val="dk1"/>
                </a:solidFill>
                <a:latin typeface="Arial"/>
                <a:ea typeface="Arial"/>
                <a:cs typeface="Arial"/>
                <a:sym typeface="Arial"/>
              </a:rPr>
              <a:t>Course Title : MICROPROCESSORS</a:t>
            </a:r>
            <a:endParaRPr b="1" sz="1400">
              <a:solidFill>
                <a:schemeClr val="dk1"/>
              </a:solidFill>
              <a:latin typeface="Arial"/>
              <a:ea typeface="Arial"/>
              <a:cs typeface="Arial"/>
              <a:sym typeface="Arial"/>
            </a:endParaRPr>
          </a:p>
        </p:txBody>
      </p:sp>
      <p:sp>
        <p:nvSpPr>
          <p:cNvPr id="39" name="Google Shape;39;p1"/>
          <p:cNvSpPr/>
          <p:nvPr/>
        </p:nvSpPr>
        <p:spPr>
          <a:xfrm>
            <a:off x="2895600" y="4267200"/>
            <a:ext cx="3505200" cy="5334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BRAC University</a:t>
            </a:r>
            <a:endParaRPr b="1" i="0" sz="1800" u="none" cap="none" strike="noStrike">
              <a:solidFill>
                <a:schemeClr val="dk1"/>
              </a:solidFill>
              <a:latin typeface="Arial"/>
              <a:ea typeface="Arial"/>
              <a:cs typeface="Arial"/>
              <a:sym typeface="Arial"/>
            </a:endParaRPr>
          </a:p>
        </p:txBody>
      </p:sp>
      <p:sp>
        <p:nvSpPr>
          <p:cNvPr id="40" name="Google Shape;40;p1"/>
          <p:cNvSpPr/>
          <p:nvPr/>
        </p:nvSpPr>
        <p:spPr>
          <a:xfrm>
            <a:off x="976745" y="1524000"/>
            <a:ext cx="7086600" cy="18288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Arial Black"/>
                <a:ea typeface="Arial Black"/>
                <a:cs typeface="Arial Black"/>
                <a:sym typeface="Arial Black"/>
              </a:rPr>
              <a:t>Introduction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Arial Black"/>
                <a:ea typeface="Arial Black"/>
                <a:cs typeface="Arial Black"/>
                <a:sym typeface="Arial Black"/>
              </a:rPr>
              <a:t>to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Arial Black"/>
                <a:ea typeface="Arial Black"/>
                <a:cs typeface="Arial Black"/>
                <a:sym typeface="Arial Black"/>
              </a:rPr>
              <a:t>Microprocessors</a:t>
            </a:r>
            <a:endParaRPr b="0" i="0" sz="3600" u="none" cap="none" strike="noStrike">
              <a:solidFill>
                <a:schemeClr val="dk1"/>
              </a:solidFill>
              <a:latin typeface="Arial Black"/>
              <a:ea typeface="Arial Black"/>
              <a:cs typeface="Arial Black"/>
              <a:sym typeface="Arial Black"/>
            </a:endParaRPr>
          </a:p>
        </p:txBody>
      </p:sp>
      <p:pic>
        <p:nvPicPr>
          <p:cNvPr descr="BRAC University Jobs 2020- Jobs in BRAC University- careerz360.com" id="41" name="Google Shape;41;p1"/>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2"/>
          <p:cNvSpPr txBox="1"/>
          <p:nvPr>
            <p:ph type="title"/>
          </p:nvPr>
        </p:nvSpPr>
        <p:spPr>
          <a:xfrm>
            <a:off x="457200" y="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			Instructors </a:t>
            </a:r>
            <a:endParaRPr/>
          </a:p>
        </p:txBody>
      </p:sp>
      <p:sp>
        <p:nvSpPr>
          <p:cNvPr id="47" name="Google Shape;47;p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48" name="Google Shape;48;p2"/>
          <p:cNvSpPr txBox="1"/>
          <p:nvPr>
            <p:ph idx="1" type="body"/>
          </p:nvPr>
        </p:nvSpPr>
        <p:spPr>
          <a:xfrm>
            <a:off x="457200" y="908900"/>
            <a:ext cx="8229600" cy="5446200"/>
          </a:xfrm>
          <a:prstGeom prst="rect">
            <a:avLst/>
          </a:prstGeom>
          <a:noFill/>
          <a:ln>
            <a:noFill/>
          </a:ln>
        </p:spPr>
        <p:txBody>
          <a:bodyPr anchorCtr="0" anchor="t" bIns="45700" lIns="91425" spcFirstLastPara="1" rIns="91425" wrap="square" tIns="45700">
            <a:normAutofit fontScale="55000" lnSpcReduction="20000"/>
          </a:bodyPr>
          <a:lstStyle/>
          <a:p>
            <a:pPr indent="-158496" lvl="0" marL="274320" rtl="0" algn="l">
              <a:lnSpc>
                <a:spcPct val="100000"/>
              </a:lnSpc>
              <a:spcBef>
                <a:spcPts val="0"/>
              </a:spcBef>
              <a:spcAft>
                <a:spcPts val="0"/>
              </a:spcAft>
              <a:buSzPct val="76000"/>
              <a:buFont typeface="Noto Sans Symbols"/>
              <a:buNone/>
            </a:pPr>
            <a:r>
              <a:t/>
            </a:r>
            <a:endParaRPr b="1" sz="2400">
              <a:latin typeface="Times New Roman"/>
              <a:ea typeface="Times New Roman"/>
              <a:cs typeface="Times New Roman"/>
              <a:sym typeface="Times New Roman"/>
            </a:endParaRPr>
          </a:p>
          <a:p>
            <a:pPr indent="-238963" lvl="0" marL="274320" rtl="0" algn="l">
              <a:lnSpc>
                <a:spcPct val="100000"/>
              </a:lnSpc>
              <a:spcBef>
                <a:spcPts val="600"/>
              </a:spcBef>
              <a:spcAft>
                <a:spcPts val="0"/>
              </a:spcAft>
              <a:buSzPct val="80000"/>
              <a:buFont typeface="Noto Sans Symbols"/>
              <a:buChar char="⮚"/>
            </a:pPr>
            <a:r>
              <a:rPr b="1" lang="en-US" sz="2880">
                <a:latin typeface="Times New Roman"/>
                <a:ea typeface="Times New Roman"/>
                <a:cs typeface="Times New Roman"/>
                <a:sym typeface="Times New Roman"/>
              </a:rPr>
              <a:t>Aminul Huq</a:t>
            </a:r>
            <a:endParaRPr b="1" sz="2880">
              <a:latin typeface="Times New Roman"/>
              <a:ea typeface="Times New Roman"/>
              <a:cs typeface="Times New Roman"/>
              <a:sym typeface="Times New Roman"/>
            </a:endParaRPr>
          </a:p>
          <a:p>
            <a:pPr indent="0" lvl="0" marL="0" rtl="0" algn="l">
              <a:lnSpc>
                <a:spcPct val="100000"/>
              </a:lnSpc>
              <a:spcBef>
                <a:spcPts val="600"/>
              </a:spcBef>
              <a:spcAft>
                <a:spcPts val="0"/>
              </a:spcAft>
              <a:buSzPct val="82909"/>
              <a:buNone/>
            </a:pPr>
            <a:r>
              <a:rPr lang="en-US" sz="2200">
                <a:latin typeface="Times New Roman"/>
                <a:ea typeface="Times New Roman"/>
                <a:cs typeface="Times New Roman"/>
                <a:sym typeface="Times New Roman"/>
              </a:rPr>
              <a:t>    Lecturer, Department of Computer Science &amp; Engineering</a:t>
            </a:r>
            <a:endParaRPr sz="2200">
              <a:latin typeface="Times New Roman"/>
              <a:ea typeface="Times New Roman"/>
              <a:cs typeface="Times New Roman"/>
              <a:sym typeface="Times New Roman"/>
            </a:endParaRPr>
          </a:p>
          <a:p>
            <a:pPr indent="0" lvl="0" marL="0" rtl="0" algn="l">
              <a:lnSpc>
                <a:spcPct val="100000"/>
              </a:lnSpc>
              <a:spcBef>
                <a:spcPts val="600"/>
              </a:spcBef>
              <a:spcAft>
                <a:spcPts val="0"/>
              </a:spcAft>
              <a:buSzPct val="101333"/>
              <a:buNone/>
            </a:pPr>
            <a:r>
              <a:t/>
            </a:r>
            <a:endParaRPr sz="1800">
              <a:latin typeface="Times New Roman"/>
              <a:ea typeface="Times New Roman"/>
              <a:cs typeface="Times New Roman"/>
              <a:sym typeface="Times New Roman"/>
            </a:endParaRPr>
          </a:p>
          <a:p>
            <a:pPr indent="-238963" lvl="0" marL="274320" rtl="0" algn="l">
              <a:lnSpc>
                <a:spcPct val="100000"/>
              </a:lnSpc>
              <a:spcBef>
                <a:spcPts val="600"/>
              </a:spcBef>
              <a:spcAft>
                <a:spcPts val="0"/>
              </a:spcAft>
              <a:buSzPct val="80000"/>
              <a:buChar char="⮚"/>
            </a:pPr>
            <a:r>
              <a:rPr b="1" lang="en-US" sz="2880">
                <a:latin typeface="Times New Roman"/>
                <a:ea typeface="Times New Roman"/>
                <a:cs typeface="Times New Roman"/>
                <a:sym typeface="Times New Roman"/>
              </a:rPr>
              <a:t>Saadat Hasan Khan</a:t>
            </a:r>
            <a:endParaRPr b="1" sz="2880">
              <a:latin typeface="Times New Roman"/>
              <a:ea typeface="Times New Roman"/>
              <a:cs typeface="Times New Roman"/>
              <a:sym typeface="Times New Roman"/>
            </a:endParaRPr>
          </a:p>
          <a:p>
            <a:pPr indent="0" lvl="0" marL="0" rtl="0" algn="l">
              <a:lnSpc>
                <a:spcPct val="100000"/>
              </a:lnSpc>
              <a:spcBef>
                <a:spcPts val="600"/>
              </a:spcBef>
              <a:spcAft>
                <a:spcPts val="0"/>
              </a:spcAft>
              <a:buClr>
                <a:schemeClr val="dk1"/>
              </a:buClr>
              <a:buSzPct val="76000"/>
              <a:buFont typeface="Arial"/>
              <a:buNone/>
            </a:pPr>
            <a:r>
              <a:rPr lang="en-US" sz="2400">
                <a:latin typeface="Times New Roman"/>
                <a:ea typeface="Times New Roman"/>
                <a:cs typeface="Times New Roman"/>
                <a:sym typeface="Times New Roman"/>
              </a:rPr>
              <a:t>   </a:t>
            </a:r>
            <a:r>
              <a:rPr lang="en-US" sz="2200">
                <a:latin typeface="Times New Roman"/>
                <a:ea typeface="Times New Roman"/>
                <a:cs typeface="Times New Roman"/>
                <a:sym typeface="Times New Roman"/>
              </a:rPr>
              <a:t> Lecturer and Lab Coordinator, Department of Computer Science &amp; Engineering</a:t>
            </a:r>
            <a:endParaRPr sz="2200">
              <a:latin typeface="Times New Roman"/>
              <a:ea typeface="Times New Roman"/>
              <a:cs typeface="Times New Roman"/>
              <a:sym typeface="Times New Roman"/>
            </a:endParaRPr>
          </a:p>
          <a:p>
            <a:pPr indent="0" lvl="0" marL="0" rtl="0" algn="l">
              <a:lnSpc>
                <a:spcPct val="100000"/>
              </a:lnSpc>
              <a:spcBef>
                <a:spcPts val="600"/>
              </a:spcBef>
              <a:spcAft>
                <a:spcPts val="0"/>
              </a:spcAft>
              <a:buSzPct val="76000"/>
              <a:buNone/>
            </a:pPr>
            <a:r>
              <a:t/>
            </a:r>
            <a:endParaRPr sz="2400">
              <a:latin typeface="Times New Roman"/>
              <a:ea typeface="Times New Roman"/>
              <a:cs typeface="Times New Roman"/>
              <a:sym typeface="Times New Roman"/>
            </a:endParaRPr>
          </a:p>
          <a:p>
            <a:pPr indent="-238963" lvl="0" marL="274320" rtl="0" algn="l">
              <a:lnSpc>
                <a:spcPct val="100000"/>
              </a:lnSpc>
              <a:spcBef>
                <a:spcPts val="600"/>
              </a:spcBef>
              <a:spcAft>
                <a:spcPts val="0"/>
              </a:spcAft>
              <a:buSzPct val="80000"/>
              <a:buFont typeface="Noto Sans Symbols"/>
              <a:buChar char="⮚"/>
            </a:pPr>
            <a:r>
              <a:rPr b="1" lang="en-US" sz="2880">
                <a:latin typeface="Times New Roman"/>
                <a:ea typeface="Times New Roman"/>
                <a:cs typeface="Times New Roman"/>
                <a:sym typeface="Times New Roman"/>
              </a:rPr>
              <a:t>Ramkrishna Saha</a:t>
            </a:r>
            <a:endParaRPr sz="3080"/>
          </a:p>
          <a:p>
            <a:pPr indent="0" lvl="0" marL="0" rtl="0" algn="l">
              <a:lnSpc>
                <a:spcPct val="100000"/>
              </a:lnSpc>
              <a:spcBef>
                <a:spcPts val="600"/>
              </a:spcBef>
              <a:spcAft>
                <a:spcPts val="0"/>
              </a:spcAft>
              <a:buSzPct val="82909"/>
              <a:buNone/>
            </a:pPr>
            <a:r>
              <a:rPr b="1" lang="en-US" sz="2200">
                <a:latin typeface="Times New Roman"/>
                <a:ea typeface="Times New Roman"/>
                <a:cs typeface="Times New Roman"/>
                <a:sym typeface="Times New Roman"/>
              </a:rPr>
              <a:t>    </a:t>
            </a:r>
            <a:r>
              <a:rPr lang="en-US" sz="2200">
                <a:latin typeface="Times New Roman"/>
                <a:ea typeface="Times New Roman"/>
                <a:cs typeface="Times New Roman"/>
                <a:sym typeface="Times New Roman"/>
              </a:rPr>
              <a:t>Lecturer, Department of Computer Science &amp; Engineering</a:t>
            </a:r>
            <a:endParaRPr sz="2200">
              <a:latin typeface="Times New Roman"/>
              <a:ea typeface="Times New Roman"/>
              <a:cs typeface="Times New Roman"/>
              <a:sym typeface="Times New Roman"/>
            </a:endParaRPr>
          </a:p>
          <a:p>
            <a:pPr indent="0" lvl="0" marL="0" rtl="0" algn="l">
              <a:lnSpc>
                <a:spcPct val="100000"/>
              </a:lnSpc>
              <a:spcBef>
                <a:spcPts val="600"/>
              </a:spcBef>
              <a:spcAft>
                <a:spcPts val="0"/>
              </a:spcAft>
              <a:buSzPct val="82909"/>
              <a:buNone/>
            </a:pPr>
            <a:r>
              <a:t/>
            </a:r>
            <a:endParaRPr sz="2200">
              <a:latin typeface="Times New Roman"/>
              <a:ea typeface="Times New Roman"/>
              <a:cs typeface="Times New Roman"/>
              <a:sym typeface="Times New Roman"/>
            </a:endParaRPr>
          </a:p>
          <a:p>
            <a:pPr indent="-238963" lvl="0" marL="274320" rtl="0" algn="l">
              <a:lnSpc>
                <a:spcPct val="100000"/>
              </a:lnSpc>
              <a:spcBef>
                <a:spcPts val="600"/>
              </a:spcBef>
              <a:spcAft>
                <a:spcPts val="0"/>
              </a:spcAft>
              <a:buSzPct val="80000"/>
              <a:buChar char="⮚"/>
            </a:pPr>
            <a:r>
              <a:rPr b="1" lang="en-US" sz="2880">
                <a:latin typeface="Times New Roman"/>
                <a:ea typeface="Times New Roman"/>
                <a:cs typeface="Times New Roman"/>
                <a:sym typeface="Times New Roman"/>
              </a:rPr>
              <a:t>Sifat Tanvir</a:t>
            </a:r>
            <a:endParaRPr sz="3080"/>
          </a:p>
          <a:p>
            <a:pPr indent="0" lvl="0" marL="0" rtl="0" algn="l">
              <a:lnSpc>
                <a:spcPct val="100000"/>
              </a:lnSpc>
              <a:spcBef>
                <a:spcPts val="600"/>
              </a:spcBef>
              <a:spcAft>
                <a:spcPts val="0"/>
              </a:spcAft>
              <a:buSzPct val="113057"/>
              <a:buNone/>
            </a:pPr>
            <a:r>
              <a:rPr b="1" lang="en-US" sz="2200">
                <a:latin typeface="Times New Roman"/>
                <a:ea typeface="Times New Roman"/>
                <a:cs typeface="Times New Roman"/>
                <a:sym typeface="Times New Roman"/>
              </a:rPr>
              <a:t>    </a:t>
            </a:r>
            <a:r>
              <a:rPr lang="en-US" sz="2200">
                <a:latin typeface="Times New Roman"/>
                <a:ea typeface="Times New Roman"/>
                <a:cs typeface="Times New Roman"/>
                <a:sym typeface="Times New Roman"/>
              </a:rPr>
              <a:t>Lecturer, Department of Computer Science &amp; Engineering</a:t>
            </a:r>
            <a:br>
              <a:rPr lang="en-US" sz="2200">
                <a:latin typeface="Times New Roman"/>
                <a:ea typeface="Times New Roman"/>
                <a:cs typeface="Times New Roman"/>
                <a:sym typeface="Times New Roman"/>
              </a:rPr>
            </a:br>
            <a:endParaRPr sz="2200">
              <a:latin typeface="Times New Roman"/>
              <a:ea typeface="Times New Roman"/>
              <a:cs typeface="Times New Roman"/>
              <a:sym typeface="Times New Roman"/>
            </a:endParaRPr>
          </a:p>
          <a:p>
            <a:pPr indent="-238963" lvl="0" marL="274320" rtl="0" algn="l">
              <a:lnSpc>
                <a:spcPct val="100000"/>
              </a:lnSpc>
              <a:spcBef>
                <a:spcPts val="600"/>
              </a:spcBef>
              <a:spcAft>
                <a:spcPts val="0"/>
              </a:spcAft>
              <a:buSzPct val="80000"/>
              <a:buChar char="⮚"/>
            </a:pPr>
            <a:r>
              <a:rPr b="1" lang="en-US" sz="2880">
                <a:latin typeface="Times New Roman"/>
                <a:ea typeface="Times New Roman"/>
                <a:cs typeface="Times New Roman"/>
                <a:sym typeface="Times New Roman"/>
              </a:rPr>
              <a:t>Ragib Morshed</a:t>
            </a:r>
            <a:endParaRPr sz="3080"/>
          </a:p>
          <a:p>
            <a:pPr indent="0" lvl="0" marL="0" rtl="0" algn="l">
              <a:lnSpc>
                <a:spcPct val="100000"/>
              </a:lnSpc>
              <a:spcBef>
                <a:spcPts val="600"/>
              </a:spcBef>
              <a:spcAft>
                <a:spcPts val="0"/>
              </a:spcAft>
              <a:buSzPct val="113057"/>
              <a:buNone/>
            </a:pPr>
            <a:r>
              <a:rPr b="1" lang="en-US" sz="2200">
                <a:latin typeface="Times New Roman"/>
                <a:ea typeface="Times New Roman"/>
                <a:cs typeface="Times New Roman"/>
                <a:sym typeface="Times New Roman"/>
              </a:rPr>
              <a:t>    </a:t>
            </a:r>
            <a:r>
              <a:rPr lang="en-US" sz="2200">
                <a:latin typeface="Times New Roman"/>
                <a:ea typeface="Times New Roman"/>
                <a:cs typeface="Times New Roman"/>
                <a:sym typeface="Times New Roman"/>
              </a:rPr>
              <a:t>Lecturer, Department of Computer Science &amp; Engineering</a:t>
            </a:r>
            <a:endParaRPr sz="2200">
              <a:latin typeface="Times New Roman"/>
              <a:ea typeface="Times New Roman"/>
              <a:cs typeface="Times New Roman"/>
              <a:sym typeface="Times New Roman"/>
            </a:endParaRPr>
          </a:p>
          <a:p>
            <a:pPr indent="0" lvl="0" marL="0" rtl="0" algn="l">
              <a:lnSpc>
                <a:spcPct val="100000"/>
              </a:lnSpc>
              <a:spcBef>
                <a:spcPts val="600"/>
              </a:spcBef>
              <a:spcAft>
                <a:spcPts val="0"/>
              </a:spcAft>
              <a:buSzPct val="76000"/>
              <a:buNone/>
            </a:pPr>
            <a:r>
              <a:t/>
            </a:r>
            <a:endParaRPr sz="2400">
              <a:latin typeface="Times New Roman"/>
              <a:ea typeface="Times New Roman"/>
              <a:cs typeface="Times New Roman"/>
              <a:sym typeface="Times New Roman"/>
            </a:endParaRPr>
          </a:p>
          <a:p>
            <a:pPr indent="-267919" lvl="0" marL="274320" rtl="0" algn="l">
              <a:lnSpc>
                <a:spcPct val="100000"/>
              </a:lnSpc>
              <a:spcBef>
                <a:spcPts val="600"/>
              </a:spcBef>
              <a:spcAft>
                <a:spcPts val="0"/>
              </a:spcAft>
              <a:buSzPct val="80000"/>
              <a:buChar char="⮚"/>
            </a:pPr>
            <a:r>
              <a:rPr b="1" lang="en-US" sz="2880">
                <a:latin typeface="Times New Roman"/>
                <a:ea typeface="Times New Roman"/>
                <a:cs typeface="Times New Roman"/>
                <a:sym typeface="Times New Roman"/>
              </a:rPr>
              <a:t>Syed Zamil Hasan Shoumo</a:t>
            </a:r>
            <a:endParaRPr b="1" sz="2880">
              <a:latin typeface="Times New Roman"/>
              <a:ea typeface="Times New Roman"/>
              <a:cs typeface="Times New Roman"/>
              <a:sym typeface="Times New Roman"/>
            </a:endParaRPr>
          </a:p>
          <a:p>
            <a:pPr indent="0" lvl="0" marL="0" rtl="0" algn="l">
              <a:lnSpc>
                <a:spcPct val="100000"/>
              </a:lnSpc>
              <a:spcBef>
                <a:spcPts val="600"/>
              </a:spcBef>
              <a:spcAft>
                <a:spcPts val="0"/>
              </a:spcAft>
              <a:buSzPct val="76000"/>
              <a:buNone/>
            </a:pPr>
            <a:r>
              <a:rPr lang="en-US" sz="2400">
                <a:latin typeface="Times New Roman"/>
                <a:ea typeface="Times New Roman"/>
                <a:cs typeface="Times New Roman"/>
                <a:sym typeface="Times New Roman"/>
              </a:rPr>
              <a:t>  </a:t>
            </a:r>
            <a:r>
              <a:rPr lang="en-US" sz="2200">
                <a:latin typeface="Times New Roman"/>
                <a:ea typeface="Times New Roman"/>
                <a:cs typeface="Times New Roman"/>
                <a:sym typeface="Times New Roman"/>
              </a:rPr>
              <a:t>  Lecturer and Theory Coordinator, Department of Computer Science &amp; Engineering</a:t>
            </a:r>
            <a:endParaRPr b="1" sz="2200">
              <a:latin typeface="Times New Roman"/>
              <a:ea typeface="Times New Roman"/>
              <a:cs typeface="Times New Roman"/>
              <a:sym typeface="Times New Roman"/>
            </a:endParaRPr>
          </a:p>
          <a:p>
            <a:pPr indent="0" lvl="0" marL="0" rtl="0" algn="l">
              <a:lnSpc>
                <a:spcPct val="100000"/>
              </a:lnSpc>
              <a:spcBef>
                <a:spcPts val="600"/>
              </a:spcBef>
              <a:spcAft>
                <a:spcPts val="0"/>
              </a:spcAft>
              <a:buSzPct val="76000"/>
              <a:buNone/>
            </a:pPr>
            <a:r>
              <a:t/>
            </a:r>
            <a:endParaRPr sz="2400">
              <a:latin typeface="Times New Roman"/>
              <a:ea typeface="Times New Roman"/>
              <a:cs typeface="Times New Roman"/>
              <a:sym typeface="Times New Roman"/>
            </a:endParaRPr>
          </a:p>
          <a:p>
            <a:pPr indent="0" lvl="0" marL="0" rtl="0" algn="l">
              <a:lnSpc>
                <a:spcPct val="100000"/>
              </a:lnSpc>
              <a:spcBef>
                <a:spcPts val="600"/>
              </a:spcBef>
              <a:spcAft>
                <a:spcPts val="0"/>
              </a:spcAft>
              <a:buSzPct val="76000"/>
              <a:buNone/>
            </a:pPr>
            <a:r>
              <a:t/>
            </a:r>
            <a:endParaRPr b="1" sz="2400">
              <a:latin typeface="Times New Roman"/>
              <a:ea typeface="Times New Roman"/>
              <a:cs typeface="Times New Roman"/>
              <a:sym typeface="Times New Roman"/>
            </a:endParaRPr>
          </a:p>
          <a:p>
            <a:pPr indent="0" lvl="0" marL="0" rtl="0" algn="l">
              <a:lnSpc>
                <a:spcPct val="100000"/>
              </a:lnSpc>
              <a:spcBef>
                <a:spcPts val="600"/>
              </a:spcBef>
              <a:spcAft>
                <a:spcPts val="0"/>
              </a:spcAft>
              <a:buSzPct val="76000"/>
              <a:buNone/>
            </a:pPr>
            <a:r>
              <a:t/>
            </a:r>
            <a:endParaRPr sz="2400">
              <a:latin typeface="Times New Roman"/>
              <a:ea typeface="Times New Roman"/>
              <a:cs typeface="Times New Roman"/>
              <a:sym typeface="Times New Roman"/>
            </a:endParaRPr>
          </a:p>
        </p:txBody>
      </p:sp>
      <p:sp>
        <p:nvSpPr>
          <p:cNvPr id="49" name="Google Shape;49;p2"/>
          <p:cNvSpPr txBox="1"/>
          <p:nvPr>
            <p:ph idx="11" type="ftr"/>
          </p:nvPr>
        </p:nvSpPr>
        <p:spPr>
          <a:xfrm>
            <a:off x="2286000" y="6355080"/>
            <a:ext cx="45720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pic>
        <p:nvPicPr>
          <p:cNvPr descr="BRAC University Jobs 2020- Jobs in BRAC University- careerz360.com" id="50" name="Google Shape;50;p2"/>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2"/>
              </a:buClr>
              <a:buSzPts val="3200"/>
              <a:buFont typeface="Bookman Old Style"/>
              <a:buNone/>
            </a:pPr>
            <a:r>
              <a:rPr lang="en-US"/>
              <a:t>Topics to be Covered </a:t>
            </a:r>
            <a:endParaRPr/>
          </a:p>
        </p:txBody>
      </p:sp>
      <p:sp>
        <p:nvSpPr>
          <p:cNvPr id="56" name="Google Shape;56;p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57" name="Google Shape;57;p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368"/>
              <a:buFont typeface="Noto Sans Symbols"/>
              <a:buChar char="⮚"/>
            </a:pPr>
            <a:r>
              <a:rPr lang="en-US" sz="1800">
                <a:latin typeface="Times New Roman"/>
                <a:ea typeface="Times New Roman"/>
                <a:cs typeface="Times New Roman"/>
                <a:sym typeface="Times New Roman"/>
              </a:rPr>
              <a:t>Microprocessors and Microcontrollers </a:t>
            </a:r>
            <a:endParaRPr sz="1800">
              <a:latin typeface="Times New Roman"/>
              <a:ea typeface="Times New Roman"/>
              <a:cs typeface="Times New Roman"/>
              <a:sym typeface="Times New Roman"/>
            </a:endParaRPr>
          </a:p>
          <a:p>
            <a:pPr indent="-187452" lvl="0" marL="274320" rtl="0" algn="l">
              <a:lnSpc>
                <a:spcPct val="100000"/>
              </a:lnSpc>
              <a:spcBef>
                <a:spcPts val="600"/>
              </a:spcBef>
              <a:spcAft>
                <a:spcPts val="0"/>
              </a:spcAft>
              <a:buSzPts val="1368"/>
              <a:buFont typeface="Noto Sans Symbols"/>
              <a:buNone/>
            </a:pPr>
            <a:r>
              <a:t/>
            </a:r>
            <a:endParaRPr sz="1800">
              <a:latin typeface="Times New Roman"/>
              <a:ea typeface="Times New Roman"/>
              <a:cs typeface="Times New Roman"/>
              <a:sym typeface="Times New Roman"/>
            </a:endParaRPr>
          </a:p>
          <a:p>
            <a:pPr indent="-274320" lvl="0" marL="274320" rtl="0" algn="l">
              <a:lnSpc>
                <a:spcPct val="100000"/>
              </a:lnSpc>
              <a:spcBef>
                <a:spcPts val="600"/>
              </a:spcBef>
              <a:spcAft>
                <a:spcPts val="0"/>
              </a:spcAft>
              <a:buSzPts val="1368"/>
              <a:buFont typeface="Noto Sans Symbols"/>
              <a:buChar char="⮚"/>
            </a:pPr>
            <a:r>
              <a:rPr lang="en-US" sz="1800">
                <a:latin typeface="Times New Roman"/>
                <a:ea typeface="Times New Roman"/>
                <a:cs typeface="Times New Roman"/>
                <a:sym typeface="Times New Roman"/>
              </a:rPr>
              <a:t>Applications of microprocessors and microcontrollers</a:t>
            </a:r>
            <a:endParaRPr/>
          </a:p>
          <a:p>
            <a:pPr indent="-187452" lvl="0" marL="274320" rtl="0" algn="l">
              <a:lnSpc>
                <a:spcPct val="100000"/>
              </a:lnSpc>
              <a:spcBef>
                <a:spcPts val="600"/>
              </a:spcBef>
              <a:spcAft>
                <a:spcPts val="0"/>
              </a:spcAft>
              <a:buSzPts val="1368"/>
              <a:buFont typeface="Noto Sans Symbols"/>
              <a:buNone/>
            </a:pPr>
            <a:r>
              <a:t/>
            </a:r>
            <a:endParaRPr sz="1800">
              <a:latin typeface="Times New Roman"/>
              <a:ea typeface="Times New Roman"/>
              <a:cs typeface="Times New Roman"/>
              <a:sym typeface="Times New Roman"/>
            </a:endParaRPr>
          </a:p>
          <a:p>
            <a:pPr indent="-274320" lvl="0" marL="274320" rtl="0" algn="l">
              <a:lnSpc>
                <a:spcPct val="100000"/>
              </a:lnSpc>
              <a:spcBef>
                <a:spcPts val="600"/>
              </a:spcBef>
              <a:spcAft>
                <a:spcPts val="0"/>
              </a:spcAft>
              <a:buSzPts val="1368"/>
              <a:buFont typeface="Noto Sans Symbols"/>
              <a:buChar char="⮚"/>
            </a:pPr>
            <a:r>
              <a:rPr lang="en-US" sz="1800">
                <a:latin typeface="Times New Roman"/>
                <a:ea typeface="Times New Roman"/>
                <a:cs typeface="Times New Roman"/>
                <a:sym typeface="Times New Roman"/>
              </a:rPr>
              <a:t>Intel 8086 Microprocessor: Internal architecture, Register structure, Addressing modes, Instruction set etc.</a:t>
            </a:r>
            <a:endParaRPr/>
          </a:p>
          <a:p>
            <a:pPr indent="-187452" lvl="0" marL="274320" rtl="0" algn="l">
              <a:lnSpc>
                <a:spcPct val="100000"/>
              </a:lnSpc>
              <a:spcBef>
                <a:spcPts val="600"/>
              </a:spcBef>
              <a:spcAft>
                <a:spcPts val="0"/>
              </a:spcAft>
              <a:buSzPts val="1368"/>
              <a:buFont typeface="Noto Sans Symbols"/>
              <a:buNone/>
            </a:pPr>
            <a:r>
              <a:t/>
            </a:r>
            <a:endParaRPr sz="1800">
              <a:latin typeface="Times New Roman"/>
              <a:ea typeface="Times New Roman"/>
              <a:cs typeface="Times New Roman"/>
              <a:sym typeface="Times New Roman"/>
            </a:endParaRPr>
          </a:p>
          <a:p>
            <a:pPr indent="-274320" lvl="0" marL="274320" rtl="0" algn="l">
              <a:lnSpc>
                <a:spcPct val="100000"/>
              </a:lnSpc>
              <a:spcBef>
                <a:spcPts val="600"/>
              </a:spcBef>
              <a:spcAft>
                <a:spcPts val="0"/>
              </a:spcAft>
              <a:buSzPts val="1368"/>
              <a:buFont typeface="Noto Sans Symbols"/>
              <a:buChar char="⮚"/>
            </a:pPr>
            <a:r>
              <a:rPr lang="en-US" sz="1800">
                <a:latin typeface="Times New Roman"/>
                <a:ea typeface="Times New Roman"/>
                <a:cs typeface="Times New Roman"/>
                <a:sym typeface="Times New Roman"/>
              </a:rPr>
              <a:t>An overview of Intel 80186, 80286, 80386, 80486 and Pentium microprocessors</a:t>
            </a:r>
            <a:endParaRPr/>
          </a:p>
          <a:p>
            <a:pPr indent="-187452" lvl="0" marL="274320" rtl="0" algn="l">
              <a:lnSpc>
                <a:spcPct val="100000"/>
              </a:lnSpc>
              <a:spcBef>
                <a:spcPts val="600"/>
              </a:spcBef>
              <a:spcAft>
                <a:spcPts val="0"/>
              </a:spcAft>
              <a:buSzPts val="1368"/>
              <a:buFont typeface="Noto Sans Symbols"/>
              <a:buNone/>
            </a:pPr>
            <a:r>
              <a:t/>
            </a:r>
            <a:endParaRPr sz="1800">
              <a:latin typeface="Times New Roman"/>
              <a:ea typeface="Times New Roman"/>
              <a:cs typeface="Times New Roman"/>
              <a:sym typeface="Times New Roman"/>
            </a:endParaRPr>
          </a:p>
          <a:p>
            <a:pPr indent="-274320" lvl="0" marL="274320" rtl="0" algn="l">
              <a:lnSpc>
                <a:spcPct val="100000"/>
              </a:lnSpc>
              <a:spcBef>
                <a:spcPts val="600"/>
              </a:spcBef>
              <a:spcAft>
                <a:spcPts val="0"/>
              </a:spcAft>
              <a:buSzPts val="1368"/>
              <a:buFont typeface="Noto Sans Symbols"/>
              <a:buChar char="⮚"/>
            </a:pPr>
            <a:r>
              <a:rPr lang="en-US" sz="1800">
                <a:latin typeface="Times New Roman"/>
                <a:ea typeface="Times New Roman"/>
                <a:cs typeface="Times New Roman"/>
                <a:sym typeface="Times New Roman"/>
              </a:rPr>
              <a:t>RISC and CISC processors.</a:t>
            </a:r>
            <a:endParaRPr/>
          </a:p>
          <a:p>
            <a:pPr indent="-187452" lvl="0" marL="274320" rtl="0" algn="l">
              <a:lnSpc>
                <a:spcPct val="100000"/>
              </a:lnSpc>
              <a:spcBef>
                <a:spcPts val="600"/>
              </a:spcBef>
              <a:spcAft>
                <a:spcPts val="0"/>
              </a:spcAft>
              <a:buSzPts val="1368"/>
              <a:buFont typeface="Noto Sans Symbols"/>
              <a:buNone/>
            </a:pPr>
            <a:r>
              <a:t/>
            </a:r>
            <a:endParaRPr sz="1800">
              <a:latin typeface="Times New Roman"/>
              <a:ea typeface="Times New Roman"/>
              <a:cs typeface="Times New Roman"/>
              <a:sym typeface="Times New Roman"/>
            </a:endParaRPr>
          </a:p>
          <a:p>
            <a:pPr indent="-274320" lvl="0" marL="274320" rtl="0" algn="l">
              <a:lnSpc>
                <a:spcPct val="100000"/>
              </a:lnSpc>
              <a:spcBef>
                <a:spcPts val="600"/>
              </a:spcBef>
              <a:spcAft>
                <a:spcPts val="0"/>
              </a:spcAft>
              <a:buSzPts val="1368"/>
              <a:buFont typeface="Noto Sans Symbols"/>
              <a:buChar char="⮚"/>
            </a:pPr>
            <a:r>
              <a:rPr lang="en-US" sz="1800">
                <a:latin typeface="Times New Roman"/>
                <a:ea typeface="Times New Roman"/>
                <a:cs typeface="Times New Roman"/>
                <a:sym typeface="Times New Roman"/>
              </a:rPr>
              <a:t>Coprocessors.</a:t>
            </a:r>
            <a:endParaRPr/>
          </a:p>
          <a:p>
            <a:pPr indent="-187452" lvl="0" marL="274320" rtl="0" algn="l">
              <a:lnSpc>
                <a:spcPct val="100000"/>
              </a:lnSpc>
              <a:spcBef>
                <a:spcPts val="600"/>
              </a:spcBef>
              <a:spcAft>
                <a:spcPts val="0"/>
              </a:spcAft>
              <a:buSzPts val="1368"/>
              <a:buFont typeface="Noto Sans Symbols"/>
              <a:buNone/>
            </a:pPr>
            <a:r>
              <a:t/>
            </a:r>
            <a:endParaRPr sz="1800">
              <a:latin typeface="Times New Roman"/>
              <a:ea typeface="Times New Roman"/>
              <a:cs typeface="Times New Roman"/>
              <a:sym typeface="Times New Roman"/>
            </a:endParaRPr>
          </a:p>
          <a:p>
            <a:pPr indent="-274320" lvl="0" marL="274320" rtl="0" algn="l">
              <a:lnSpc>
                <a:spcPct val="100000"/>
              </a:lnSpc>
              <a:spcBef>
                <a:spcPts val="600"/>
              </a:spcBef>
              <a:spcAft>
                <a:spcPts val="0"/>
              </a:spcAft>
              <a:buSzPts val="1368"/>
              <a:buFont typeface="Noto Sans Symbols"/>
              <a:buChar char="⮚"/>
            </a:pPr>
            <a:r>
              <a:rPr lang="en-US" sz="1800">
                <a:latin typeface="Times New Roman"/>
                <a:ea typeface="Times New Roman"/>
                <a:cs typeface="Times New Roman"/>
                <a:sym typeface="Times New Roman"/>
              </a:rPr>
              <a:t>Assembly language programming</a:t>
            </a:r>
            <a:endParaRPr/>
          </a:p>
          <a:p>
            <a:pPr indent="-148844" lvl="0" marL="274320" rtl="0" algn="l">
              <a:lnSpc>
                <a:spcPct val="100000"/>
              </a:lnSpc>
              <a:spcBef>
                <a:spcPts val="600"/>
              </a:spcBef>
              <a:spcAft>
                <a:spcPts val="0"/>
              </a:spcAft>
              <a:buSzPts val="1976"/>
              <a:buFont typeface="Noto Sans Symbols"/>
              <a:buNone/>
            </a:pPr>
            <a:r>
              <a:t/>
            </a:r>
            <a:endParaRPr>
              <a:latin typeface="Times New Roman"/>
              <a:ea typeface="Times New Roman"/>
              <a:cs typeface="Times New Roman"/>
              <a:sym typeface="Times New Roman"/>
            </a:endParaRPr>
          </a:p>
          <a:p>
            <a:pPr indent="-148844" lvl="0" marL="274320" rtl="0" algn="l">
              <a:lnSpc>
                <a:spcPct val="100000"/>
              </a:lnSpc>
              <a:spcBef>
                <a:spcPts val="600"/>
              </a:spcBef>
              <a:spcAft>
                <a:spcPts val="0"/>
              </a:spcAft>
              <a:buSzPts val="1976"/>
              <a:buFont typeface="Noto Sans Symbols"/>
              <a:buNone/>
            </a:pPr>
            <a:r>
              <a:t/>
            </a:r>
            <a:endParaRPr>
              <a:latin typeface="Times New Roman"/>
              <a:ea typeface="Times New Roman"/>
              <a:cs typeface="Times New Roman"/>
              <a:sym typeface="Times New Roman"/>
            </a:endParaRPr>
          </a:p>
        </p:txBody>
      </p:sp>
      <p:sp>
        <p:nvSpPr>
          <p:cNvPr id="58" name="Google Shape;58;p3"/>
          <p:cNvSpPr txBox="1"/>
          <p:nvPr>
            <p:ph idx="11" type="ftr"/>
          </p:nvPr>
        </p:nvSpPr>
        <p:spPr>
          <a:xfrm>
            <a:off x="1828800" y="6355080"/>
            <a:ext cx="61722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pic>
        <p:nvPicPr>
          <p:cNvPr descr="BRAC University Jobs 2020- Jobs in BRAC University- careerz360.com" id="59" name="Google Shape;59;p3"/>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2"/>
              </a:buClr>
              <a:buSzPts val="3200"/>
              <a:buFont typeface="Times New Roman"/>
              <a:buNone/>
            </a:pPr>
            <a:r>
              <a:rPr lang="en-US">
                <a:latin typeface="Times New Roman"/>
                <a:ea typeface="Times New Roman"/>
                <a:cs typeface="Times New Roman"/>
                <a:sym typeface="Times New Roman"/>
              </a:rPr>
              <a:t>Recommended Texts</a:t>
            </a:r>
            <a:endParaRPr/>
          </a:p>
        </p:txBody>
      </p:sp>
      <p:sp>
        <p:nvSpPr>
          <p:cNvPr id="66" name="Google Shape;66;p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67" name="Google Shape;67;p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32500" lnSpcReduction="20000"/>
          </a:bodyPr>
          <a:lstStyle/>
          <a:p>
            <a:pPr indent="-194353" lvl="0" marL="274320" rtl="0" algn="l">
              <a:lnSpc>
                <a:spcPct val="120000"/>
              </a:lnSpc>
              <a:spcBef>
                <a:spcPts val="0"/>
              </a:spcBef>
              <a:spcAft>
                <a:spcPts val="0"/>
              </a:spcAft>
              <a:buSzPct val="76000"/>
              <a:buFont typeface="Noto Sans Symbols"/>
              <a:buNone/>
            </a:pPr>
            <a:r>
              <a:t/>
            </a:r>
            <a:endParaRPr i="1" sz="5100">
              <a:latin typeface="Times New Roman"/>
              <a:ea typeface="Times New Roman"/>
              <a:cs typeface="Times New Roman"/>
              <a:sym typeface="Times New Roman"/>
            </a:endParaRPr>
          </a:p>
          <a:p>
            <a:pPr indent="-274344" lvl="0" marL="274320" rtl="0" algn="l">
              <a:lnSpc>
                <a:spcPct val="120000"/>
              </a:lnSpc>
              <a:spcBef>
                <a:spcPts val="600"/>
              </a:spcBef>
              <a:spcAft>
                <a:spcPts val="0"/>
              </a:spcAft>
              <a:buSzPct val="76000"/>
              <a:buFont typeface="Noto Sans Symbols"/>
              <a:buChar char="⮚"/>
            </a:pPr>
            <a:r>
              <a:rPr i="1" lang="en-US" sz="5100">
                <a:latin typeface="Times New Roman"/>
                <a:ea typeface="Times New Roman"/>
                <a:cs typeface="Times New Roman"/>
                <a:sym typeface="Times New Roman"/>
              </a:rPr>
              <a:t>Microprocessors and Interfacing: Programming and Hardware, by </a:t>
            </a:r>
            <a:r>
              <a:rPr b="1" lang="en-US" sz="5100">
                <a:latin typeface="Times New Roman"/>
                <a:ea typeface="Times New Roman"/>
                <a:cs typeface="Times New Roman"/>
                <a:sym typeface="Times New Roman"/>
              </a:rPr>
              <a:t>Douglas V. Hall</a:t>
            </a:r>
            <a:endParaRPr/>
          </a:p>
          <a:p>
            <a:pPr indent="-194353" lvl="0" marL="274320" rtl="0" algn="l">
              <a:lnSpc>
                <a:spcPct val="120000"/>
              </a:lnSpc>
              <a:spcBef>
                <a:spcPts val="600"/>
              </a:spcBef>
              <a:spcAft>
                <a:spcPts val="0"/>
              </a:spcAft>
              <a:buSzPct val="76000"/>
              <a:buFont typeface="Noto Sans Symbols"/>
              <a:buNone/>
            </a:pPr>
            <a:r>
              <a:t/>
            </a:r>
            <a:endParaRPr b="1" sz="5100">
              <a:latin typeface="Times New Roman"/>
              <a:ea typeface="Times New Roman"/>
              <a:cs typeface="Times New Roman"/>
              <a:sym typeface="Times New Roman"/>
            </a:endParaRPr>
          </a:p>
          <a:p>
            <a:pPr indent="-274344" lvl="0" marL="274320" rtl="0" algn="l">
              <a:lnSpc>
                <a:spcPct val="120000"/>
              </a:lnSpc>
              <a:spcBef>
                <a:spcPts val="600"/>
              </a:spcBef>
              <a:spcAft>
                <a:spcPts val="0"/>
              </a:spcAft>
              <a:buSzPct val="76000"/>
              <a:buFont typeface="Noto Sans Symbols"/>
              <a:buChar char="⮚"/>
            </a:pPr>
            <a:r>
              <a:rPr i="1" lang="en-US" sz="5100">
                <a:latin typeface="Times New Roman"/>
                <a:ea typeface="Times New Roman"/>
                <a:cs typeface="Times New Roman"/>
                <a:sym typeface="Times New Roman"/>
              </a:rPr>
              <a:t>Assembly Language Programming and Organization of the IBM PC, by </a:t>
            </a:r>
            <a:r>
              <a:rPr b="1" lang="en-US" sz="5100">
                <a:latin typeface="Times New Roman"/>
                <a:ea typeface="Times New Roman"/>
                <a:cs typeface="Times New Roman"/>
                <a:sym typeface="Times New Roman"/>
              </a:rPr>
              <a:t>Ytha Y. Yu, Charles Marut</a:t>
            </a:r>
            <a:endParaRPr b="1" sz="5100">
              <a:latin typeface="Times New Roman"/>
              <a:ea typeface="Times New Roman"/>
              <a:cs typeface="Times New Roman"/>
              <a:sym typeface="Times New Roman"/>
            </a:endParaRPr>
          </a:p>
          <a:p>
            <a:pPr indent="-194353" lvl="0" marL="274320" rtl="0" algn="l">
              <a:lnSpc>
                <a:spcPct val="120000"/>
              </a:lnSpc>
              <a:spcBef>
                <a:spcPts val="600"/>
              </a:spcBef>
              <a:spcAft>
                <a:spcPts val="0"/>
              </a:spcAft>
              <a:buSzPct val="76000"/>
              <a:buFont typeface="Noto Sans Symbols"/>
              <a:buNone/>
            </a:pPr>
            <a:r>
              <a:t/>
            </a:r>
            <a:endParaRPr b="1" sz="5100">
              <a:latin typeface="Times New Roman"/>
              <a:ea typeface="Times New Roman"/>
              <a:cs typeface="Times New Roman"/>
              <a:sym typeface="Times New Roman"/>
            </a:endParaRPr>
          </a:p>
          <a:p>
            <a:pPr indent="-274344" lvl="0" marL="274320" rtl="0" algn="l">
              <a:lnSpc>
                <a:spcPct val="120000"/>
              </a:lnSpc>
              <a:spcBef>
                <a:spcPts val="600"/>
              </a:spcBef>
              <a:spcAft>
                <a:spcPts val="0"/>
              </a:spcAft>
              <a:buSzPct val="76000"/>
              <a:buFont typeface="Noto Sans Symbols"/>
              <a:buChar char="⮚"/>
            </a:pPr>
            <a:r>
              <a:rPr i="1" lang="en-US" sz="5100">
                <a:latin typeface="Times New Roman"/>
                <a:ea typeface="Times New Roman"/>
                <a:cs typeface="Times New Roman"/>
                <a:sym typeface="Times New Roman"/>
              </a:rPr>
              <a:t>Microprocessor, architecture, programming &amp; application with the 8085, by</a:t>
            </a:r>
            <a:r>
              <a:rPr lang="en-US" sz="5100">
                <a:latin typeface="Times New Roman"/>
                <a:ea typeface="Times New Roman"/>
                <a:cs typeface="Times New Roman"/>
                <a:sym typeface="Times New Roman"/>
              </a:rPr>
              <a:t> </a:t>
            </a:r>
            <a:r>
              <a:rPr b="1" lang="en-US" sz="5100">
                <a:latin typeface="Times New Roman"/>
                <a:ea typeface="Times New Roman"/>
                <a:cs typeface="Times New Roman"/>
                <a:sym typeface="Times New Roman"/>
              </a:rPr>
              <a:t>Ramesh Gaonkar</a:t>
            </a:r>
            <a:endParaRPr b="1" sz="5100">
              <a:latin typeface="Times New Roman"/>
              <a:ea typeface="Times New Roman"/>
              <a:cs typeface="Times New Roman"/>
              <a:sym typeface="Times New Roman"/>
            </a:endParaRPr>
          </a:p>
          <a:p>
            <a:pPr indent="-194353" lvl="0" marL="274320" rtl="0" algn="l">
              <a:lnSpc>
                <a:spcPct val="120000"/>
              </a:lnSpc>
              <a:spcBef>
                <a:spcPts val="600"/>
              </a:spcBef>
              <a:spcAft>
                <a:spcPts val="0"/>
              </a:spcAft>
              <a:buSzPct val="76000"/>
              <a:buFont typeface="Noto Sans Symbols"/>
              <a:buNone/>
            </a:pPr>
            <a:r>
              <a:t/>
            </a:r>
            <a:endParaRPr b="1" sz="5100">
              <a:latin typeface="Times New Roman"/>
              <a:ea typeface="Times New Roman"/>
              <a:cs typeface="Times New Roman"/>
              <a:sym typeface="Times New Roman"/>
            </a:endParaRPr>
          </a:p>
          <a:p>
            <a:pPr indent="-274344" lvl="0" marL="274320" rtl="0" algn="l">
              <a:lnSpc>
                <a:spcPct val="120000"/>
              </a:lnSpc>
              <a:spcBef>
                <a:spcPts val="600"/>
              </a:spcBef>
              <a:spcAft>
                <a:spcPts val="0"/>
              </a:spcAft>
              <a:buSzPct val="76000"/>
              <a:buFont typeface="Noto Sans Symbols"/>
              <a:buChar char="⮚"/>
            </a:pPr>
            <a:r>
              <a:rPr i="1" lang="en-US" sz="5100">
                <a:latin typeface="Times New Roman"/>
                <a:ea typeface="Times New Roman"/>
                <a:cs typeface="Times New Roman"/>
                <a:sym typeface="Times New Roman"/>
              </a:rPr>
              <a:t>The Intel Microprocessor, by </a:t>
            </a:r>
            <a:r>
              <a:rPr b="1" lang="en-US" sz="5100">
                <a:latin typeface="Times New Roman"/>
                <a:ea typeface="Times New Roman"/>
                <a:cs typeface="Times New Roman"/>
                <a:sym typeface="Times New Roman"/>
              </a:rPr>
              <a:t>Barry B. Bray</a:t>
            </a:r>
            <a:endParaRPr/>
          </a:p>
          <a:p>
            <a:pPr indent="-194353" lvl="0" marL="274320" rtl="0" algn="l">
              <a:lnSpc>
                <a:spcPct val="120000"/>
              </a:lnSpc>
              <a:spcBef>
                <a:spcPts val="600"/>
              </a:spcBef>
              <a:spcAft>
                <a:spcPts val="0"/>
              </a:spcAft>
              <a:buSzPct val="76000"/>
              <a:buFont typeface="Noto Sans Symbols"/>
              <a:buNone/>
            </a:pPr>
            <a:r>
              <a:t/>
            </a:r>
            <a:endParaRPr b="1" sz="5100">
              <a:latin typeface="Times New Roman"/>
              <a:ea typeface="Times New Roman"/>
              <a:cs typeface="Times New Roman"/>
              <a:sym typeface="Times New Roman"/>
            </a:endParaRPr>
          </a:p>
          <a:p>
            <a:pPr indent="-274344" lvl="0" marL="274320" rtl="0" algn="l">
              <a:lnSpc>
                <a:spcPct val="120000"/>
              </a:lnSpc>
              <a:spcBef>
                <a:spcPts val="600"/>
              </a:spcBef>
              <a:spcAft>
                <a:spcPts val="0"/>
              </a:spcAft>
              <a:buSzPct val="76000"/>
              <a:buFont typeface="Noto Sans Symbols"/>
              <a:buChar char="⮚"/>
            </a:pPr>
            <a:r>
              <a:rPr i="1" lang="en-US" sz="5100">
                <a:latin typeface="Times New Roman"/>
                <a:ea typeface="Times New Roman"/>
                <a:cs typeface="Times New Roman"/>
                <a:sym typeface="Times New Roman"/>
              </a:rPr>
              <a:t>Microprocessor and Microcomputer – Based System Design</a:t>
            </a:r>
            <a:r>
              <a:rPr lang="en-US" sz="5100">
                <a:latin typeface="Times New Roman"/>
                <a:ea typeface="Times New Roman"/>
                <a:cs typeface="Times New Roman"/>
                <a:sym typeface="Times New Roman"/>
              </a:rPr>
              <a:t>, </a:t>
            </a:r>
            <a:r>
              <a:rPr i="1" lang="en-US" sz="5100">
                <a:latin typeface="Times New Roman"/>
                <a:ea typeface="Times New Roman"/>
                <a:cs typeface="Times New Roman"/>
                <a:sym typeface="Times New Roman"/>
              </a:rPr>
              <a:t>by</a:t>
            </a:r>
            <a:r>
              <a:rPr lang="en-US" sz="5100">
                <a:latin typeface="Times New Roman"/>
                <a:ea typeface="Times New Roman"/>
                <a:cs typeface="Times New Roman"/>
                <a:sym typeface="Times New Roman"/>
              </a:rPr>
              <a:t> </a:t>
            </a:r>
            <a:r>
              <a:rPr b="1" lang="en-US" sz="5100">
                <a:latin typeface="Times New Roman"/>
                <a:ea typeface="Times New Roman"/>
                <a:cs typeface="Times New Roman"/>
                <a:sym typeface="Times New Roman"/>
              </a:rPr>
              <a:t>Mohamed Rafiquzzaman</a:t>
            </a:r>
            <a:endParaRPr b="1" sz="5100">
              <a:latin typeface="Times New Roman"/>
              <a:ea typeface="Times New Roman"/>
              <a:cs typeface="Times New Roman"/>
              <a:sym typeface="Times New Roman"/>
            </a:endParaRPr>
          </a:p>
          <a:p>
            <a:pPr indent="-194353" lvl="0" marL="274320" rtl="0" algn="l">
              <a:lnSpc>
                <a:spcPct val="120000"/>
              </a:lnSpc>
              <a:spcBef>
                <a:spcPts val="600"/>
              </a:spcBef>
              <a:spcAft>
                <a:spcPts val="0"/>
              </a:spcAft>
              <a:buSzPct val="76000"/>
              <a:buFont typeface="Noto Sans Symbols"/>
              <a:buNone/>
            </a:pPr>
            <a:r>
              <a:t/>
            </a:r>
            <a:endParaRPr b="1" sz="5100">
              <a:latin typeface="Times New Roman"/>
              <a:ea typeface="Times New Roman"/>
              <a:cs typeface="Times New Roman"/>
              <a:sym typeface="Times New Roman"/>
            </a:endParaRPr>
          </a:p>
          <a:p>
            <a:pPr indent="0" lvl="0" marL="0" rtl="0" algn="l">
              <a:lnSpc>
                <a:spcPct val="100000"/>
              </a:lnSpc>
              <a:spcBef>
                <a:spcPts val="600"/>
              </a:spcBef>
              <a:spcAft>
                <a:spcPts val="0"/>
              </a:spcAft>
              <a:buSzPct val="76000"/>
              <a:buNone/>
            </a:pPr>
            <a:r>
              <a:t/>
            </a:r>
            <a:endParaRPr/>
          </a:p>
          <a:p>
            <a:pPr indent="0" lvl="0" marL="0" rtl="0" algn="l">
              <a:lnSpc>
                <a:spcPct val="100000"/>
              </a:lnSpc>
              <a:spcBef>
                <a:spcPts val="600"/>
              </a:spcBef>
              <a:spcAft>
                <a:spcPts val="0"/>
              </a:spcAft>
              <a:buSzPct val="76000"/>
              <a:buNone/>
            </a:pPr>
            <a:r>
              <a:rPr b="1" lang="en-US"/>
              <a:t> </a:t>
            </a:r>
            <a:endParaRPr/>
          </a:p>
        </p:txBody>
      </p:sp>
      <p:sp>
        <p:nvSpPr>
          <p:cNvPr id="68" name="Google Shape;68;p4"/>
          <p:cNvSpPr txBox="1"/>
          <p:nvPr>
            <p:ph idx="11" type="ftr"/>
          </p:nvPr>
        </p:nvSpPr>
        <p:spPr>
          <a:xfrm>
            <a:off x="1828800" y="6355080"/>
            <a:ext cx="61722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pic>
        <p:nvPicPr>
          <p:cNvPr descr="BRAC University Jobs 2020- Jobs in BRAC University- careerz360.com" id="69" name="Google Shape;69;p4"/>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2"/>
              </a:buClr>
              <a:buSzPts val="3200"/>
              <a:buFont typeface="Bookman Old Style"/>
              <a:buNone/>
            </a:pPr>
            <a:r>
              <a:rPr lang="en-US"/>
              <a:t>Some tips before we begin</a:t>
            </a:r>
            <a:endParaRPr/>
          </a:p>
        </p:txBody>
      </p:sp>
      <p:sp>
        <p:nvSpPr>
          <p:cNvPr id="75" name="Google Shape;75;p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76" name="Google Shape;76;p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976"/>
              <a:buNone/>
            </a:pPr>
            <a:r>
              <a:t/>
            </a:r>
            <a:endParaRPr/>
          </a:p>
          <a:p>
            <a:pPr indent="0" lvl="0" marL="0" rtl="0" algn="l">
              <a:lnSpc>
                <a:spcPct val="100000"/>
              </a:lnSpc>
              <a:spcBef>
                <a:spcPts val="600"/>
              </a:spcBef>
              <a:spcAft>
                <a:spcPts val="0"/>
              </a:spcAft>
              <a:buSzPts val="1976"/>
              <a:buNone/>
            </a:pPr>
            <a:r>
              <a:t/>
            </a:r>
            <a:endParaRPr/>
          </a:p>
          <a:p>
            <a:pPr indent="-274320" lvl="1" marL="548640" rtl="0" algn="l">
              <a:lnSpc>
                <a:spcPct val="100000"/>
              </a:lnSpc>
              <a:spcBef>
                <a:spcPts val="500"/>
              </a:spcBef>
              <a:spcAft>
                <a:spcPts val="0"/>
              </a:spcAft>
              <a:buSzPts val="1368"/>
              <a:buChar char="?"/>
            </a:pPr>
            <a:r>
              <a:rPr lang="en-US" sz="1800">
                <a:solidFill>
                  <a:schemeClr val="dk1"/>
                </a:solidFill>
                <a:latin typeface="Times New Roman"/>
                <a:ea typeface="Times New Roman"/>
                <a:cs typeface="Times New Roman"/>
                <a:sym typeface="Times New Roman"/>
              </a:rPr>
              <a:t>Number Systems and their Conversion</a:t>
            </a:r>
            <a:endParaRPr/>
          </a:p>
          <a:p>
            <a:pPr indent="0" lvl="1" marL="274320" rtl="0" algn="l">
              <a:lnSpc>
                <a:spcPct val="100000"/>
              </a:lnSpc>
              <a:spcBef>
                <a:spcPts val="500"/>
              </a:spcBef>
              <a:spcAft>
                <a:spcPts val="0"/>
              </a:spcAft>
              <a:buSzPts val="1368"/>
              <a:buNone/>
            </a:pPr>
            <a:r>
              <a:t/>
            </a:r>
            <a:endParaRPr sz="1800">
              <a:solidFill>
                <a:schemeClr val="dk1"/>
              </a:solidFill>
              <a:latin typeface="Times New Roman"/>
              <a:ea typeface="Times New Roman"/>
              <a:cs typeface="Times New Roman"/>
              <a:sym typeface="Times New Roman"/>
            </a:endParaRPr>
          </a:p>
          <a:p>
            <a:pPr indent="-274320" lvl="1" marL="548640" rtl="0" algn="l">
              <a:lnSpc>
                <a:spcPct val="100000"/>
              </a:lnSpc>
              <a:spcBef>
                <a:spcPts val="500"/>
              </a:spcBef>
              <a:spcAft>
                <a:spcPts val="0"/>
              </a:spcAft>
              <a:buSzPts val="1368"/>
              <a:buChar char="?"/>
            </a:pPr>
            <a:r>
              <a:rPr lang="en-US" sz="1800">
                <a:solidFill>
                  <a:schemeClr val="dk1"/>
                </a:solidFill>
                <a:latin typeface="Times New Roman"/>
                <a:ea typeface="Times New Roman"/>
                <a:cs typeface="Times New Roman"/>
                <a:sym typeface="Times New Roman"/>
              </a:rPr>
              <a:t>Basics of “Digital Logic Design” </a:t>
            </a:r>
            <a:endParaRPr sz="1800">
              <a:solidFill>
                <a:schemeClr val="dk1"/>
              </a:solidFill>
              <a:latin typeface="Times New Roman"/>
              <a:ea typeface="Times New Roman"/>
              <a:cs typeface="Times New Roman"/>
              <a:sym typeface="Times New Roman"/>
            </a:endParaRPr>
          </a:p>
          <a:p>
            <a:pPr indent="-187452" lvl="1" marL="548640" rtl="0" algn="l">
              <a:lnSpc>
                <a:spcPct val="100000"/>
              </a:lnSpc>
              <a:spcBef>
                <a:spcPts val="500"/>
              </a:spcBef>
              <a:spcAft>
                <a:spcPts val="0"/>
              </a:spcAft>
              <a:buSzPts val="1368"/>
              <a:buNone/>
            </a:pPr>
            <a:r>
              <a:t/>
            </a:r>
            <a:endParaRPr sz="1800">
              <a:solidFill>
                <a:schemeClr val="dk1"/>
              </a:solidFill>
              <a:latin typeface="Times New Roman"/>
              <a:ea typeface="Times New Roman"/>
              <a:cs typeface="Times New Roman"/>
              <a:sym typeface="Times New Roman"/>
            </a:endParaRPr>
          </a:p>
          <a:p>
            <a:pPr indent="-274320" lvl="1" marL="548640" rtl="0" algn="l">
              <a:lnSpc>
                <a:spcPct val="100000"/>
              </a:lnSpc>
              <a:spcBef>
                <a:spcPts val="500"/>
              </a:spcBef>
              <a:spcAft>
                <a:spcPts val="0"/>
              </a:spcAft>
              <a:buSzPts val="1368"/>
              <a:buChar char="?"/>
            </a:pPr>
            <a:r>
              <a:rPr lang="en-US" sz="1800">
                <a:solidFill>
                  <a:schemeClr val="dk1"/>
                </a:solidFill>
                <a:latin typeface="Times New Roman"/>
                <a:ea typeface="Times New Roman"/>
                <a:cs typeface="Times New Roman"/>
                <a:sym typeface="Times New Roman"/>
              </a:rPr>
              <a:t>Basics of “Computer Architecture”</a:t>
            </a:r>
            <a:endParaRPr/>
          </a:p>
          <a:p>
            <a:pPr indent="0" lvl="1" marL="274320" rtl="0" algn="l">
              <a:lnSpc>
                <a:spcPct val="100000"/>
              </a:lnSpc>
              <a:spcBef>
                <a:spcPts val="500"/>
              </a:spcBef>
              <a:spcAft>
                <a:spcPts val="0"/>
              </a:spcAft>
              <a:buSzPts val="1368"/>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indent="-274320" lvl="1" marL="548640" rtl="0" algn="l">
              <a:lnSpc>
                <a:spcPct val="100000"/>
              </a:lnSpc>
              <a:spcBef>
                <a:spcPts val="500"/>
              </a:spcBef>
              <a:spcAft>
                <a:spcPts val="0"/>
              </a:spcAft>
              <a:buSzPts val="1368"/>
              <a:buChar char="?"/>
            </a:pPr>
            <a:r>
              <a:rPr lang="en-US" sz="1800">
                <a:solidFill>
                  <a:schemeClr val="dk1"/>
                </a:solidFill>
                <a:latin typeface="Times New Roman"/>
                <a:ea typeface="Times New Roman"/>
                <a:cs typeface="Times New Roman"/>
                <a:sym typeface="Times New Roman"/>
              </a:rPr>
              <a:t>Basic Programming</a:t>
            </a:r>
            <a:endParaRPr sz="1800">
              <a:solidFill>
                <a:schemeClr val="dk1"/>
              </a:solidFill>
              <a:latin typeface="Times New Roman"/>
              <a:ea typeface="Times New Roman"/>
              <a:cs typeface="Times New Roman"/>
              <a:sym typeface="Times New Roman"/>
            </a:endParaRPr>
          </a:p>
          <a:p>
            <a:pPr indent="-274320" lvl="0" marL="274320" rtl="0" algn="l">
              <a:lnSpc>
                <a:spcPct val="100000"/>
              </a:lnSpc>
              <a:spcBef>
                <a:spcPts val="600"/>
              </a:spcBef>
              <a:spcAft>
                <a:spcPts val="0"/>
              </a:spcAft>
              <a:buSzPts val="1976"/>
              <a:buNone/>
            </a:pPr>
            <a:r>
              <a:t/>
            </a:r>
            <a:endParaRPr/>
          </a:p>
        </p:txBody>
      </p:sp>
      <p:sp>
        <p:nvSpPr>
          <p:cNvPr id="77" name="Google Shape;77;p5"/>
          <p:cNvSpPr txBox="1"/>
          <p:nvPr>
            <p:ph idx="11" type="ftr"/>
          </p:nvPr>
        </p:nvSpPr>
        <p:spPr>
          <a:xfrm>
            <a:off x="1828800" y="6355080"/>
            <a:ext cx="61722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pic>
        <p:nvPicPr>
          <p:cNvPr descr="BRAC University Jobs 2020- Jobs in BRAC University- careerz360.com" id="78" name="Google Shape;78;p5"/>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Concept of Computer</a:t>
            </a:r>
            <a:endParaRPr/>
          </a:p>
        </p:txBody>
      </p:sp>
      <p:sp>
        <p:nvSpPr>
          <p:cNvPr id="84" name="Google Shape;84;p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grpSp>
        <p:nvGrpSpPr>
          <p:cNvPr id="85" name="Google Shape;85;p6"/>
          <p:cNvGrpSpPr/>
          <p:nvPr/>
        </p:nvGrpSpPr>
        <p:grpSpPr>
          <a:xfrm>
            <a:off x="1752600" y="1905000"/>
            <a:ext cx="2362200" cy="2286000"/>
            <a:chOff x="672" y="768"/>
            <a:chExt cx="1488" cy="1440"/>
          </a:xfrm>
        </p:grpSpPr>
        <p:sp>
          <p:nvSpPr>
            <p:cNvPr id="86" name="Google Shape;86;p6"/>
            <p:cNvSpPr txBox="1"/>
            <p:nvPr/>
          </p:nvSpPr>
          <p:spPr>
            <a:xfrm>
              <a:off x="672" y="768"/>
              <a:ext cx="1488" cy="3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Computer</a:t>
              </a:r>
              <a:endParaRPr b="0" i="0" sz="1400" u="none" cap="none" strike="noStrike">
                <a:solidFill>
                  <a:srgbClr val="000000"/>
                </a:solidFill>
                <a:latin typeface="Arial"/>
                <a:ea typeface="Arial"/>
                <a:cs typeface="Arial"/>
                <a:sym typeface="Arial"/>
              </a:endParaRPr>
            </a:p>
          </p:txBody>
        </p:sp>
        <p:grpSp>
          <p:nvGrpSpPr>
            <p:cNvPr id="87" name="Google Shape;87;p6"/>
            <p:cNvGrpSpPr/>
            <p:nvPr/>
          </p:nvGrpSpPr>
          <p:grpSpPr>
            <a:xfrm>
              <a:off x="768" y="1248"/>
              <a:ext cx="1200" cy="960"/>
              <a:chOff x="960" y="1920"/>
              <a:chExt cx="1200" cy="960"/>
            </a:xfrm>
          </p:grpSpPr>
          <p:sp>
            <p:nvSpPr>
              <p:cNvPr id="88" name="Google Shape;88;p6"/>
              <p:cNvSpPr/>
              <p:nvPr/>
            </p:nvSpPr>
            <p:spPr>
              <a:xfrm>
                <a:off x="1152" y="1920"/>
                <a:ext cx="816" cy="720"/>
              </a:xfrm>
              <a:prstGeom prst="rect">
                <a:avLst/>
              </a:prstGeom>
              <a:solidFill>
                <a:srgbClr val="33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89" name="Google Shape;89;p6"/>
              <p:cNvSpPr/>
              <p:nvPr/>
            </p:nvSpPr>
            <p:spPr>
              <a:xfrm flipH="1" rot="10800000">
                <a:off x="960" y="2688"/>
                <a:ext cx="1200" cy="192"/>
              </a:xfrm>
              <a:custGeom>
                <a:rect b="b" l="l" r="r" t="t"/>
                <a:pathLst>
                  <a:path extrusionOk="0" h="21600" w="21600">
                    <a:moveTo>
                      <a:pt x="0" y="0"/>
                    </a:moveTo>
                    <a:lnTo>
                      <a:pt x="5400" y="21600"/>
                    </a:lnTo>
                    <a:lnTo>
                      <a:pt x="16200" y="21600"/>
                    </a:lnTo>
                    <a:lnTo>
                      <a:pt x="21600" y="0"/>
                    </a:lnTo>
                    <a:close/>
                  </a:path>
                </a:pathLst>
              </a:custGeom>
              <a:solidFill>
                <a:srgbClr val="96969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90" name="Google Shape;90;p6"/>
              <p:cNvSpPr/>
              <p:nvPr/>
            </p:nvSpPr>
            <p:spPr>
              <a:xfrm>
                <a:off x="1248" y="2016"/>
                <a:ext cx="624" cy="528"/>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grpSp>
      </p:grpSp>
      <p:sp>
        <p:nvSpPr>
          <p:cNvPr id="91" name="Google Shape;91;p6"/>
          <p:cNvSpPr/>
          <p:nvPr/>
        </p:nvSpPr>
        <p:spPr>
          <a:xfrm>
            <a:off x="4267200" y="1676400"/>
            <a:ext cx="3352800" cy="1143000"/>
          </a:xfrm>
          <a:prstGeom prst="wedgeEllipseCallout">
            <a:avLst>
              <a:gd fmla="val -57528" name="adj1"/>
              <a:gd fmla="val 55417" name="adj2"/>
            </a:avLst>
          </a:prstGeom>
          <a:solidFill>
            <a:srgbClr val="CC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Data Processing</a:t>
            </a:r>
            <a:endParaRPr b="0" i="0" sz="1800" u="none" cap="none" strike="noStrike">
              <a:solidFill>
                <a:schemeClr val="dk1"/>
              </a:solidFill>
              <a:latin typeface="Times New Roman"/>
              <a:ea typeface="Times New Roman"/>
              <a:cs typeface="Times New Roman"/>
              <a:sym typeface="Times New Roman"/>
            </a:endParaRPr>
          </a:p>
        </p:txBody>
      </p:sp>
      <p:sp>
        <p:nvSpPr>
          <p:cNvPr id="92" name="Google Shape;92;p6"/>
          <p:cNvSpPr/>
          <p:nvPr/>
        </p:nvSpPr>
        <p:spPr>
          <a:xfrm>
            <a:off x="4191000" y="4038600"/>
            <a:ext cx="3429000" cy="1066800"/>
          </a:xfrm>
          <a:prstGeom prst="wedgeEllipseCallout">
            <a:avLst>
              <a:gd fmla="val -50556" name="adj1"/>
              <a:gd fmla="val -71130" name="adj2"/>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Data Storage</a:t>
            </a:r>
            <a:endParaRPr b="0" i="0" sz="1400" u="none" cap="none" strike="noStrike">
              <a:solidFill>
                <a:srgbClr val="000000"/>
              </a:solidFill>
              <a:latin typeface="Arial"/>
              <a:ea typeface="Arial"/>
              <a:cs typeface="Arial"/>
              <a:sym typeface="Arial"/>
            </a:endParaRPr>
          </a:p>
        </p:txBody>
      </p:sp>
      <p:sp>
        <p:nvSpPr>
          <p:cNvPr id="93" name="Google Shape;93;p6"/>
          <p:cNvSpPr txBox="1"/>
          <p:nvPr>
            <p:ph idx="11" type="ftr"/>
          </p:nvPr>
        </p:nvSpPr>
        <p:spPr>
          <a:xfrm>
            <a:off x="1828800" y="6355080"/>
            <a:ext cx="61722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pic>
        <p:nvPicPr>
          <p:cNvPr descr="BRAC University Jobs 2020- Jobs in BRAC University- careerz360.com" id="94" name="Google Shape;94;p6"/>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Major Components of Computer</a:t>
            </a:r>
            <a:endParaRPr/>
          </a:p>
        </p:txBody>
      </p:sp>
      <p:sp>
        <p:nvSpPr>
          <p:cNvPr id="100" name="Google Shape;100;p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solidFill>
                  <a:schemeClr val="dk1"/>
                </a:solidFill>
              </a:rPr>
              <a:t>‹#›</a:t>
            </a:fld>
            <a:endParaRPr>
              <a:solidFill>
                <a:schemeClr val="dk1"/>
              </a:solidFill>
            </a:endParaRPr>
          </a:p>
        </p:txBody>
      </p:sp>
      <p:grpSp>
        <p:nvGrpSpPr>
          <p:cNvPr id="101" name="Google Shape;101;p7"/>
          <p:cNvGrpSpPr/>
          <p:nvPr/>
        </p:nvGrpSpPr>
        <p:grpSpPr>
          <a:xfrm>
            <a:off x="838200" y="1319213"/>
            <a:ext cx="7488237" cy="4518025"/>
            <a:chOff x="609" y="831"/>
            <a:chExt cx="4717" cy="2846"/>
          </a:xfrm>
        </p:grpSpPr>
        <p:sp>
          <p:nvSpPr>
            <p:cNvPr id="102" name="Google Shape;102;p7"/>
            <p:cNvSpPr/>
            <p:nvPr/>
          </p:nvSpPr>
          <p:spPr>
            <a:xfrm>
              <a:off x="609" y="831"/>
              <a:ext cx="4717" cy="2846"/>
            </a:xfrm>
            <a:prstGeom prst="ellipse">
              <a:avLst/>
            </a:prstGeom>
            <a:solidFill>
              <a:schemeClr val="hlink"/>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grpSp>
          <p:nvGrpSpPr>
            <p:cNvPr id="103" name="Google Shape;103;p7"/>
            <p:cNvGrpSpPr/>
            <p:nvPr/>
          </p:nvGrpSpPr>
          <p:grpSpPr>
            <a:xfrm>
              <a:off x="4240" y="2337"/>
              <a:ext cx="1043" cy="995"/>
              <a:chOff x="672" y="768"/>
              <a:chExt cx="1488" cy="1440"/>
            </a:xfrm>
          </p:grpSpPr>
          <p:sp>
            <p:nvSpPr>
              <p:cNvPr id="104" name="Google Shape;104;p7"/>
              <p:cNvSpPr txBox="1"/>
              <p:nvPr/>
            </p:nvSpPr>
            <p:spPr>
              <a:xfrm>
                <a:off x="672" y="768"/>
                <a:ext cx="1488" cy="3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Computer</a:t>
                </a:r>
                <a:endParaRPr b="0" i="0" sz="1400" u="none" cap="none" strike="noStrike">
                  <a:solidFill>
                    <a:srgbClr val="000000"/>
                  </a:solidFill>
                  <a:latin typeface="Arial"/>
                  <a:ea typeface="Arial"/>
                  <a:cs typeface="Arial"/>
                  <a:sym typeface="Arial"/>
                </a:endParaRPr>
              </a:p>
            </p:txBody>
          </p:sp>
          <p:grpSp>
            <p:nvGrpSpPr>
              <p:cNvPr id="105" name="Google Shape;105;p7"/>
              <p:cNvGrpSpPr/>
              <p:nvPr/>
            </p:nvGrpSpPr>
            <p:grpSpPr>
              <a:xfrm>
                <a:off x="768" y="1248"/>
                <a:ext cx="1200" cy="960"/>
                <a:chOff x="960" y="1920"/>
                <a:chExt cx="1200" cy="960"/>
              </a:xfrm>
            </p:grpSpPr>
            <p:sp>
              <p:nvSpPr>
                <p:cNvPr id="106" name="Google Shape;106;p7"/>
                <p:cNvSpPr/>
                <p:nvPr/>
              </p:nvSpPr>
              <p:spPr>
                <a:xfrm>
                  <a:off x="1152" y="1920"/>
                  <a:ext cx="816" cy="720"/>
                </a:xfrm>
                <a:prstGeom prst="rect">
                  <a:avLst/>
                </a:prstGeom>
                <a:solidFill>
                  <a:srgbClr val="33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07" name="Google Shape;107;p7"/>
                <p:cNvSpPr/>
                <p:nvPr/>
              </p:nvSpPr>
              <p:spPr>
                <a:xfrm flipH="1" rot="10800000">
                  <a:off x="960" y="2688"/>
                  <a:ext cx="1200" cy="192"/>
                </a:xfrm>
                <a:custGeom>
                  <a:rect b="b" l="l" r="r" t="t"/>
                  <a:pathLst>
                    <a:path extrusionOk="0" h="21600" w="21600">
                      <a:moveTo>
                        <a:pt x="0" y="0"/>
                      </a:moveTo>
                      <a:lnTo>
                        <a:pt x="5400" y="21600"/>
                      </a:lnTo>
                      <a:lnTo>
                        <a:pt x="16200" y="21600"/>
                      </a:lnTo>
                      <a:lnTo>
                        <a:pt x="21600" y="0"/>
                      </a:lnTo>
                      <a:close/>
                    </a:path>
                  </a:pathLst>
                </a:custGeom>
                <a:solidFill>
                  <a:srgbClr val="96969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08" name="Google Shape;108;p7"/>
                <p:cNvSpPr/>
                <p:nvPr/>
              </p:nvSpPr>
              <p:spPr>
                <a:xfrm>
                  <a:off x="1248" y="2016"/>
                  <a:ext cx="624" cy="528"/>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grpSp>
        </p:grpSp>
      </p:grpSp>
      <p:grpSp>
        <p:nvGrpSpPr>
          <p:cNvPr id="109" name="Google Shape;109;p7"/>
          <p:cNvGrpSpPr/>
          <p:nvPr/>
        </p:nvGrpSpPr>
        <p:grpSpPr>
          <a:xfrm>
            <a:off x="3646488" y="3889375"/>
            <a:ext cx="2135187" cy="1822450"/>
            <a:chOff x="2368" y="2508"/>
            <a:chExt cx="1345" cy="1148"/>
          </a:xfrm>
        </p:grpSpPr>
        <p:sp>
          <p:nvSpPr>
            <p:cNvPr id="110" name="Google Shape;110;p7"/>
            <p:cNvSpPr/>
            <p:nvPr/>
          </p:nvSpPr>
          <p:spPr>
            <a:xfrm>
              <a:off x="2368" y="2508"/>
              <a:ext cx="1345" cy="1148"/>
            </a:xfrm>
            <a:prstGeom prst="ellipse">
              <a:avLst/>
            </a:prstGeom>
            <a:solidFill>
              <a:srgbClr val="FF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11" name="Google Shape;111;p7"/>
            <p:cNvSpPr txBox="1"/>
            <p:nvPr/>
          </p:nvSpPr>
          <p:spPr>
            <a:xfrm>
              <a:off x="2578" y="2942"/>
              <a:ext cx="902" cy="233"/>
            </a:xfrm>
            <a:prstGeom prst="rect">
              <a:avLst/>
            </a:prstGeom>
            <a:solidFill>
              <a:srgbClr val="FFFF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CPU</a:t>
              </a:r>
              <a:endParaRPr b="0" i="0" sz="1400" u="none" cap="none" strike="noStrike">
                <a:solidFill>
                  <a:srgbClr val="000000"/>
                </a:solidFill>
                <a:latin typeface="Arial"/>
                <a:ea typeface="Arial"/>
                <a:cs typeface="Arial"/>
                <a:sym typeface="Arial"/>
              </a:endParaRPr>
            </a:p>
          </p:txBody>
        </p:sp>
      </p:grpSp>
      <p:grpSp>
        <p:nvGrpSpPr>
          <p:cNvPr id="112" name="Google Shape;112;p7"/>
          <p:cNvGrpSpPr/>
          <p:nvPr/>
        </p:nvGrpSpPr>
        <p:grpSpPr>
          <a:xfrm>
            <a:off x="5337175" y="1716088"/>
            <a:ext cx="2135188" cy="1822450"/>
            <a:chOff x="3432" y="1244"/>
            <a:chExt cx="1345" cy="1148"/>
          </a:xfrm>
        </p:grpSpPr>
        <p:sp>
          <p:nvSpPr>
            <p:cNvPr id="113" name="Google Shape;113;p7"/>
            <p:cNvSpPr/>
            <p:nvPr/>
          </p:nvSpPr>
          <p:spPr>
            <a:xfrm>
              <a:off x="3432" y="1244"/>
              <a:ext cx="1345" cy="1148"/>
            </a:xfrm>
            <a:prstGeom prst="ellipse">
              <a:avLst/>
            </a:prstGeom>
            <a:solidFill>
              <a:srgbClr val="FF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14" name="Google Shape;114;p7"/>
            <p:cNvSpPr txBox="1"/>
            <p:nvPr/>
          </p:nvSpPr>
          <p:spPr>
            <a:xfrm>
              <a:off x="3607" y="1654"/>
              <a:ext cx="1031" cy="233"/>
            </a:xfrm>
            <a:prstGeom prst="rect">
              <a:avLst/>
            </a:prstGeom>
            <a:solidFill>
              <a:srgbClr val="FFFF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MEMORY</a:t>
              </a:r>
              <a:endParaRPr b="0" i="0" sz="1400" u="none" cap="none" strike="noStrike">
                <a:solidFill>
                  <a:srgbClr val="000000"/>
                </a:solidFill>
                <a:latin typeface="Arial"/>
                <a:ea typeface="Arial"/>
                <a:cs typeface="Arial"/>
                <a:sym typeface="Arial"/>
              </a:endParaRPr>
            </a:p>
          </p:txBody>
        </p:sp>
      </p:grpSp>
      <p:grpSp>
        <p:nvGrpSpPr>
          <p:cNvPr id="115" name="Google Shape;115;p7"/>
          <p:cNvGrpSpPr/>
          <p:nvPr/>
        </p:nvGrpSpPr>
        <p:grpSpPr>
          <a:xfrm>
            <a:off x="1812925" y="2125663"/>
            <a:ext cx="2135188" cy="1822450"/>
            <a:chOff x="2368" y="2508"/>
            <a:chExt cx="1345" cy="1148"/>
          </a:xfrm>
        </p:grpSpPr>
        <p:sp>
          <p:nvSpPr>
            <p:cNvPr id="116" name="Google Shape;116;p7"/>
            <p:cNvSpPr/>
            <p:nvPr/>
          </p:nvSpPr>
          <p:spPr>
            <a:xfrm>
              <a:off x="2368" y="2508"/>
              <a:ext cx="1345" cy="1148"/>
            </a:xfrm>
            <a:prstGeom prst="ellipse">
              <a:avLst/>
            </a:prstGeom>
            <a:solidFill>
              <a:srgbClr val="FF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17" name="Google Shape;117;p7"/>
            <p:cNvSpPr txBox="1"/>
            <p:nvPr/>
          </p:nvSpPr>
          <p:spPr>
            <a:xfrm>
              <a:off x="2578" y="2942"/>
              <a:ext cx="902" cy="233"/>
            </a:xfrm>
            <a:prstGeom prst="rect">
              <a:avLst/>
            </a:prstGeom>
            <a:solidFill>
              <a:srgbClr val="FFFF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I/O</a:t>
              </a:r>
              <a:endParaRPr b="0" i="0" sz="1400" u="none" cap="none" strike="noStrike">
                <a:solidFill>
                  <a:srgbClr val="000000"/>
                </a:solidFill>
                <a:latin typeface="Arial"/>
                <a:ea typeface="Arial"/>
                <a:cs typeface="Arial"/>
                <a:sym typeface="Arial"/>
              </a:endParaRPr>
            </a:p>
          </p:txBody>
        </p:sp>
      </p:grpSp>
      <p:grpSp>
        <p:nvGrpSpPr>
          <p:cNvPr id="118" name="Google Shape;118;p7"/>
          <p:cNvGrpSpPr/>
          <p:nvPr/>
        </p:nvGrpSpPr>
        <p:grpSpPr>
          <a:xfrm>
            <a:off x="3624263" y="2451100"/>
            <a:ext cx="2135187" cy="1822450"/>
            <a:chOff x="2341" y="2014"/>
            <a:chExt cx="1345" cy="1148"/>
          </a:xfrm>
        </p:grpSpPr>
        <p:sp>
          <p:nvSpPr>
            <p:cNvPr id="119" name="Google Shape;119;p7"/>
            <p:cNvSpPr/>
            <p:nvPr/>
          </p:nvSpPr>
          <p:spPr>
            <a:xfrm>
              <a:off x="2341" y="2014"/>
              <a:ext cx="1345" cy="1148"/>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20" name="Google Shape;120;p7"/>
            <p:cNvSpPr txBox="1"/>
            <p:nvPr/>
          </p:nvSpPr>
          <p:spPr>
            <a:xfrm>
              <a:off x="2563" y="2320"/>
              <a:ext cx="902" cy="4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SYSTEM BUS</a:t>
              </a:r>
              <a:endParaRPr b="0" i="0" sz="1400" u="none" cap="none" strike="noStrike">
                <a:solidFill>
                  <a:srgbClr val="000000"/>
                </a:solidFill>
                <a:latin typeface="Arial"/>
                <a:ea typeface="Arial"/>
                <a:cs typeface="Arial"/>
                <a:sym typeface="Arial"/>
              </a:endParaRPr>
            </a:p>
          </p:txBody>
        </p:sp>
      </p:grpSp>
      <p:sp>
        <p:nvSpPr>
          <p:cNvPr id="121" name="Google Shape;121;p7"/>
          <p:cNvSpPr txBox="1"/>
          <p:nvPr>
            <p:ph idx="11" type="ftr"/>
          </p:nvPr>
        </p:nvSpPr>
        <p:spPr>
          <a:xfrm>
            <a:off x="1828800" y="6355080"/>
            <a:ext cx="61722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pic>
        <p:nvPicPr>
          <p:cNvPr descr="BRAC University Jobs 2020- Jobs in BRAC University- careerz360.com" id="122" name="Google Shape;122;p7"/>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Central Processing Unit</a:t>
            </a:r>
            <a:endParaRPr/>
          </a:p>
        </p:txBody>
      </p:sp>
      <p:sp>
        <p:nvSpPr>
          <p:cNvPr id="128" name="Google Shape;128;p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solidFill>
                  <a:schemeClr val="dk1"/>
                </a:solidFill>
              </a:rPr>
              <a:t>‹#›</a:t>
            </a:fld>
            <a:endParaRPr>
              <a:solidFill>
                <a:schemeClr val="dk1"/>
              </a:solidFill>
            </a:endParaRPr>
          </a:p>
        </p:txBody>
      </p:sp>
      <p:sp>
        <p:nvSpPr>
          <p:cNvPr id="129" name="Google Shape;129;p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lnSpc>
                <a:spcPct val="100000"/>
              </a:lnSpc>
              <a:spcBef>
                <a:spcPts val="0"/>
              </a:spcBef>
              <a:spcAft>
                <a:spcPts val="0"/>
              </a:spcAft>
              <a:buSzPts val="1976"/>
              <a:buNone/>
            </a:pPr>
            <a:r>
              <a:t/>
            </a:r>
            <a:endParaRPr/>
          </a:p>
          <a:p>
            <a:pPr indent="-274320" lvl="0" marL="274320" rtl="0" algn="l">
              <a:lnSpc>
                <a:spcPct val="100000"/>
              </a:lnSpc>
              <a:spcBef>
                <a:spcPts val="600"/>
              </a:spcBef>
              <a:spcAft>
                <a:spcPts val="0"/>
              </a:spcAft>
              <a:buSzPts val="1976"/>
              <a:buFont typeface="Noto Sans Symbols"/>
              <a:buChar char="⮚"/>
            </a:pPr>
            <a:r>
              <a:rPr lang="en-US"/>
              <a:t>A </a:t>
            </a:r>
            <a:r>
              <a:rPr b="1" lang="en-US"/>
              <a:t>central processing unit</a:t>
            </a:r>
            <a:r>
              <a:rPr lang="en-US"/>
              <a:t> (</a:t>
            </a:r>
            <a:r>
              <a:rPr b="1" lang="en-US"/>
              <a:t>CPU</a:t>
            </a:r>
            <a:r>
              <a:rPr lang="en-US"/>
              <a:t>) is a description of a class of logic machines that can execute </a:t>
            </a:r>
            <a:r>
              <a:rPr b="1" lang="en-US" u="sng"/>
              <a:t>computer programs</a:t>
            </a:r>
            <a:r>
              <a:rPr lang="en-US"/>
              <a:t>. </a:t>
            </a:r>
            <a:endParaRPr/>
          </a:p>
          <a:p>
            <a:pPr indent="-148844" lvl="0" marL="274320" rtl="0" algn="l">
              <a:lnSpc>
                <a:spcPct val="100000"/>
              </a:lnSpc>
              <a:spcBef>
                <a:spcPts val="600"/>
              </a:spcBef>
              <a:spcAft>
                <a:spcPts val="0"/>
              </a:spcAft>
              <a:buSzPts val="1976"/>
              <a:buFont typeface="Noto Sans Symbols"/>
              <a:buNone/>
            </a:pPr>
            <a:r>
              <a:t/>
            </a:r>
            <a:endParaRPr/>
          </a:p>
          <a:p>
            <a:pPr indent="-274320" lvl="0" marL="274320" rtl="0" algn="l">
              <a:lnSpc>
                <a:spcPct val="100000"/>
              </a:lnSpc>
              <a:spcBef>
                <a:spcPts val="600"/>
              </a:spcBef>
              <a:spcAft>
                <a:spcPts val="0"/>
              </a:spcAft>
              <a:buSzPts val="1976"/>
              <a:buFont typeface="Noto Sans Symbols"/>
              <a:buChar char="⮚"/>
            </a:pPr>
            <a:r>
              <a:rPr lang="en-US"/>
              <a:t>The form, design and implementation of CPUs have changed dramatically since the earliest examples, but their fundamental operation has remained much the same.</a:t>
            </a:r>
            <a:endParaRPr/>
          </a:p>
          <a:p>
            <a:pPr indent="-148844" lvl="0" marL="274320" rtl="0" algn="l">
              <a:lnSpc>
                <a:spcPct val="100000"/>
              </a:lnSpc>
              <a:spcBef>
                <a:spcPts val="600"/>
              </a:spcBef>
              <a:spcAft>
                <a:spcPts val="0"/>
              </a:spcAft>
              <a:buSzPts val="1976"/>
              <a:buNone/>
            </a:pPr>
            <a:r>
              <a:t/>
            </a:r>
            <a:endParaRPr/>
          </a:p>
        </p:txBody>
      </p:sp>
      <p:sp>
        <p:nvSpPr>
          <p:cNvPr id="130" name="Google Shape;130;p8"/>
          <p:cNvSpPr txBox="1"/>
          <p:nvPr>
            <p:ph idx="11" type="ftr"/>
          </p:nvPr>
        </p:nvSpPr>
        <p:spPr>
          <a:xfrm>
            <a:off x="1828800" y="6355080"/>
            <a:ext cx="61722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pic>
        <p:nvPicPr>
          <p:cNvPr descr="BRAC University Jobs 2020- Jobs in BRAC University- careerz360.com" id="131" name="Google Shape;131;p8"/>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Central Processing Unit</a:t>
            </a:r>
            <a:endParaRPr>
              <a:solidFill>
                <a:schemeClr val="dk1"/>
              </a:solidFill>
            </a:endParaRPr>
          </a:p>
        </p:txBody>
      </p:sp>
      <p:sp>
        <p:nvSpPr>
          <p:cNvPr id="137" name="Google Shape;137;p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138" name="Google Shape;138;p9"/>
          <p:cNvSpPr/>
          <p:nvPr/>
        </p:nvSpPr>
        <p:spPr>
          <a:xfrm>
            <a:off x="1417638" y="1600200"/>
            <a:ext cx="6324600" cy="3878263"/>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39" name="Google Shape;139;p9"/>
          <p:cNvSpPr txBox="1"/>
          <p:nvPr/>
        </p:nvSpPr>
        <p:spPr>
          <a:xfrm>
            <a:off x="1751013" y="1828800"/>
            <a:ext cx="3043237" cy="83185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Control Unit &amp; Instruction Decoder</a:t>
            </a:r>
            <a:endParaRPr b="0" i="0" sz="1400" u="none" cap="none" strike="noStrike">
              <a:solidFill>
                <a:srgbClr val="000000"/>
              </a:solidFill>
              <a:latin typeface="Arial"/>
              <a:ea typeface="Arial"/>
              <a:cs typeface="Arial"/>
              <a:sym typeface="Arial"/>
            </a:endParaRPr>
          </a:p>
        </p:txBody>
      </p:sp>
      <p:sp>
        <p:nvSpPr>
          <p:cNvPr id="140" name="Google Shape;140;p9"/>
          <p:cNvSpPr txBox="1"/>
          <p:nvPr/>
        </p:nvSpPr>
        <p:spPr>
          <a:xfrm>
            <a:off x="2970212" y="3800475"/>
            <a:ext cx="3201988" cy="466725"/>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Arithmetic/Logic Unit</a:t>
            </a:r>
            <a:endParaRPr b="0" i="0" sz="1400" u="none" cap="none" strike="noStrike">
              <a:solidFill>
                <a:srgbClr val="000000"/>
              </a:solidFill>
              <a:latin typeface="Arial"/>
              <a:ea typeface="Arial"/>
              <a:cs typeface="Arial"/>
              <a:sym typeface="Arial"/>
            </a:endParaRPr>
          </a:p>
        </p:txBody>
      </p:sp>
      <p:sp>
        <p:nvSpPr>
          <p:cNvPr id="141" name="Google Shape;141;p9"/>
          <p:cNvSpPr txBox="1"/>
          <p:nvPr/>
        </p:nvSpPr>
        <p:spPr>
          <a:xfrm>
            <a:off x="4495800" y="4800600"/>
            <a:ext cx="3114675" cy="466725"/>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Registers</a:t>
            </a:r>
            <a:endParaRPr b="0" i="0" sz="1400" u="none" cap="none" strike="noStrike">
              <a:solidFill>
                <a:srgbClr val="000000"/>
              </a:solidFill>
              <a:latin typeface="Arial"/>
              <a:ea typeface="Arial"/>
              <a:cs typeface="Arial"/>
              <a:sym typeface="Arial"/>
            </a:endParaRPr>
          </a:p>
        </p:txBody>
      </p:sp>
      <p:sp>
        <p:nvSpPr>
          <p:cNvPr id="142" name="Google Shape;142;p9"/>
          <p:cNvSpPr/>
          <p:nvPr/>
        </p:nvSpPr>
        <p:spPr>
          <a:xfrm>
            <a:off x="0" y="2743200"/>
            <a:ext cx="4191000" cy="990600"/>
          </a:xfrm>
          <a:prstGeom prst="wedgeRectCallout">
            <a:avLst>
              <a:gd fmla="val 44239" name="adj1"/>
              <a:gd fmla="val -59744" name="adj2"/>
            </a:avLst>
          </a:prstGeom>
          <a:solidFill>
            <a:srgbClr val="CC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To decode instruction and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pass the necessary control signals to CU</a:t>
            </a:r>
            <a:endParaRPr b="0" i="0" sz="1400" u="none" cap="none" strike="noStrike">
              <a:solidFill>
                <a:srgbClr val="000000"/>
              </a:solidFill>
              <a:latin typeface="Arial"/>
              <a:ea typeface="Arial"/>
              <a:cs typeface="Arial"/>
              <a:sym typeface="Arial"/>
            </a:endParaRPr>
          </a:p>
        </p:txBody>
      </p:sp>
      <p:sp>
        <p:nvSpPr>
          <p:cNvPr id="143" name="Google Shape;143;p9"/>
          <p:cNvSpPr/>
          <p:nvPr/>
        </p:nvSpPr>
        <p:spPr>
          <a:xfrm>
            <a:off x="4875213" y="1190625"/>
            <a:ext cx="3582987" cy="1019175"/>
          </a:xfrm>
          <a:prstGeom prst="wedgeRectCallout">
            <a:avLst>
              <a:gd fmla="val -52358" name="adj1"/>
              <a:gd fmla="val 75819" name="adj2"/>
            </a:avLst>
          </a:prstGeom>
          <a:solidFill>
            <a:srgbClr val="CC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To synchronize and control the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overall operation of the CPU</a:t>
            </a:r>
            <a:endParaRPr b="1" i="0" sz="2000" u="none" cap="none" strike="noStrike">
              <a:solidFill>
                <a:schemeClr val="dk1"/>
              </a:solidFill>
              <a:latin typeface="Times New Roman"/>
              <a:ea typeface="Times New Roman"/>
              <a:cs typeface="Times New Roman"/>
              <a:sym typeface="Times New Roman"/>
            </a:endParaRPr>
          </a:p>
        </p:txBody>
      </p:sp>
      <p:sp>
        <p:nvSpPr>
          <p:cNvPr id="144" name="Google Shape;144;p9"/>
          <p:cNvSpPr/>
          <p:nvPr/>
        </p:nvSpPr>
        <p:spPr>
          <a:xfrm>
            <a:off x="4419600" y="2743200"/>
            <a:ext cx="4724400" cy="838200"/>
          </a:xfrm>
          <a:prstGeom prst="wedgeRectCallout">
            <a:avLst>
              <a:gd fmla="val -28242" name="adj1"/>
              <a:gd fmla="val 73398" name="adj2"/>
            </a:avLst>
          </a:prstGeom>
          <a:solidFill>
            <a:srgbClr val="CC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2" marL="914400" marR="0" rtl="0" algn="ctr">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imes New Roman"/>
                <a:ea typeface="Times New Roman"/>
                <a:cs typeface="Times New Roman"/>
                <a:sym typeface="Times New Roman"/>
              </a:rPr>
              <a:t>To perform the arithmetic and logical </a:t>
            </a:r>
            <a:endParaRPr b="0" i="0" sz="1400" u="none" cap="none" strike="noStrike">
              <a:solidFill>
                <a:srgbClr val="000000"/>
              </a:solidFill>
              <a:latin typeface="Arial"/>
              <a:ea typeface="Arial"/>
              <a:cs typeface="Arial"/>
              <a:sym typeface="Arial"/>
            </a:endParaRPr>
          </a:p>
          <a:p>
            <a:pPr indent="0" lvl="2" marL="914400" marR="0" rtl="0" algn="ctr">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imes New Roman"/>
                <a:ea typeface="Times New Roman"/>
                <a:cs typeface="Times New Roman"/>
                <a:sym typeface="Times New Roman"/>
              </a:rPr>
              <a:t>operations within the CPU </a:t>
            </a:r>
            <a:endParaRPr b="1" i="0" sz="2000" u="none" cap="none" strike="noStrike">
              <a:solidFill>
                <a:schemeClr val="dk1"/>
              </a:solidFill>
              <a:latin typeface="Times New Roman"/>
              <a:ea typeface="Times New Roman"/>
              <a:cs typeface="Times New Roman"/>
              <a:sym typeface="Times New Roman"/>
            </a:endParaRPr>
          </a:p>
        </p:txBody>
      </p:sp>
      <p:sp>
        <p:nvSpPr>
          <p:cNvPr id="145" name="Google Shape;145;p9"/>
          <p:cNvSpPr/>
          <p:nvPr/>
        </p:nvSpPr>
        <p:spPr>
          <a:xfrm>
            <a:off x="0" y="4572000"/>
            <a:ext cx="3541711" cy="885825"/>
          </a:xfrm>
          <a:prstGeom prst="wedgeRectCallout">
            <a:avLst>
              <a:gd fmla="val 57132" name="adj1"/>
              <a:gd fmla="val -83684" name="adj2"/>
            </a:avLst>
          </a:prstGeom>
          <a:solidFill>
            <a:srgbClr val="CC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To perform shift and rotate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operations that may either be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arithmetic or logical in nature</a:t>
            </a:r>
            <a:endParaRPr b="0" i="0" sz="1400" u="none" cap="none" strike="noStrike">
              <a:solidFill>
                <a:srgbClr val="000000"/>
              </a:solidFill>
              <a:latin typeface="Arial"/>
              <a:ea typeface="Arial"/>
              <a:cs typeface="Arial"/>
              <a:sym typeface="Arial"/>
            </a:endParaRPr>
          </a:p>
        </p:txBody>
      </p:sp>
      <p:sp>
        <p:nvSpPr>
          <p:cNvPr id="146" name="Google Shape;146;p9"/>
          <p:cNvSpPr/>
          <p:nvPr/>
        </p:nvSpPr>
        <p:spPr>
          <a:xfrm>
            <a:off x="4114800" y="5562600"/>
            <a:ext cx="3200399" cy="828675"/>
          </a:xfrm>
          <a:prstGeom prst="wedgeRectCallout">
            <a:avLst>
              <a:gd fmla="val -21612" name="adj1"/>
              <a:gd fmla="val -84039" name="adj2"/>
            </a:avLst>
          </a:prstGeom>
          <a:solidFill>
            <a:srgbClr val="CC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 Control and Status Registers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 User-Variable Registers</a:t>
            </a:r>
            <a:endParaRPr b="0" i="0" sz="1400" u="none" cap="none" strike="noStrike">
              <a:solidFill>
                <a:srgbClr val="000000"/>
              </a:solidFill>
              <a:latin typeface="Arial"/>
              <a:ea typeface="Arial"/>
              <a:cs typeface="Arial"/>
              <a:sym typeface="Arial"/>
            </a:endParaRPr>
          </a:p>
        </p:txBody>
      </p:sp>
      <p:sp>
        <p:nvSpPr>
          <p:cNvPr id="147" name="Google Shape;147;p9"/>
          <p:cNvSpPr/>
          <p:nvPr/>
        </p:nvSpPr>
        <p:spPr>
          <a:xfrm>
            <a:off x="6293837" y="3886200"/>
            <a:ext cx="2850163" cy="621506"/>
          </a:xfrm>
          <a:prstGeom prst="wedgeRectCallout">
            <a:avLst>
              <a:gd fmla="val -23022" name="adj1"/>
              <a:gd fmla="val 98382" name="adj2"/>
            </a:avLst>
          </a:prstGeom>
          <a:solidFill>
            <a:srgbClr val="CC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A set of internal storage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locations within the CPU</a:t>
            </a:r>
            <a:endParaRPr b="0" i="0" sz="1400" u="none" cap="none" strike="noStrike">
              <a:solidFill>
                <a:srgbClr val="000000"/>
              </a:solidFill>
              <a:latin typeface="Arial"/>
              <a:ea typeface="Arial"/>
              <a:cs typeface="Arial"/>
              <a:sym typeface="Arial"/>
            </a:endParaRPr>
          </a:p>
        </p:txBody>
      </p:sp>
      <p:sp>
        <p:nvSpPr>
          <p:cNvPr id="148" name="Google Shape;148;p9"/>
          <p:cNvSpPr txBox="1"/>
          <p:nvPr>
            <p:ph idx="11" type="ftr"/>
          </p:nvPr>
        </p:nvSpPr>
        <p:spPr>
          <a:xfrm>
            <a:off x="1828800" y="6355080"/>
            <a:ext cx="61722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pic>
        <p:nvPicPr>
          <p:cNvPr descr="BRAC University Jobs 2020- Jobs in BRAC University- careerz360.com" id="149" name="Google Shape;149;p9"/>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So .. What is Microprocessor?</a:t>
            </a:r>
            <a:endParaRPr/>
          </a:p>
        </p:txBody>
      </p:sp>
      <p:sp>
        <p:nvSpPr>
          <p:cNvPr id="155" name="Google Shape;155;p1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solidFill>
                  <a:schemeClr val="dk1"/>
                </a:solidFill>
              </a:rPr>
              <a:t>‹#›</a:t>
            </a:fld>
            <a:endParaRPr>
              <a:solidFill>
                <a:schemeClr val="dk1"/>
              </a:solidFill>
            </a:endParaRPr>
          </a:p>
        </p:txBody>
      </p:sp>
      <p:sp>
        <p:nvSpPr>
          <p:cNvPr id="156" name="Google Shape;156;p1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40000" lnSpcReduction="10000"/>
          </a:bodyPr>
          <a:lstStyle/>
          <a:p>
            <a:pPr indent="0" lvl="0" marL="0" rtl="0" algn="just">
              <a:lnSpc>
                <a:spcPct val="100000"/>
              </a:lnSpc>
              <a:spcBef>
                <a:spcPts val="0"/>
              </a:spcBef>
              <a:spcAft>
                <a:spcPts val="0"/>
              </a:spcAft>
              <a:buSzPct val="67722"/>
              <a:buNone/>
            </a:pPr>
            <a:r>
              <a:rPr lang="en-US" sz="5050"/>
              <a:t>A microprocessor (abbreviated as µP) is a Silicon Chip that contains an electronic central processing unit (CPU). In the world the word µP or CPU is now used interchangeably. It is made from miniaturized transistors and other circuit elements on a single semiconductor integrated circuit (IC).</a:t>
            </a:r>
            <a:endParaRPr sz="5050"/>
          </a:p>
          <a:p>
            <a:pPr indent="0" lvl="0" marL="0" rtl="0" algn="l">
              <a:lnSpc>
                <a:spcPct val="100000"/>
              </a:lnSpc>
              <a:spcBef>
                <a:spcPts val="600"/>
              </a:spcBef>
              <a:spcAft>
                <a:spcPts val="0"/>
              </a:spcAft>
              <a:buSzPct val="67722"/>
              <a:buNone/>
            </a:pPr>
            <a:r>
              <a:rPr lang="en-US" sz="5050"/>
              <a:t>The integration of the whole CPU onto a single </a:t>
            </a:r>
            <a:r>
              <a:rPr b="1" lang="en-US" sz="5050"/>
              <a:t>VLSI Chip</a:t>
            </a:r>
            <a:r>
              <a:rPr lang="en-US" sz="5050"/>
              <a:t> therefore greatly reduced the cost of processing capacity.</a:t>
            </a:r>
            <a:endParaRPr sz="5050"/>
          </a:p>
          <a:p>
            <a:pPr indent="0" lvl="0" marL="0" rtl="0" algn="l">
              <a:lnSpc>
                <a:spcPct val="100000"/>
              </a:lnSpc>
              <a:spcBef>
                <a:spcPts val="600"/>
              </a:spcBef>
              <a:spcAft>
                <a:spcPts val="0"/>
              </a:spcAft>
              <a:buSzPct val="131538"/>
              <a:buNone/>
            </a:pPr>
            <a:r>
              <a:t/>
            </a:r>
            <a:endParaRPr b="1"/>
          </a:p>
          <a:p>
            <a:pPr indent="0" lvl="0" marL="0" rtl="0" algn="l">
              <a:lnSpc>
                <a:spcPct val="100000"/>
              </a:lnSpc>
              <a:spcBef>
                <a:spcPts val="600"/>
              </a:spcBef>
              <a:spcAft>
                <a:spcPts val="0"/>
              </a:spcAft>
              <a:buSzPct val="68400"/>
              <a:buNone/>
            </a:pPr>
            <a:r>
              <a:rPr b="1" lang="en-US" sz="5000"/>
              <a:t>Architectures of Microprocessors:</a:t>
            </a:r>
            <a:endParaRPr b="1" sz="5000"/>
          </a:p>
          <a:p>
            <a:pPr indent="-193001" lvl="0" marL="274320" rtl="0" algn="l">
              <a:lnSpc>
                <a:spcPct val="100000"/>
              </a:lnSpc>
              <a:spcBef>
                <a:spcPts val="600"/>
              </a:spcBef>
              <a:spcAft>
                <a:spcPts val="0"/>
              </a:spcAft>
              <a:buSzPct val="52615"/>
              <a:buChar char="❏"/>
            </a:pPr>
            <a:r>
              <a:t/>
            </a:r>
            <a:endParaRPr b="1"/>
          </a:p>
          <a:p>
            <a:pPr indent="-356870" lvl="0" marL="457200" rtl="0" algn="l">
              <a:lnSpc>
                <a:spcPct val="90000"/>
              </a:lnSpc>
              <a:spcBef>
                <a:spcPts val="0"/>
              </a:spcBef>
              <a:spcAft>
                <a:spcPts val="0"/>
              </a:spcAft>
              <a:buSzPct val="100000"/>
              <a:buChar char="❖"/>
            </a:pPr>
            <a:r>
              <a:rPr lang="en-US" sz="5050"/>
              <a:t>RISC (Reduced Instruction Set Computer)</a:t>
            </a:r>
            <a:endParaRPr sz="5050"/>
          </a:p>
          <a:p>
            <a:pPr indent="-356870" lvl="0" marL="457200" rtl="0" algn="l">
              <a:lnSpc>
                <a:spcPct val="90000"/>
              </a:lnSpc>
              <a:spcBef>
                <a:spcPts val="0"/>
              </a:spcBef>
              <a:spcAft>
                <a:spcPts val="0"/>
              </a:spcAft>
              <a:buSzPct val="100000"/>
              <a:buChar char="❖"/>
            </a:pPr>
            <a:r>
              <a:rPr lang="en-US" sz="5050"/>
              <a:t>CISC (Complex Instruction Set Computer)</a:t>
            </a:r>
            <a:endParaRPr sz="5050"/>
          </a:p>
          <a:p>
            <a:pPr indent="-356870" lvl="0" marL="457200" rtl="0" algn="l">
              <a:lnSpc>
                <a:spcPct val="90000"/>
              </a:lnSpc>
              <a:spcBef>
                <a:spcPts val="0"/>
              </a:spcBef>
              <a:spcAft>
                <a:spcPts val="0"/>
              </a:spcAft>
              <a:buSzPct val="100000"/>
              <a:buChar char="❖"/>
            </a:pPr>
            <a:r>
              <a:rPr lang="en-US" sz="5050"/>
              <a:t>Special-purpose designs: Microcontrollers,  Digital Signal Processors (DSP) and Graphics Processing Units (GPU).</a:t>
            </a:r>
            <a:endParaRPr sz="5050"/>
          </a:p>
          <a:p>
            <a:pPr indent="-167182" lvl="1" marL="548640" rtl="0" algn="l">
              <a:lnSpc>
                <a:spcPct val="100000"/>
              </a:lnSpc>
              <a:spcBef>
                <a:spcPts val="500"/>
              </a:spcBef>
              <a:spcAft>
                <a:spcPts val="0"/>
              </a:spcAft>
              <a:buSzPct val="36118"/>
              <a:buNone/>
            </a:pPr>
            <a:r>
              <a:t/>
            </a:r>
            <a:endParaRPr sz="5050"/>
          </a:p>
          <a:p>
            <a:pPr indent="-167182" lvl="1" marL="548640" rtl="0" algn="l">
              <a:lnSpc>
                <a:spcPct val="100000"/>
              </a:lnSpc>
              <a:spcBef>
                <a:spcPts val="500"/>
              </a:spcBef>
              <a:spcAft>
                <a:spcPts val="0"/>
              </a:spcAft>
              <a:buSzPct val="79304"/>
              <a:buNone/>
            </a:pPr>
            <a:r>
              <a:t/>
            </a:r>
            <a:endParaRPr/>
          </a:p>
          <a:p>
            <a:pPr indent="-167182" lvl="1" marL="548640" rtl="0" algn="l">
              <a:lnSpc>
                <a:spcPct val="100000"/>
              </a:lnSpc>
              <a:spcBef>
                <a:spcPts val="500"/>
              </a:spcBef>
              <a:spcAft>
                <a:spcPts val="0"/>
              </a:spcAft>
              <a:buSzPct val="79304"/>
              <a:buNone/>
            </a:pPr>
            <a:r>
              <a:t/>
            </a:r>
            <a:endParaRPr/>
          </a:p>
          <a:p>
            <a:pPr indent="-167182" lvl="1" marL="548640" rtl="0" algn="l">
              <a:lnSpc>
                <a:spcPct val="100000"/>
              </a:lnSpc>
              <a:spcBef>
                <a:spcPts val="500"/>
              </a:spcBef>
              <a:spcAft>
                <a:spcPts val="0"/>
              </a:spcAft>
              <a:buSzPct val="79304"/>
              <a:buNone/>
            </a:pPr>
            <a:r>
              <a:t/>
            </a:r>
            <a:endParaRPr/>
          </a:p>
        </p:txBody>
      </p:sp>
      <p:sp>
        <p:nvSpPr>
          <p:cNvPr id="157" name="Google Shape;157;p10"/>
          <p:cNvSpPr txBox="1"/>
          <p:nvPr>
            <p:ph idx="11" type="ftr"/>
          </p:nvPr>
        </p:nvSpPr>
        <p:spPr>
          <a:xfrm>
            <a:off x="1828800" y="6355080"/>
            <a:ext cx="61722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pic>
        <p:nvPicPr>
          <p:cNvPr descr="BRAC University Jobs 2020- Jobs in BRAC University- careerz360.com" id="158" name="Google Shape;158;p10"/>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Concept about Microprocessor</a:t>
            </a:r>
            <a:endParaRPr/>
          </a:p>
        </p:txBody>
      </p:sp>
      <p:sp>
        <p:nvSpPr>
          <p:cNvPr id="164" name="Google Shape;164;p1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solidFill>
                  <a:schemeClr val="dk1"/>
                </a:solidFill>
              </a:rPr>
              <a:t>‹#›</a:t>
            </a:fld>
            <a:endParaRPr>
              <a:solidFill>
                <a:schemeClr val="dk1"/>
              </a:solidFill>
            </a:endParaRPr>
          </a:p>
        </p:txBody>
      </p:sp>
      <p:sp>
        <p:nvSpPr>
          <p:cNvPr id="165" name="Google Shape;165;p1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lang="en-US"/>
              <a:t>A </a:t>
            </a:r>
            <a:r>
              <a:rPr b="1" lang="en-US"/>
              <a:t>microprocessor</a:t>
            </a:r>
            <a:r>
              <a:rPr lang="en-US"/>
              <a:t> incorporates most or all of the functions of a </a:t>
            </a:r>
            <a:r>
              <a:rPr lang="en-US" u="sng"/>
              <a:t>central processing unit (CPU)</a:t>
            </a:r>
            <a:r>
              <a:rPr lang="en-US"/>
              <a:t> on a single </a:t>
            </a:r>
            <a:r>
              <a:rPr b="1" lang="en-US"/>
              <a:t>integrated circuit </a:t>
            </a:r>
            <a:r>
              <a:rPr lang="en-US"/>
              <a:t>(IC).</a:t>
            </a:r>
            <a:endParaRPr/>
          </a:p>
        </p:txBody>
      </p:sp>
      <p:grpSp>
        <p:nvGrpSpPr>
          <p:cNvPr id="166" name="Google Shape;166;p11"/>
          <p:cNvGrpSpPr/>
          <p:nvPr/>
        </p:nvGrpSpPr>
        <p:grpSpPr>
          <a:xfrm>
            <a:off x="228600" y="2971800"/>
            <a:ext cx="4406900" cy="2514600"/>
            <a:chOff x="728" y="987"/>
            <a:chExt cx="4177" cy="2200"/>
          </a:xfrm>
        </p:grpSpPr>
        <p:grpSp>
          <p:nvGrpSpPr>
            <p:cNvPr id="167" name="Google Shape;167;p11"/>
            <p:cNvGrpSpPr/>
            <p:nvPr/>
          </p:nvGrpSpPr>
          <p:grpSpPr>
            <a:xfrm>
              <a:off x="728" y="987"/>
              <a:ext cx="4168" cy="2200"/>
              <a:chOff x="728" y="987"/>
              <a:chExt cx="4168" cy="2200"/>
            </a:xfrm>
          </p:grpSpPr>
          <p:pic>
            <p:nvPicPr>
              <p:cNvPr descr="D:\Ecp2042\homepage\images\IC.jpg" id="168" name="Google Shape;168;p11"/>
              <p:cNvPicPr preferRelativeResize="0"/>
              <p:nvPr/>
            </p:nvPicPr>
            <p:blipFill rotWithShape="1">
              <a:blip r:embed="rId3">
                <a:alphaModFix/>
              </a:blip>
              <a:srcRect b="0" l="0" r="0" t="0"/>
              <a:stretch/>
            </p:blipFill>
            <p:spPr>
              <a:xfrm>
                <a:off x="4214" y="2679"/>
                <a:ext cx="682" cy="508"/>
              </a:xfrm>
              <a:prstGeom prst="rect">
                <a:avLst/>
              </a:prstGeom>
              <a:noFill/>
              <a:ln>
                <a:noFill/>
              </a:ln>
            </p:spPr>
          </p:pic>
          <p:grpSp>
            <p:nvGrpSpPr>
              <p:cNvPr id="169" name="Google Shape;169;p11"/>
              <p:cNvGrpSpPr/>
              <p:nvPr/>
            </p:nvGrpSpPr>
            <p:grpSpPr>
              <a:xfrm>
                <a:off x="728" y="987"/>
                <a:ext cx="1778" cy="1535"/>
                <a:chOff x="2368" y="2508"/>
                <a:chExt cx="1345" cy="1148"/>
              </a:xfrm>
            </p:grpSpPr>
            <p:sp>
              <p:nvSpPr>
                <p:cNvPr id="170" name="Google Shape;170;p11"/>
                <p:cNvSpPr/>
                <p:nvPr/>
              </p:nvSpPr>
              <p:spPr>
                <a:xfrm>
                  <a:off x="2368" y="2508"/>
                  <a:ext cx="1345" cy="1148"/>
                </a:xfrm>
                <a:prstGeom prst="ellipse">
                  <a:avLst/>
                </a:prstGeom>
                <a:solidFill>
                  <a:srgbClr val="FF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71" name="Google Shape;171;p11"/>
                <p:cNvSpPr txBox="1"/>
                <p:nvPr/>
              </p:nvSpPr>
              <p:spPr>
                <a:xfrm>
                  <a:off x="2578" y="2942"/>
                  <a:ext cx="902" cy="423"/>
                </a:xfrm>
                <a:prstGeom prst="rect">
                  <a:avLst/>
                </a:prstGeom>
                <a:solidFill>
                  <a:srgbClr val="FFFF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Times New Roman"/>
                      <a:ea typeface="Times New Roman"/>
                      <a:cs typeface="Times New Roman"/>
                      <a:sym typeface="Times New Roman"/>
                    </a:rPr>
                    <a:t>CPU</a:t>
                  </a:r>
                  <a:endParaRPr b="0" i="0" sz="1400" u="none" cap="none" strike="noStrike">
                    <a:solidFill>
                      <a:srgbClr val="000000"/>
                    </a:solidFill>
                    <a:latin typeface="Arial"/>
                    <a:ea typeface="Arial"/>
                    <a:cs typeface="Arial"/>
                    <a:sym typeface="Arial"/>
                  </a:endParaRPr>
                </a:p>
              </p:txBody>
            </p:sp>
          </p:grpSp>
        </p:grpSp>
        <p:grpSp>
          <p:nvGrpSpPr>
            <p:cNvPr id="172" name="Google Shape;172;p11"/>
            <p:cNvGrpSpPr/>
            <p:nvPr/>
          </p:nvGrpSpPr>
          <p:grpSpPr>
            <a:xfrm>
              <a:off x="1499" y="1088"/>
              <a:ext cx="3406" cy="2074"/>
              <a:chOff x="1499" y="1088"/>
              <a:chExt cx="3406" cy="2074"/>
            </a:xfrm>
          </p:grpSpPr>
          <p:cxnSp>
            <p:nvCxnSpPr>
              <p:cNvPr id="173" name="Google Shape;173;p11"/>
              <p:cNvCxnSpPr/>
              <p:nvPr/>
            </p:nvCxnSpPr>
            <p:spPr>
              <a:xfrm>
                <a:off x="2095" y="1088"/>
                <a:ext cx="2810" cy="1617"/>
              </a:xfrm>
              <a:prstGeom prst="straightConnector1">
                <a:avLst/>
              </a:prstGeom>
              <a:noFill/>
              <a:ln cap="flat" cmpd="sng" w="9525">
                <a:solidFill>
                  <a:schemeClr val="dk1"/>
                </a:solidFill>
                <a:prstDash val="solid"/>
                <a:round/>
                <a:headEnd len="sm" w="sm" type="none"/>
                <a:tailEnd len="sm" w="sm" type="none"/>
              </a:ln>
            </p:spPr>
          </p:cxnSp>
          <p:cxnSp>
            <p:nvCxnSpPr>
              <p:cNvPr id="174" name="Google Shape;174;p11"/>
              <p:cNvCxnSpPr/>
              <p:nvPr/>
            </p:nvCxnSpPr>
            <p:spPr>
              <a:xfrm>
                <a:off x="1499" y="2517"/>
                <a:ext cx="2716" cy="645"/>
              </a:xfrm>
              <a:prstGeom prst="straightConnector1">
                <a:avLst/>
              </a:prstGeom>
              <a:noFill/>
              <a:ln cap="flat" cmpd="sng" w="9525">
                <a:solidFill>
                  <a:schemeClr val="dk1"/>
                </a:solidFill>
                <a:prstDash val="solid"/>
                <a:round/>
                <a:headEnd len="sm" w="sm" type="none"/>
                <a:tailEnd len="sm" w="sm" type="none"/>
              </a:ln>
            </p:spPr>
          </p:cxnSp>
        </p:grpSp>
      </p:grpSp>
      <p:sp>
        <p:nvSpPr>
          <p:cNvPr id="175" name="Google Shape;175;p11"/>
          <p:cNvSpPr/>
          <p:nvPr/>
        </p:nvSpPr>
        <p:spPr>
          <a:xfrm>
            <a:off x="4038600" y="2209800"/>
            <a:ext cx="5105400" cy="11079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Gill Sans"/>
                <a:ea typeface="Gill Sans"/>
                <a:cs typeface="Gill Sans"/>
                <a:sym typeface="Gill Sans"/>
              </a:rPr>
              <a:t>Die of an Intel </a:t>
            </a:r>
            <a:r>
              <a:rPr b="1" i="0" lang="en-US" sz="2200" u="sng" cap="none" strike="noStrike">
                <a:solidFill>
                  <a:schemeClr val="dk1"/>
                </a:solidFill>
                <a:latin typeface="Gill Sans"/>
                <a:ea typeface="Gill Sans"/>
                <a:cs typeface="Gill Sans"/>
                <a:sym typeface="Gill Sans"/>
              </a:rPr>
              <a:t>80486DX2</a:t>
            </a:r>
            <a:r>
              <a:rPr b="0" i="0" lang="en-US" sz="2200" u="none" cap="none" strike="noStrike">
                <a:solidFill>
                  <a:schemeClr val="dk1"/>
                </a:solidFill>
                <a:latin typeface="Gill Sans"/>
                <a:ea typeface="Gill Sans"/>
                <a:cs typeface="Gill Sans"/>
                <a:sym typeface="Gill Sans"/>
              </a:rPr>
              <a:t> microprocessor (actual size: 12×6.75 mm) in its packaging</a:t>
            </a:r>
            <a:endParaRPr b="0" i="0" sz="1400" u="none" cap="none" strike="noStrike">
              <a:solidFill>
                <a:srgbClr val="000000"/>
              </a:solidFill>
              <a:latin typeface="Arial"/>
              <a:ea typeface="Arial"/>
              <a:cs typeface="Arial"/>
              <a:sym typeface="Arial"/>
            </a:endParaRPr>
          </a:p>
        </p:txBody>
      </p:sp>
      <p:pic>
        <p:nvPicPr>
          <p:cNvPr descr="http://upload.wikimedia.org/wikipedia/commons/0/02/80486dx2-large.jpg" id="176" name="Google Shape;176;p11"/>
          <p:cNvPicPr preferRelativeResize="0"/>
          <p:nvPr/>
        </p:nvPicPr>
        <p:blipFill rotWithShape="1">
          <a:blip r:embed="rId4">
            <a:alphaModFix/>
          </a:blip>
          <a:srcRect b="0" l="0" r="0" t="0"/>
          <a:stretch/>
        </p:blipFill>
        <p:spPr>
          <a:xfrm>
            <a:off x="5334000" y="3352800"/>
            <a:ext cx="2971800" cy="2220455"/>
          </a:xfrm>
          <a:prstGeom prst="rect">
            <a:avLst/>
          </a:prstGeom>
          <a:noFill/>
          <a:ln>
            <a:noFill/>
          </a:ln>
        </p:spPr>
      </p:pic>
      <p:sp>
        <p:nvSpPr>
          <p:cNvPr id="177" name="Google Shape;177;p11"/>
          <p:cNvSpPr txBox="1"/>
          <p:nvPr>
            <p:ph idx="11" type="ftr"/>
          </p:nvPr>
        </p:nvSpPr>
        <p:spPr>
          <a:xfrm>
            <a:off x="1828800" y="6355080"/>
            <a:ext cx="61722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pic>
        <p:nvPicPr>
          <p:cNvPr descr="BRAC University Jobs 2020- Jobs in BRAC University- careerz360.com" id="178" name="Google Shape;178;p11"/>
          <p:cNvPicPr preferRelativeResize="0"/>
          <p:nvPr/>
        </p:nvPicPr>
        <p:blipFill rotWithShape="1">
          <a:blip r:embed="rId5">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List of Microprocessors</a:t>
            </a:r>
            <a:endParaRPr/>
          </a:p>
        </p:txBody>
      </p:sp>
      <p:sp>
        <p:nvSpPr>
          <p:cNvPr id="184" name="Google Shape;184;p1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solidFill>
                  <a:schemeClr val="dk1"/>
                </a:solidFill>
              </a:rPr>
              <a:t>‹#›</a:t>
            </a:fld>
            <a:endParaRPr>
              <a:solidFill>
                <a:schemeClr val="dk1"/>
              </a:solidFill>
            </a:endParaRPr>
          </a:p>
        </p:txBody>
      </p:sp>
      <p:sp>
        <p:nvSpPr>
          <p:cNvPr id="185" name="Google Shape;185;p12"/>
          <p:cNvSpPr txBox="1"/>
          <p:nvPr/>
        </p:nvSpPr>
        <p:spPr>
          <a:xfrm>
            <a:off x="782638" y="1440090"/>
            <a:ext cx="752792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Gill Sans"/>
                <a:ea typeface="Gill Sans"/>
                <a:cs typeface="Gill Sans"/>
                <a:sym typeface="Gill Sans"/>
              </a:rPr>
              <a:t>1971</a:t>
            </a:r>
            <a:r>
              <a:rPr b="0" i="0" lang="en-US" sz="2000" u="none" cap="none" strike="noStrike">
                <a:solidFill>
                  <a:schemeClr val="dk1"/>
                </a:solidFill>
                <a:latin typeface="Gill Sans"/>
                <a:ea typeface="Gill Sans"/>
                <a:cs typeface="Gill Sans"/>
                <a:sym typeface="Gill Sans"/>
              </a:rPr>
              <a:t> - Intel 4004, 1st single chip CPU, 4-bit processor, 46 instructions</a:t>
            </a:r>
            <a:endParaRPr b="0" i="0" sz="1400" u="none" cap="none" strike="noStrike">
              <a:solidFill>
                <a:srgbClr val="000000"/>
              </a:solidFill>
              <a:latin typeface="Arial"/>
              <a:ea typeface="Arial"/>
              <a:cs typeface="Arial"/>
              <a:sym typeface="Arial"/>
            </a:endParaRPr>
          </a:p>
        </p:txBody>
      </p:sp>
      <p:sp>
        <p:nvSpPr>
          <p:cNvPr id="186" name="Google Shape;186;p12"/>
          <p:cNvSpPr txBox="1"/>
          <p:nvPr/>
        </p:nvSpPr>
        <p:spPr>
          <a:xfrm>
            <a:off x="782638" y="1751013"/>
            <a:ext cx="752792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Gill Sans"/>
                <a:ea typeface="Gill Sans"/>
                <a:cs typeface="Gill Sans"/>
                <a:sym typeface="Gill Sans"/>
              </a:rPr>
              <a:t>1972</a:t>
            </a:r>
            <a:r>
              <a:rPr b="0" i="0" lang="en-US" sz="2000" u="none" cap="none" strike="noStrike">
                <a:solidFill>
                  <a:schemeClr val="dk1"/>
                </a:solidFill>
                <a:latin typeface="Gill Sans"/>
                <a:ea typeface="Gill Sans"/>
                <a:cs typeface="Gill Sans"/>
                <a:sym typeface="Gill Sans"/>
              </a:rPr>
              <a:t> - Intel 4040, enhanced 4004, 60 instructions</a:t>
            </a:r>
            <a:endParaRPr b="0" i="0" sz="1400" u="none" cap="none" strike="noStrike">
              <a:solidFill>
                <a:srgbClr val="000000"/>
              </a:solidFill>
              <a:latin typeface="Arial"/>
              <a:ea typeface="Arial"/>
              <a:cs typeface="Arial"/>
              <a:sym typeface="Arial"/>
            </a:endParaRPr>
          </a:p>
        </p:txBody>
      </p:sp>
      <p:sp>
        <p:nvSpPr>
          <p:cNvPr id="187" name="Google Shape;187;p12"/>
          <p:cNvSpPr/>
          <p:nvPr/>
        </p:nvSpPr>
        <p:spPr>
          <a:xfrm>
            <a:off x="790575" y="2139950"/>
            <a:ext cx="292099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Gill Sans"/>
                <a:ea typeface="Gill Sans"/>
                <a:cs typeface="Gill Sans"/>
                <a:sym typeface="Gill Sans"/>
              </a:rPr>
              <a:t>1972</a:t>
            </a:r>
            <a:r>
              <a:rPr b="0" i="0" lang="en-US" sz="2000" u="none" cap="none" strike="noStrike">
                <a:solidFill>
                  <a:schemeClr val="dk1"/>
                </a:solidFill>
                <a:latin typeface="Gill Sans"/>
                <a:ea typeface="Gill Sans"/>
                <a:cs typeface="Gill Sans"/>
                <a:sym typeface="Gill Sans"/>
              </a:rPr>
              <a:t> - Intel 8008, 8-bit μP</a:t>
            </a:r>
            <a:endParaRPr b="0" i="0" sz="1400" u="none" cap="none" strike="noStrike">
              <a:solidFill>
                <a:srgbClr val="000000"/>
              </a:solidFill>
              <a:latin typeface="Arial"/>
              <a:ea typeface="Arial"/>
              <a:cs typeface="Arial"/>
              <a:sym typeface="Arial"/>
            </a:endParaRPr>
          </a:p>
        </p:txBody>
      </p:sp>
      <p:sp>
        <p:nvSpPr>
          <p:cNvPr id="188" name="Google Shape;188;p12"/>
          <p:cNvSpPr/>
          <p:nvPr/>
        </p:nvSpPr>
        <p:spPr>
          <a:xfrm>
            <a:off x="787400" y="2555875"/>
            <a:ext cx="593156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Gill Sans"/>
                <a:ea typeface="Gill Sans"/>
                <a:cs typeface="Gill Sans"/>
                <a:sym typeface="Gill Sans"/>
              </a:rPr>
              <a:t>1972</a:t>
            </a:r>
            <a:r>
              <a:rPr b="0" i="0" lang="en-US" sz="2000" u="none" cap="none" strike="noStrike">
                <a:solidFill>
                  <a:schemeClr val="dk1"/>
                </a:solidFill>
                <a:latin typeface="Gill Sans"/>
                <a:ea typeface="Gill Sans"/>
                <a:cs typeface="Gill Sans"/>
                <a:sym typeface="Gill Sans"/>
              </a:rPr>
              <a:t> - Texas Instrument TMS 1000, 1st single μC, 4-bit</a:t>
            </a:r>
            <a:endParaRPr b="0" i="0" sz="1400" u="none" cap="none" strike="noStrike">
              <a:solidFill>
                <a:srgbClr val="000000"/>
              </a:solidFill>
              <a:latin typeface="Arial"/>
              <a:ea typeface="Arial"/>
              <a:cs typeface="Arial"/>
              <a:sym typeface="Arial"/>
            </a:endParaRPr>
          </a:p>
        </p:txBody>
      </p:sp>
      <p:sp>
        <p:nvSpPr>
          <p:cNvPr id="189" name="Google Shape;189;p12"/>
          <p:cNvSpPr/>
          <p:nvPr/>
        </p:nvSpPr>
        <p:spPr>
          <a:xfrm>
            <a:off x="788988" y="2957513"/>
            <a:ext cx="646362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Gill Sans"/>
                <a:ea typeface="Gill Sans"/>
                <a:cs typeface="Gill Sans"/>
                <a:sym typeface="Gill Sans"/>
              </a:rPr>
              <a:t>1974</a:t>
            </a:r>
            <a:r>
              <a:rPr b="0" i="0" lang="en-US" sz="2000" u="none" cap="none" strike="noStrike">
                <a:solidFill>
                  <a:schemeClr val="dk1"/>
                </a:solidFill>
                <a:latin typeface="Gill Sans"/>
                <a:ea typeface="Gill Sans"/>
                <a:cs typeface="Gill Sans"/>
                <a:sym typeface="Gill Sans"/>
              </a:rPr>
              <a:t> - Intel 8080, successor to the 8008, used in Altair 8800</a:t>
            </a:r>
            <a:endParaRPr b="0" i="0" sz="1400" u="none" cap="none" strike="noStrike">
              <a:solidFill>
                <a:srgbClr val="000000"/>
              </a:solidFill>
              <a:latin typeface="Arial"/>
              <a:ea typeface="Arial"/>
              <a:cs typeface="Arial"/>
              <a:sym typeface="Arial"/>
            </a:endParaRPr>
          </a:p>
        </p:txBody>
      </p:sp>
      <p:sp>
        <p:nvSpPr>
          <p:cNvPr id="190" name="Google Shape;190;p12"/>
          <p:cNvSpPr/>
          <p:nvPr/>
        </p:nvSpPr>
        <p:spPr>
          <a:xfrm>
            <a:off x="784225" y="3368675"/>
            <a:ext cx="492025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Gill Sans"/>
                <a:ea typeface="Gill Sans"/>
                <a:cs typeface="Gill Sans"/>
                <a:sym typeface="Gill Sans"/>
              </a:rPr>
              <a:t>1975 </a:t>
            </a:r>
            <a:r>
              <a:rPr b="0" i="0" lang="en-US" sz="2000" u="none" cap="none" strike="noStrike">
                <a:solidFill>
                  <a:schemeClr val="dk1"/>
                </a:solidFill>
                <a:latin typeface="Gill Sans"/>
                <a:ea typeface="Gill Sans"/>
                <a:cs typeface="Gill Sans"/>
                <a:sym typeface="Gill Sans"/>
              </a:rPr>
              <a:t>- Motorola 6800, used MOS technology</a:t>
            </a:r>
            <a:endParaRPr b="0" i="0" sz="1400" u="none" cap="none" strike="noStrike">
              <a:solidFill>
                <a:srgbClr val="000000"/>
              </a:solidFill>
              <a:latin typeface="Arial"/>
              <a:ea typeface="Arial"/>
              <a:cs typeface="Arial"/>
              <a:sym typeface="Arial"/>
            </a:endParaRPr>
          </a:p>
        </p:txBody>
      </p:sp>
      <p:sp>
        <p:nvSpPr>
          <p:cNvPr id="191" name="Google Shape;191;p12"/>
          <p:cNvSpPr/>
          <p:nvPr/>
        </p:nvSpPr>
        <p:spPr>
          <a:xfrm>
            <a:off x="790575" y="3770313"/>
            <a:ext cx="550682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Gill Sans"/>
                <a:ea typeface="Gill Sans"/>
                <a:cs typeface="Gill Sans"/>
                <a:sym typeface="Gill Sans"/>
              </a:rPr>
              <a:t>1976</a:t>
            </a:r>
            <a:r>
              <a:rPr b="0" i="0" lang="en-US" sz="2000" u="none" cap="none" strike="noStrike">
                <a:solidFill>
                  <a:schemeClr val="dk1"/>
                </a:solidFill>
                <a:latin typeface="Gill Sans"/>
                <a:ea typeface="Gill Sans"/>
                <a:cs typeface="Gill Sans"/>
                <a:sym typeface="Gill Sans"/>
              </a:rPr>
              <a:t> - Intel 8085, updated 8080, +5V power supply</a:t>
            </a:r>
            <a:endParaRPr b="0" i="0" sz="1400" u="none" cap="none" strike="noStrike">
              <a:solidFill>
                <a:srgbClr val="000000"/>
              </a:solidFill>
              <a:latin typeface="Arial"/>
              <a:ea typeface="Arial"/>
              <a:cs typeface="Arial"/>
              <a:sym typeface="Arial"/>
            </a:endParaRPr>
          </a:p>
        </p:txBody>
      </p:sp>
      <p:sp>
        <p:nvSpPr>
          <p:cNvPr id="192" name="Google Shape;192;p12"/>
          <p:cNvSpPr/>
          <p:nvPr/>
        </p:nvSpPr>
        <p:spPr>
          <a:xfrm>
            <a:off x="784225" y="4192588"/>
            <a:ext cx="36295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Gill Sans"/>
                <a:ea typeface="Gill Sans"/>
                <a:cs typeface="Gill Sans"/>
                <a:sym typeface="Gill Sans"/>
              </a:rPr>
              <a:t>1976</a:t>
            </a:r>
            <a:r>
              <a:rPr b="0" i="0" lang="en-US" sz="2000" u="none" cap="none" strike="noStrike">
                <a:solidFill>
                  <a:schemeClr val="dk1"/>
                </a:solidFill>
                <a:latin typeface="Gill Sans"/>
                <a:ea typeface="Gill Sans"/>
                <a:cs typeface="Gill Sans"/>
                <a:sym typeface="Gill Sans"/>
              </a:rPr>
              <a:t> - Zilog Z80, improved 8080</a:t>
            </a:r>
            <a:endParaRPr b="0" i="0" sz="1400" u="none" cap="none" strike="noStrike">
              <a:solidFill>
                <a:srgbClr val="000000"/>
              </a:solidFill>
              <a:latin typeface="Arial"/>
              <a:ea typeface="Arial"/>
              <a:cs typeface="Arial"/>
              <a:sym typeface="Arial"/>
            </a:endParaRPr>
          </a:p>
        </p:txBody>
      </p:sp>
      <p:sp>
        <p:nvSpPr>
          <p:cNvPr id="193" name="Google Shape;193;p12"/>
          <p:cNvSpPr/>
          <p:nvPr/>
        </p:nvSpPr>
        <p:spPr>
          <a:xfrm>
            <a:off x="784225" y="4584700"/>
            <a:ext cx="382239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Gill Sans"/>
                <a:ea typeface="Gill Sans"/>
                <a:cs typeface="Gill Sans"/>
                <a:sym typeface="Gill Sans"/>
              </a:rPr>
              <a:t>1976</a:t>
            </a:r>
            <a:r>
              <a:rPr b="0" i="0" lang="en-US" sz="2000" u="none" cap="none" strike="noStrike">
                <a:solidFill>
                  <a:schemeClr val="dk1"/>
                </a:solidFill>
                <a:latin typeface="Gill Sans"/>
                <a:ea typeface="Gill Sans"/>
                <a:cs typeface="Gill Sans"/>
                <a:sym typeface="Gill Sans"/>
              </a:rPr>
              <a:t> - TI TMS 9900, 1st 16-bit μP </a:t>
            </a:r>
            <a:endParaRPr b="0" i="0" sz="1400" u="none" cap="none" strike="noStrike">
              <a:solidFill>
                <a:srgbClr val="000000"/>
              </a:solidFill>
              <a:latin typeface="Arial"/>
              <a:ea typeface="Arial"/>
              <a:cs typeface="Arial"/>
              <a:sym typeface="Arial"/>
            </a:endParaRPr>
          </a:p>
        </p:txBody>
      </p:sp>
      <p:sp>
        <p:nvSpPr>
          <p:cNvPr id="194" name="Google Shape;194;p12"/>
          <p:cNvSpPr/>
          <p:nvPr/>
        </p:nvSpPr>
        <p:spPr>
          <a:xfrm>
            <a:off x="771525" y="4964113"/>
            <a:ext cx="513326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Gill Sans"/>
                <a:ea typeface="Gill Sans"/>
                <a:cs typeface="Gill Sans"/>
                <a:sym typeface="Gill Sans"/>
              </a:rPr>
              <a:t>1978</a:t>
            </a:r>
            <a:r>
              <a:rPr b="0" i="0" lang="en-US" sz="2000" u="none" cap="none" strike="noStrike">
                <a:solidFill>
                  <a:schemeClr val="dk1"/>
                </a:solidFill>
                <a:latin typeface="Gill Sans"/>
                <a:ea typeface="Gill Sans"/>
                <a:cs typeface="Gill Sans"/>
                <a:sym typeface="Gill Sans"/>
              </a:rPr>
              <a:t> - Zilog Z8000, Motorola 68000, 16-bit μP </a:t>
            </a:r>
            <a:endParaRPr b="0" i="0" sz="1400" u="none" cap="none" strike="noStrike">
              <a:solidFill>
                <a:srgbClr val="000000"/>
              </a:solidFill>
              <a:latin typeface="Arial"/>
              <a:ea typeface="Arial"/>
              <a:cs typeface="Arial"/>
              <a:sym typeface="Arial"/>
            </a:endParaRPr>
          </a:p>
        </p:txBody>
      </p:sp>
      <p:sp>
        <p:nvSpPr>
          <p:cNvPr id="195" name="Google Shape;195;p12"/>
          <p:cNvSpPr/>
          <p:nvPr/>
        </p:nvSpPr>
        <p:spPr>
          <a:xfrm>
            <a:off x="769938" y="5368925"/>
            <a:ext cx="446654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Gill Sans"/>
                <a:ea typeface="Gill Sans"/>
                <a:cs typeface="Gill Sans"/>
                <a:sym typeface="Gill Sans"/>
              </a:rPr>
              <a:t>1978</a:t>
            </a:r>
            <a:r>
              <a:rPr b="0" i="0" lang="en-US" sz="2000" u="none" cap="none" strike="noStrike">
                <a:solidFill>
                  <a:schemeClr val="dk1"/>
                </a:solidFill>
                <a:latin typeface="Gill Sans"/>
                <a:ea typeface="Gill Sans"/>
                <a:cs typeface="Gill Sans"/>
                <a:sym typeface="Gill Sans"/>
              </a:rPr>
              <a:t> - Intel 8086, 16-bit, IBM’s choice... </a:t>
            </a:r>
            <a:endParaRPr b="0" i="0" sz="1400" u="none" cap="none" strike="noStrike">
              <a:solidFill>
                <a:srgbClr val="000000"/>
              </a:solidFill>
              <a:latin typeface="Arial"/>
              <a:ea typeface="Arial"/>
              <a:cs typeface="Arial"/>
              <a:sym typeface="Arial"/>
            </a:endParaRPr>
          </a:p>
        </p:txBody>
      </p:sp>
      <p:sp>
        <p:nvSpPr>
          <p:cNvPr id="196" name="Google Shape;196;p12"/>
          <p:cNvSpPr txBox="1"/>
          <p:nvPr>
            <p:ph idx="11" type="ftr"/>
          </p:nvPr>
        </p:nvSpPr>
        <p:spPr>
          <a:xfrm>
            <a:off x="1828800" y="6355080"/>
            <a:ext cx="61722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pic>
        <p:nvPicPr>
          <p:cNvPr descr="BRAC University Jobs 2020- Jobs in BRAC University- careerz360.com" id="197" name="Google Shape;197;p12"/>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b="1" lang="en-US">
                <a:solidFill>
                  <a:schemeClr val="dk1"/>
                </a:solidFill>
              </a:rPr>
              <a:t>Microcontroller (</a:t>
            </a:r>
            <a:r>
              <a:rPr b="1" lang="en-US">
                <a:solidFill>
                  <a:schemeClr val="dk1"/>
                </a:solidFill>
                <a:latin typeface="Times New Roman"/>
                <a:ea typeface="Times New Roman"/>
                <a:cs typeface="Times New Roman"/>
                <a:sym typeface="Times New Roman"/>
              </a:rPr>
              <a:t>μC</a:t>
            </a:r>
            <a:r>
              <a:rPr b="1" lang="en-US">
                <a:solidFill>
                  <a:schemeClr val="dk1"/>
                </a:solidFill>
              </a:rPr>
              <a:t>)</a:t>
            </a:r>
            <a:endParaRPr/>
          </a:p>
        </p:txBody>
      </p:sp>
      <p:sp>
        <p:nvSpPr>
          <p:cNvPr id="203" name="Google Shape;203;p1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solidFill>
                  <a:schemeClr val="dk1"/>
                </a:solidFill>
              </a:rPr>
              <a:t>‹#›</a:t>
            </a:fld>
            <a:endParaRPr>
              <a:solidFill>
                <a:schemeClr val="dk1"/>
              </a:solidFill>
            </a:endParaRPr>
          </a:p>
        </p:txBody>
      </p:sp>
      <p:sp>
        <p:nvSpPr>
          <p:cNvPr id="204" name="Google Shape;204;p13"/>
          <p:cNvSpPr txBox="1"/>
          <p:nvPr>
            <p:ph idx="1" type="body"/>
          </p:nvPr>
        </p:nvSpPr>
        <p:spPr>
          <a:xfrm>
            <a:off x="457200" y="1219200"/>
            <a:ext cx="4267200" cy="4937760"/>
          </a:xfrm>
          <a:prstGeom prst="rect">
            <a:avLst/>
          </a:prstGeom>
          <a:noFill/>
          <a:ln>
            <a:noFill/>
          </a:ln>
        </p:spPr>
        <p:txBody>
          <a:bodyPr anchorCtr="0" anchor="t" bIns="45700" lIns="91425" spcFirstLastPara="1" rIns="91425" wrap="square" tIns="45700">
            <a:noAutofit/>
          </a:bodyPr>
          <a:lstStyle/>
          <a:p>
            <a:pPr indent="-274320" lvl="0" marL="274320" rtl="0" algn="l">
              <a:lnSpc>
                <a:spcPct val="100000"/>
              </a:lnSpc>
              <a:spcBef>
                <a:spcPts val="0"/>
              </a:spcBef>
              <a:spcAft>
                <a:spcPts val="0"/>
              </a:spcAft>
              <a:buSzPts val="1824"/>
              <a:buChar char="?"/>
            </a:pPr>
            <a:r>
              <a:rPr b="1" lang="en-US" sz="2400"/>
              <a:t>Microcontroller</a:t>
            </a:r>
            <a:r>
              <a:rPr lang="en-US" sz="2400"/>
              <a:t> is an IC d</a:t>
            </a:r>
            <a:r>
              <a:rPr lang="en-US" sz="2400">
                <a:solidFill>
                  <a:schemeClr val="dk1"/>
                </a:solidFill>
              </a:rPr>
              <a:t>edicated to perform </a:t>
            </a:r>
            <a:r>
              <a:rPr lang="en-US" sz="2400"/>
              <a:t>simpler</a:t>
            </a:r>
            <a:r>
              <a:rPr lang="en-US" sz="2400">
                <a:solidFill>
                  <a:schemeClr val="dk1"/>
                </a:solidFill>
              </a:rPr>
              <a:t> tasks. </a:t>
            </a:r>
            <a:endParaRPr/>
          </a:p>
          <a:p>
            <a:pPr indent="0" lvl="0" marL="0" rtl="0" algn="l">
              <a:lnSpc>
                <a:spcPct val="100000"/>
              </a:lnSpc>
              <a:spcBef>
                <a:spcPts val="600"/>
              </a:spcBef>
              <a:spcAft>
                <a:spcPts val="0"/>
              </a:spcAft>
              <a:buSzPts val="1824"/>
              <a:buNone/>
            </a:pPr>
            <a:r>
              <a:t/>
            </a:r>
            <a:endParaRPr sz="2400">
              <a:solidFill>
                <a:schemeClr val="dk1"/>
              </a:solidFill>
            </a:endParaRPr>
          </a:p>
          <a:p>
            <a:pPr indent="-274320" lvl="1" marL="548640" rtl="0" algn="l">
              <a:lnSpc>
                <a:spcPct val="100000"/>
              </a:lnSpc>
              <a:spcBef>
                <a:spcPts val="500"/>
              </a:spcBef>
              <a:spcAft>
                <a:spcPts val="0"/>
              </a:spcAft>
              <a:buSzPts val="1672"/>
              <a:buChar char="?"/>
            </a:pPr>
            <a:r>
              <a:rPr lang="en-US" sz="2200">
                <a:solidFill>
                  <a:schemeClr val="dk1"/>
                </a:solidFill>
              </a:rPr>
              <a:t>A microcontroller is the integration of </a:t>
            </a:r>
            <a:endParaRPr/>
          </a:p>
          <a:p>
            <a:pPr indent="-228600" lvl="2" marL="822960" rtl="0" algn="l">
              <a:lnSpc>
                <a:spcPct val="100000"/>
              </a:lnSpc>
              <a:spcBef>
                <a:spcPts val="500"/>
              </a:spcBef>
              <a:spcAft>
                <a:spcPts val="0"/>
              </a:spcAft>
              <a:buSzPts val="1520"/>
              <a:buChar char="?"/>
            </a:pPr>
            <a:r>
              <a:rPr lang="en-US"/>
              <a:t>Processor</a:t>
            </a:r>
            <a:endParaRPr/>
          </a:p>
          <a:p>
            <a:pPr indent="-228600" lvl="2" marL="822960" rtl="0" algn="l">
              <a:lnSpc>
                <a:spcPct val="100000"/>
              </a:lnSpc>
              <a:spcBef>
                <a:spcPts val="500"/>
              </a:spcBef>
              <a:spcAft>
                <a:spcPts val="0"/>
              </a:spcAft>
              <a:buSzPts val="1520"/>
              <a:buChar char="?"/>
            </a:pPr>
            <a:r>
              <a:rPr lang="en-US"/>
              <a:t>Memory (RAM, ROM)</a:t>
            </a:r>
            <a:endParaRPr/>
          </a:p>
          <a:p>
            <a:pPr indent="-228600" lvl="2" marL="822960" rtl="0" algn="l">
              <a:lnSpc>
                <a:spcPct val="100000"/>
              </a:lnSpc>
              <a:spcBef>
                <a:spcPts val="500"/>
              </a:spcBef>
              <a:spcAft>
                <a:spcPts val="0"/>
              </a:spcAft>
              <a:buSzPts val="1520"/>
              <a:buChar char="?"/>
            </a:pPr>
            <a:r>
              <a:rPr lang="en-US"/>
              <a:t>I/O ports</a:t>
            </a:r>
            <a:r>
              <a:rPr lang="en-US" sz="2000"/>
              <a:t> </a:t>
            </a:r>
            <a:endParaRPr sz="2000"/>
          </a:p>
        </p:txBody>
      </p:sp>
      <p:grpSp>
        <p:nvGrpSpPr>
          <p:cNvPr id="205" name="Google Shape;205;p13"/>
          <p:cNvGrpSpPr/>
          <p:nvPr/>
        </p:nvGrpSpPr>
        <p:grpSpPr>
          <a:xfrm>
            <a:off x="4343400" y="1858963"/>
            <a:ext cx="4648200" cy="3551237"/>
            <a:chOff x="787" y="230"/>
            <a:chExt cx="4109" cy="2957"/>
          </a:xfrm>
        </p:grpSpPr>
        <p:pic>
          <p:nvPicPr>
            <p:cNvPr descr="D:\Ecp2042\homepage\images\IC.jpg" id="206" name="Google Shape;206;p13"/>
            <p:cNvPicPr preferRelativeResize="0"/>
            <p:nvPr/>
          </p:nvPicPr>
          <p:blipFill rotWithShape="1">
            <a:blip r:embed="rId3">
              <a:alphaModFix/>
            </a:blip>
            <a:srcRect b="0" l="0" r="0" t="0"/>
            <a:stretch/>
          </p:blipFill>
          <p:spPr>
            <a:xfrm>
              <a:off x="4214" y="2679"/>
              <a:ext cx="682" cy="508"/>
            </a:xfrm>
            <a:prstGeom prst="rect">
              <a:avLst/>
            </a:prstGeom>
            <a:noFill/>
            <a:ln>
              <a:noFill/>
            </a:ln>
          </p:spPr>
        </p:pic>
        <p:cxnSp>
          <p:nvCxnSpPr>
            <p:cNvPr id="207" name="Google Shape;207;p13"/>
            <p:cNvCxnSpPr/>
            <p:nvPr/>
          </p:nvCxnSpPr>
          <p:spPr>
            <a:xfrm>
              <a:off x="3629" y="819"/>
              <a:ext cx="1266" cy="1867"/>
            </a:xfrm>
            <a:prstGeom prst="straightConnector1">
              <a:avLst/>
            </a:prstGeom>
            <a:noFill/>
            <a:ln cap="flat" cmpd="sng" w="9525">
              <a:solidFill>
                <a:schemeClr val="dk1"/>
              </a:solidFill>
              <a:prstDash val="solid"/>
              <a:round/>
              <a:headEnd len="sm" w="sm" type="none"/>
              <a:tailEnd len="sm" w="sm" type="none"/>
            </a:ln>
          </p:spPr>
        </p:cxnSp>
        <p:cxnSp>
          <p:nvCxnSpPr>
            <p:cNvPr id="208" name="Google Shape;208;p13"/>
            <p:cNvCxnSpPr/>
            <p:nvPr/>
          </p:nvCxnSpPr>
          <p:spPr>
            <a:xfrm>
              <a:off x="2238" y="3084"/>
              <a:ext cx="1977" cy="78"/>
            </a:xfrm>
            <a:prstGeom prst="straightConnector1">
              <a:avLst/>
            </a:prstGeom>
            <a:noFill/>
            <a:ln cap="flat" cmpd="sng" w="9525">
              <a:solidFill>
                <a:schemeClr val="dk1"/>
              </a:solidFill>
              <a:prstDash val="solid"/>
              <a:round/>
              <a:headEnd len="sm" w="sm" type="none"/>
              <a:tailEnd len="sm" w="sm" type="none"/>
            </a:ln>
          </p:spPr>
        </p:cxnSp>
        <p:grpSp>
          <p:nvGrpSpPr>
            <p:cNvPr id="209" name="Google Shape;209;p13"/>
            <p:cNvGrpSpPr/>
            <p:nvPr/>
          </p:nvGrpSpPr>
          <p:grpSpPr>
            <a:xfrm>
              <a:off x="884" y="812"/>
              <a:ext cx="2788" cy="2046"/>
              <a:chOff x="288" y="754"/>
              <a:chExt cx="3527" cy="2536"/>
            </a:xfrm>
          </p:grpSpPr>
          <p:grpSp>
            <p:nvGrpSpPr>
              <p:cNvPr id="210" name="Google Shape;210;p13"/>
              <p:cNvGrpSpPr/>
              <p:nvPr/>
            </p:nvGrpSpPr>
            <p:grpSpPr>
              <a:xfrm>
                <a:off x="1443" y="2142"/>
                <a:ext cx="1345" cy="1148"/>
                <a:chOff x="2368" y="2508"/>
                <a:chExt cx="1345" cy="1148"/>
              </a:xfrm>
            </p:grpSpPr>
            <p:sp>
              <p:nvSpPr>
                <p:cNvPr id="211" name="Google Shape;211;p13"/>
                <p:cNvSpPr/>
                <p:nvPr/>
              </p:nvSpPr>
              <p:spPr>
                <a:xfrm>
                  <a:off x="2368" y="2508"/>
                  <a:ext cx="1345" cy="1148"/>
                </a:xfrm>
                <a:prstGeom prst="ellipse">
                  <a:avLst/>
                </a:prstGeom>
                <a:solidFill>
                  <a:srgbClr val="FF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212" name="Google Shape;212;p13"/>
                <p:cNvSpPr txBox="1"/>
                <p:nvPr/>
              </p:nvSpPr>
              <p:spPr>
                <a:xfrm>
                  <a:off x="2578" y="2942"/>
                  <a:ext cx="902" cy="302"/>
                </a:xfrm>
                <a:prstGeom prst="rect">
                  <a:avLst/>
                </a:prstGeom>
                <a:solidFill>
                  <a:srgbClr val="FFFF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Times New Roman"/>
                      <a:ea typeface="Times New Roman"/>
                      <a:cs typeface="Times New Roman"/>
                      <a:sym typeface="Times New Roman"/>
                    </a:rPr>
                    <a:t>CPU</a:t>
                  </a:r>
                  <a:endParaRPr b="0" i="0" sz="1400" u="none" cap="none" strike="noStrike">
                    <a:solidFill>
                      <a:srgbClr val="000000"/>
                    </a:solidFill>
                    <a:latin typeface="Arial"/>
                    <a:ea typeface="Arial"/>
                    <a:cs typeface="Arial"/>
                    <a:sym typeface="Arial"/>
                  </a:endParaRPr>
                </a:p>
              </p:txBody>
            </p:sp>
          </p:grpSp>
          <p:grpSp>
            <p:nvGrpSpPr>
              <p:cNvPr id="213" name="Google Shape;213;p13"/>
              <p:cNvGrpSpPr/>
              <p:nvPr/>
            </p:nvGrpSpPr>
            <p:grpSpPr>
              <a:xfrm>
                <a:off x="2470" y="754"/>
                <a:ext cx="1345" cy="1148"/>
                <a:chOff x="3432" y="1244"/>
                <a:chExt cx="1345" cy="1148"/>
              </a:xfrm>
            </p:grpSpPr>
            <p:sp>
              <p:nvSpPr>
                <p:cNvPr id="214" name="Google Shape;214;p13"/>
                <p:cNvSpPr/>
                <p:nvPr/>
              </p:nvSpPr>
              <p:spPr>
                <a:xfrm>
                  <a:off x="3432" y="1244"/>
                  <a:ext cx="1345" cy="1148"/>
                </a:xfrm>
                <a:prstGeom prst="ellipse">
                  <a:avLst/>
                </a:prstGeom>
                <a:solidFill>
                  <a:srgbClr val="FF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215" name="Google Shape;215;p13"/>
                <p:cNvSpPr txBox="1"/>
                <p:nvPr/>
              </p:nvSpPr>
              <p:spPr>
                <a:xfrm>
                  <a:off x="3606" y="1654"/>
                  <a:ext cx="1032" cy="302"/>
                </a:xfrm>
                <a:prstGeom prst="rect">
                  <a:avLst/>
                </a:prstGeom>
                <a:solidFill>
                  <a:srgbClr val="FFFF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Times New Roman"/>
                      <a:ea typeface="Times New Roman"/>
                      <a:cs typeface="Times New Roman"/>
                      <a:sym typeface="Times New Roman"/>
                    </a:rPr>
                    <a:t>MEMORY</a:t>
                  </a:r>
                  <a:endParaRPr b="0" i="0" sz="1400" u="none" cap="none" strike="noStrike">
                    <a:solidFill>
                      <a:srgbClr val="000000"/>
                    </a:solidFill>
                    <a:latin typeface="Arial"/>
                    <a:ea typeface="Arial"/>
                    <a:cs typeface="Arial"/>
                    <a:sym typeface="Arial"/>
                  </a:endParaRPr>
                </a:p>
              </p:txBody>
            </p:sp>
          </p:grpSp>
          <p:grpSp>
            <p:nvGrpSpPr>
              <p:cNvPr id="216" name="Google Shape;216;p13"/>
              <p:cNvGrpSpPr/>
              <p:nvPr/>
            </p:nvGrpSpPr>
            <p:grpSpPr>
              <a:xfrm>
                <a:off x="288" y="1031"/>
                <a:ext cx="1345" cy="1148"/>
                <a:chOff x="2368" y="2508"/>
                <a:chExt cx="1345" cy="1148"/>
              </a:xfrm>
            </p:grpSpPr>
            <p:sp>
              <p:nvSpPr>
                <p:cNvPr id="217" name="Google Shape;217;p13"/>
                <p:cNvSpPr/>
                <p:nvPr/>
              </p:nvSpPr>
              <p:spPr>
                <a:xfrm>
                  <a:off x="2368" y="2508"/>
                  <a:ext cx="1345" cy="1148"/>
                </a:xfrm>
                <a:prstGeom prst="ellipse">
                  <a:avLst/>
                </a:prstGeom>
                <a:solidFill>
                  <a:srgbClr val="FF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218" name="Google Shape;218;p13"/>
                <p:cNvSpPr txBox="1"/>
                <p:nvPr/>
              </p:nvSpPr>
              <p:spPr>
                <a:xfrm>
                  <a:off x="2578" y="2940"/>
                  <a:ext cx="902" cy="302"/>
                </a:xfrm>
                <a:prstGeom prst="rect">
                  <a:avLst/>
                </a:prstGeom>
                <a:solidFill>
                  <a:srgbClr val="FFFF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Times New Roman"/>
                      <a:ea typeface="Times New Roman"/>
                      <a:cs typeface="Times New Roman"/>
                      <a:sym typeface="Times New Roman"/>
                    </a:rPr>
                    <a:t>I/O</a:t>
                  </a:r>
                  <a:endParaRPr b="0" i="0" sz="1400" u="none" cap="none" strike="noStrike">
                    <a:solidFill>
                      <a:srgbClr val="000000"/>
                    </a:solidFill>
                    <a:latin typeface="Arial"/>
                    <a:ea typeface="Arial"/>
                    <a:cs typeface="Arial"/>
                    <a:sym typeface="Arial"/>
                  </a:endParaRPr>
                </a:p>
              </p:txBody>
            </p:sp>
          </p:grpSp>
          <p:grpSp>
            <p:nvGrpSpPr>
              <p:cNvPr id="219" name="Google Shape;219;p13"/>
              <p:cNvGrpSpPr/>
              <p:nvPr/>
            </p:nvGrpSpPr>
            <p:grpSpPr>
              <a:xfrm>
                <a:off x="1429" y="1236"/>
                <a:ext cx="1345" cy="1148"/>
                <a:chOff x="2341" y="2014"/>
                <a:chExt cx="1345" cy="1148"/>
              </a:xfrm>
            </p:grpSpPr>
            <p:sp>
              <p:nvSpPr>
                <p:cNvPr id="220" name="Google Shape;220;p13"/>
                <p:cNvSpPr/>
                <p:nvPr/>
              </p:nvSpPr>
              <p:spPr>
                <a:xfrm>
                  <a:off x="2341" y="2014"/>
                  <a:ext cx="1345" cy="1148"/>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221" name="Google Shape;221;p13"/>
                <p:cNvSpPr txBox="1"/>
                <p:nvPr/>
              </p:nvSpPr>
              <p:spPr>
                <a:xfrm>
                  <a:off x="2563" y="2319"/>
                  <a:ext cx="1071" cy="5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Times New Roman"/>
                      <a:ea typeface="Times New Roman"/>
                      <a:cs typeface="Times New Roman"/>
                      <a:sym typeface="Times New Roman"/>
                    </a:rPr>
                    <a:t>SYSTEM BUS</a:t>
                  </a:r>
                  <a:endParaRPr b="0" i="0" sz="1400" u="none" cap="none" strike="noStrike">
                    <a:solidFill>
                      <a:srgbClr val="000000"/>
                    </a:solidFill>
                    <a:latin typeface="Arial"/>
                    <a:ea typeface="Arial"/>
                    <a:cs typeface="Arial"/>
                    <a:sym typeface="Arial"/>
                  </a:endParaRPr>
                </a:p>
              </p:txBody>
            </p:sp>
          </p:grpSp>
        </p:grpSp>
        <p:sp>
          <p:nvSpPr>
            <p:cNvPr id="222" name="Google Shape;222;p13"/>
            <p:cNvSpPr/>
            <p:nvPr/>
          </p:nvSpPr>
          <p:spPr>
            <a:xfrm>
              <a:off x="787" y="230"/>
              <a:ext cx="3120" cy="284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grpSp>
      <p:sp>
        <p:nvSpPr>
          <p:cNvPr id="223" name="Google Shape;223;p13"/>
          <p:cNvSpPr txBox="1"/>
          <p:nvPr>
            <p:ph idx="11" type="ftr"/>
          </p:nvPr>
        </p:nvSpPr>
        <p:spPr>
          <a:xfrm>
            <a:off x="1828800" y="6355080"/>
            <a:ext cx="61722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pic>
        <p:nvPicPr>
          <p:cNvPr descr="BRAC University Jobs 2020- Jobs in BRAC University- careerz360.com" id="224" name="Google Shape;224;p13"/>
          <p:cNvPicPr preferRelativeResize="0"/>
          <p:nvPr/>
        </p:nvPicPr>
        <p:blipFill rotWithShape="1">
          <a:blip r:embed="rId4">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List of Microcontrollers</a:t>
            </a:r>
            <a:endParaRPr/>
          </a:p>
        </p:txBody>
      </p:sp>
      <p:sp>
        <p:nvSpPr>
          <p:cNvPr id="230" name="Google Shape;230;p1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31" name="Google Shape;231;p14"/>
          <p:cNvSpPr txBox="1"/>
          <p:nvPr/>
        </p:nvSpPr>
        <p:spPr>
          <a:xfrm>
            <a:off x="760124" y="1217416"/>
            <a:ext cx="752792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Gill Sans"/>
                <a:ea typeface="Gill Sans"/>
                <a:cs typeface="Gill Sans"/>
                <a:sym typeface="Gill Sans"/>
              </a:rPr>
              <a:t>1972</a:t>
            </a:r>
            <a:r>
              <a:rPr b="0" i="0" lang="en-US" sz="2400" u="none" cap="none" strike="noStrike">
                <a:solidFill>
                  <a:schemeClr val="dk1"/>
                </a:solidFill>
                <a:latin typeface="Gill Sans"/>
                <a:ea typeface="Gill Sans"/>
                <a:cs typeface="Gill Sans"/>
                <a:sym typeface="Gill Sans"/>
              </a:rPr>
              <a:t> - Texas Instrument TMS 1000, 1st single μC, 4-bit</a:t>
            </a:r>
            <a:endParaRPr b="0" i="0" sz="1400" u="none" cap="none" strike="noStrike">
              <a:solidFill>
                <a:srgbClr val="000000"/>
              </a:solidFill>
              <a:latin typeface="Arial"/>
              <a:ea typeface="Arial"/>
              <a:cs typeface="Arial"/>
              <a:sym typeface="Arial"/>
            </a:endParaRPr>
          </a:p>
        </p:txBody>
      </p:sp>
      <p:sp>
        <p:nvSpPr>
          <p:cNvPr id="232" name="Google Shape;232;p14"/>
          <p:cNvSpPr txBox="1"/>
          <p:nvPr/>
        </p:nvSpPr>
        <p:spPr>
          <a:xfrm>
            <a:off x="782638" y="1751013"/>
            <a:ext cx="752792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Gill Sans"/>
                <a:ea typeface="Gill Sans"/>
                <a:cs typeface="Gill Sans"/>
                <a:sym typeface="Gill Sans"/>
              </a:rPr>
              <a:t>1976</a:t>
            </a:r>
            <a:r>
              <a:rPr b="0" i="0" lang="en-US" sz="2400" u="none" cap="none" strike="noStrike">
                <a:solidFill>
                  <a:schemeClr val="dk1"/>
                </a:solidFill>
                <a:latin typeface="Gill Sans"/>
                <a:ea typeface="Gill Sans"/>
                <a:cs typeface="Gill Sans"/>
                <a:sym typeface="Gill Sans"/>
              </a:rPr>
              <a:t> - Intel 8048, 8-bit μC, 1k ROM, 64b RAM, 27 I/O </a:t>
            </a:r>
            <a:endParaRPr b="0" i="0" sz="1400" u="none" cap="none" strike="noStrike">
              <a:solidFill>
                <a:srgbClr val="000000"/>
              </a:solidFill>
              <a:latin typeface="Arial"/>
              <a:ea typeface="Arial"/>
              <a:cs typeface="Arial"/>
              <a:sym typeface="Arial"/>
            </a:endParaRPr>
          </a:p>
        </p:txBody>
      </p:sp>
      <p:sp>
        <p:nvSpPr>
          <p:cNvPr id="233" name="Google Shape;233;p14"/>
          <p:cNvSpPr/>
          <p:nvPr/>
        </p:nvSpPr>
        <p:spPr>
          <a:xfrm>
            <a:off x="790575" y="2146300"/>
            <a:ext cx="800757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Gill Sans"/>
                <a:ea typeface="Gill Sans"/>
                <a:cs typeface="Gill Sans"/>
                <a:sym typeface="Gill Sans"/>
              </a:rPr>
              <a:t>1980</a:t>
            </a:r>
            <a:r>
              <a:rPr b="0" i="0" lang="en-US" sz="2400" u="none" cap="none" strike="noStrike">
                <a:solidFill>
                  <a:schemeClr val="dk1"/>
                </a:solidFill>
                <a:latin typeface="Gill Sans"/>
                <a:ea typeface="Gill Sans"/>
                <a:cs typeface="Gill Sans"/>
                <a:sym typeface="Gill Sans"/>
              </a:rPr>
              <a:t> - Intel 8051, 4k ROM, 128b RAM, 32 I/O, 2 16-bits timers</a:t>
            </a:r>
            <a:endParaRPr b="0" i="0" sz="2400" u="none" cap="none" strike="noStrike">
              <a:solidFill>
                <a:schemeClr val="dk1"/>
              </a:solidFill>
              <a:latin typeface="Gill Sans"/>
              <a:ea typeface="Gill Sans"/>
              <a:cs typeface="Gill Sans"/>
              <a:sym typeface="Gill Sans"/>
            </a:endParaRPr>
          </a:p>
        </p:txBody>
      </p:sp>
      <p:sp>
        <p:nvSpPr>
          <p:cNvPr id="234" name="Google Shape;234;p14"/>
          <p:cNvSpPr/>
          <p:nvPr/>
        </p:nvSpPr>
        <p:spPr>
          <a:xfrm>
            <a:off x="787401" y="2562225"/>
            <a:ext cx="8356600" cy="3416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Gill Sans"/>
                <a:ea typeface="Gill Sans"/>
                <a:cs typeface="Gill Sans"/>
                <a:sym typeface="Gill Sans"/>
              </a:rPr>
              <a:t>1980s -</a:t>
            </a:r>
            <a:r>
              <a:rPr b="0" i="0" lang="en-US" sz="2400" u="none" cap="none" strike="noStrike">
                <a:solidFill>
                  <a:schemeClr val="dk1"/>
                </a:solidFill>
                <a:latin typeface="Gill Sans"/>
                <a:ea typeface="Gill Sans"/>
                <a:cs typeface="Gill Sans"/>
                <a:sym typeface="Gill Sans"/>
              </a:rPr>
              <a:t>  </a:t>
            </a:r>
            <a:endParaRPr b="0" i="0" sz="24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(MCS-51 family)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 Intel 8031, 8052, 8751,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 Atmel AT89C51, AT 89C1052/2051,…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 Dallas Semiconductor DS5000 series…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Gill Sans"/>
              <a:buChar char="-"/>
            </a:pPr>
            <a:r>
              <a:rPr b="0" i="0" lang="en-US" sz="2400" u="none" cap="none" strike="noStrike">
                <a:solidFill>
                  <a:schemeClr val="dk1"/>
                </a:solidFill>
                <a:latin typeface="Gill Sans"/>
                <a:ea typeface="Gill Sans"/>
                <a:cs typeface="Gill Sans"/>
                <a:sym typeface="Gill Sans"/>
              </a:rPr>
              <a:t>Philips, National Semiconductor,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Gill Sans"/>
              <a:buChar char="-"/>
            </a:pPr>
            <a:r>
              <a:rPr b="0" i="0" lang="en-US" sz="2400" u="none" cap="none" strike="noStrike">
                <a:solidFill>
                  <a:schemeClr val="dk1"/>
                </a:solidFill>
                <a:latin typeface="Gill Sans"/>
                <a:ea typeface="Gill Sans"/>
                <a:cs typeface="Gill Sans"/>
                <a:sym typeface="Gill Sans"/>
              </a:rPr>
              <a:t> Freescale S32K MCU, Renesas RL 78G1F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Gill Sans"/>
              <a:ea typeface="Gill Sans"/>
              <a:cs typeface="Gill Sans"/>
              <a:sym typeface="Gill Sans"/>
            </a:endParaRPr>
          </a:p>
        </p:txBody>
      </p:sp>
      <p:sp>
        <p:nvSpPr>
          <p:cNvPr id="235" name="Google Shape;235;p14"/>
          <p:cNvSpPr txBox="1"/>
          <p:nvPr>
            <p:ph idx="11" type="ftr"/>
          </p:nvPr>
        </p:nvSpPr>
        <p:spPr>
          <a:xfrm>
            <a:off x="1828800" y="6355080"/>
            <a:ext cx="61722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pic>
        <p:nvPicPr>
          <p:cNvPr descr="BRAC University Jobs 2020- Jobs in BRAC University- careerz360.com" id="236" name="Google Shape;236;p14"/>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5"/>
          <p:cNvSpPr txBox="1"/>
          <p:nvPr>
            <p:ph type="title"/>
          </p:nvPr>
        </p:nvSpPr>
        <p:spPr>
          <a:xfrm>
            <a:off x="419100" y="41795"/>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Font typeface="Times New Roman"/>
              <a:buNone/>
            </a:pPr>
            <a:r>
              <a:rPr lang="en-US" sz="2800">
                <a:solidFill>
                  <a:schemeClr val="dk1"/>
                </a:solidFill>
                <a:latin typeface="Times New Roman"/>
                <a:ea typeface="Times New Roman"/>
                <a:cs typeface="Times New Roman"/>
                <a:sym typeface="Times New Roman"/>
              </a:rPr>
              <a:t>Microprocessor System Vs Microcontroller System</a:t>
            </a:r>
            <a:endParaRPr sz="2800">
              <a:solidFill>
                <a:schemeClr val="dk1"/>
              </a:solidFill>
            </a:endParaRPr>
          </a:p>
        </p:txBody>
      </p:sp>
      <p:sp>
        <p:nvSpPr>
          <p:cNvPr id="243" name="Google Shape;243;p1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solidFill>
                  <a:schemeClr val="dk1"/>
                </a:solidFill>
              </a:rPr>
              <a:t>‹#›</a:t>
            </a:fld>
            <a:endParaRPr>
              <a:solidFill>
                <a:schemeClr val="dk1"/>
              </a:solidFill>
            </a:endParaRPr>
          </a:p>
        </p:txBody>
      </p:sp>
      <p:sp>
        <p:nvSpPr>
          <p:cNvPr id="244" name="Google Shape;244;p15"/>
          <p:cNvSpPr txBox="1"/>
          <p:nvPr>
            <p:ph idx="11" type="ftr"/>
          </p:nvPr>
        </p:nvSpPr>
        <p:spPr>
          <a:xfrm>
            <a:off x="1828800" y="6355080"/>
            <a:ext cx="61722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pic>
        <p:nvPicPr>
          <p:cNvPr descr="BRAC University Jobs 2020- Jobs in BRAC University- careerz360.com" id="245" name="Google Shape;245;p15"/>
          <p:cNvPicPr preferRelativeResize="0"/>
          <p:nvPr/>
        </p:nvPicPr>
        <p:blipFill rotWithShape="1">
          <a:blip r:embed="rId3">
            <a:alphaModFix/>
          </a:blip>
          <a:srcRect b="0" l="0" r="0" t="0"/>
          <a:stretch/>
        </p:blipFill>
        <p:spPr>
          <a:xfrm>
            <a:off x="8153400" y="27940"/>
            <a:ext cx="990600" cy="990600"/>
          </a:xfrm>
          <a:prstGeom prst="rect">
            <a:avLst/>
          </a:prstGeom>
          <a:noFill/>
          <a:ln>
            <a:noFill/>
          </a:ln>
        </p:spPr>
      </p:pic>
      <p:graphicFrame>
        <p:nvGraphicFramePr>
          <p:cNvPr id="246" name="Google Shape;246;p15"/>
          <p:cNvGraphicFramePr/>
          <p:nvPr/>
        </p:nvGraphicFramePr>
        <p:xfrm>
          <a:off x="391391" y="1003243"/>
          <a:ext cx="3000000" cy="3000000"/>
        </p:xfrm>
        <a:graphic>
          <a:graphicData uri="http://schemas.openxmlformats.org/drawingml/2006/table">
            <a:tbl>
              <a:tblPr bandRow="1" firstRow="1">
                <a:noFill/>
                <a:tableStyleId>{34BD7F86-C59A-4E14-B102-DDCDFD399497}</a:tableStyleId>
              </a:tblPr>
              <a:tblGrid>
                <a:gridCol w="4114800"/>
                <a:gridCol w="4114800"/>
              </a:tblGrid>
              <a:tr h="533400">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chemeClr val="dk1"/>
                          </a:solidFill>
                          <a:latin typeface="Times New Roman"/>
                          <a:ea typeface="Times New Roman"/>
                          <a:cs typeface="Times New Roman"/>
                          <a:sym typeface="Times New Roman"/>
                        </a:rPr>
                        <a:t>Microprocessor </a:t>
                      </a:r>
                      <a:endParaRPr sz="2400" u="none" cap="none" strike="noStrike">
                        <a:solidFill>
                          <a:schemeClr val="dk1"/>
                        </a:solidFill>
                        <a:latin typeface="Times New Roman"/>
                        <a:ea typeface="Times New Roman"/>
                        <a:cs typeface="Times New Roman"/>
                        <a:sym typeface="Times New Roman"/>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chemeClr val="dk1"/>
                          </a:solidFill>
                          <a:latin typeface="Times New Roman"/>
                          <a:ea typeface="Times New Roman"/>
                          <a:cs typeface="Times New Roman"/>
                          <a:sym typeface="Times New Roman"/>
                        </a:rPr>
                        <a:t>Microcontroller</a:t>
                      </a:r>
                      <a:endParaRPr sz="2400" u="none" cap="none" strike="noStrike">
                        <a:solidFill>
                          <a:schemeClr val="dk1"/>
                        </a:solidFill>
                        <a:latin typeface="Times New Roman"/>
                        <a:ea typeface="Times New Roman"/>
                        <a:cs typeface="Times New Roman"/>
                        <a:sym typeface="Times New Roman"/>
                      </a:endParaRPr>
                    </a:p>
                  </a:txBody>
                  <a:tcPr marT="45725" marB="45725" marR="91450" marL="91450"/>
                </a:tc>
              </a:tr>
              <a:tr h="6858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Used where intensive processing is required</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Used where task is fixed and predefined</a:t>
                      </a:r>
                      <a:endParaRPr sz="1800" u="none" cap="none" strike="noStrike"/>
                    </a:p>
                  </a:txBody>
                  <a:tcPr marT="45725" marB="45725" marR="91450" marL="91450"/>
                </a:tc>
              </a:tr>
              <a:tr h="5334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Only CPU is in the chip. Memory, I/O port are connected externally</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CPU, Memory, I/O port – all are connected on the same single chip</a:t>
                      </a:r>
                      <a:endParaRPr sz="1800" u="none" cap="none" strike="noStrike"/>
                    </a:p>
                  </a:txBody>
                  <a:tcPr marT="45725" marB="45725" marR="91450" marL="91450"/>
                </a:tc>
              </a:tr>
              <a:tr h="5334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Higher Clock speed and external RAM used is also higher</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t>Lower Clock speed and RAM used is also lower</a:t>
                      </a:r>
                      <a:endParaRPr sz="1800" u="none" cap="none" strike="noStrike"/>
                    </a:p>
                  </a:txBody>
                  <a:tcPr marT="45725" marB="45725" marR="91450" marL="91450"/>
                </a:tc>
              </a:tr>
              <a:tr h="533400">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The program for the microprocessor can be changed for different applications.</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The program for the microcontroller is fixed once it is designed</a:t>
                      </a:r>
                      <a:endParaRPr sz="1800" u="none" cap="none" strike="noStrike"/>
                    </a:p>
                  </a:txBody>
                  <a:tcPr marT="45725" marB="45725" marR="91450" marL="91450"/>
                </a:tc>
              </a:tr>
              <a:tr h="5334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Cost is comparatively higher</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Gill Sans"/>
                        <a:buNone/>
                      </a:pPr>
                      <a:r>
                        <a:rPr lang="en-US" sz="1800" u="none" cap="none" strike="noStrike"/>
                        <a:t>Cost is comparatively lower</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5334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Power consumption is higher</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Power consumption is lower</a:t>
                      </a:r>
                      <a:endParaRPr sz="1800" u="none" cap="none" strike="noStrike"/>
                    </a:p>
                  </a:txBody>
                  <a:tcPr marT="45725" marB="45725" marR="91450" marL="91450"/>
                </a:tc>
              </a:tr>
              <a:tr h="5334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Overall size of the system is large</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Overall size of the system is smaller</a:t>
                      </a:r>
                      <a:endParaRPr sz="1800" u="none" cap="none" strike="noStrike"/>
                    </a:p>
                  </a:txBody>
                  <a:tcPr marT="45725" marB="45725" marR="91450" marL="91450"/>
                </a:tc>
              </a:tr>
              <a:tr h="5334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Applications include personal computers</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Applications include washing machines, camera etc.</a:t>
                      </a:r>
                      <a:endParaRPr sz="1800" u="none" cap="none" strike="noStrike"/>
                    </a:p>
                  </a:txBody>
                  <a:tcPr marT="45725" marB="45725" marR="91450" marL="91450"/>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Food for thought </a:t>
            </a:r>
            <a:endParaRPr/>
          </a:p>
        </p:txBody>
      </p:sp>
      <p:sp>
        <p:nvSpPr>
          <p:cNvPr id="252" name="Google Shape;252;p1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53" name="Google Shape;253;p1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lnSpc>
                <a:spcPct val="100000"/>
              </a:lnSpc>
              <a:spcBef>
                <a:spcPts val="0"/>
              </a:spcBef>
              <a:spcAft>
                <a:spcPts val="0"/>
              </a:spcAft>
              <a:buSzPts val="1976"/>
              <a:buNone/>
            </a:pPr>
            <a:r>
              <a:t/>
            </a:r>
            <a:endParaRPr/>
          </a:p>
          <a:p>
            <a:pPr indent="0" lvl="0" marL="0" rtl="0" algn="l">
              <a:lnSpc>
                <a:spcPct val="100000"/>
              </a:lnSpc>
              <a:spcBef>
                <a:spcPts val="600"/>
              </a:spcBef>
              <a:spcAft>
                <a:spcPts val="0"/>
              </a:spcAft>
              <a:buSzPts val="1976"/>
              <a:buNone/>
            </a:pPr>
            <a:r>
              <a:rPr lang="en-US"/>
              <a:t> </a:t>
            </a:r>
            <a:endParaRPr/>
          </a:p>
          <a:p>
            <a:pPr indent="-148844" lvl="0" marL="274320" rtl="0" algn="l">
              <a:lnSpc>
                <a:spcPct val="100000"/>
              </a:lnSpc>
              <a:spcBef>
                <a:spcPts val="600"/>
              </a:spcBef>
              <a:spcAft>
                <a:spcPts val="0"/>
              </a:spcAft>
              <a:buSzPts val="1976"/>
              <a:buNone/>
            </a:pPr>
            <a:r>
              <a:t/>
            </a:r>
            <a:endParaRPr/>
          </a:p>
          <a:p>
            <a:pPr indent="-274320" lvl="0" marL="274320" rtl="0" algn="l">
              <a:lnSpc>
                <a:spcPct val="100000"/>
              </a:lnSpc>
              <a:spcBef>
                <a:spcPts val="600"/>
              </a:spcBef>
              <a:spcAft>
                <a:spcPts val="0"/>
              </a:spcAft>
              <a:buSzPts val="1976"/>
              <a:buChar char="?"/>
            </a:pPr>
            <a:r>
              <a:rPr lang="en-US"/>
              <a:t>We know that your computer uses a microprocessor. But what about your keyboard?</a:t>
            </a:r>
            <a:endParaRPr/>
          </a:p>
          <a:p>
            <a:pPr indent="0" lvl="0" marL="0" rtl="0" algn="l">
              <a:lnSpc>
                <a:spcPct val="100000"/>
              </a:lnSpc>
              <a:spcBef>
                <a:spcPts val="600"/>
              </a:spcBef>
              <a:spcAft>
                <a:spcPts val="0"/>
              </a:spcAft>
              <a:buSzPts val="1976"/>
              <a:buNone/>
            </a:pPr>
            <a:r>
              <a:t/>
            </a:r>
            <a:endParaRPr/>
          </a:p>
          <a:p>
            <a:pPr indent="0" lvl="0" marL="0" rtl="0" algn="l">
              <a:lnSpc>
                <a:spcPct val="100000"/>
              </a:lnSpc>
              <a:spcBef>
                <a:spcPts val="600"/>
              </a:spcBef>
              <a:spcAft>
                <a:spcPts val="0"/>
              </a:spcAft>
              <a:buSzPts val="1976"/>
              <a:buNone/>
            </a:pPr>
            <a:r>
              <a:t/>
            </a:r>
            <a:endParaRPr/>
          </a:p>
          <a:p>
            <a:pPr indent="0" lvl="0" marL="0" rtl="0" algn="l">
              <a:lnSpc>
                <a:spcPct val="100000"/>
              </a:lnSpc>
              <a:spcBef>
                <a:spcPts val="600"/>
              </a:spcBef>
              <a:spcAft>
                <a:spcPts val="0"/>
              </a:spcAft>
              <a:buSzPts val="1976"/>
              <a:buNone/>
            </a:pPr>
            <a:r>
              <a:t/>
            </a:r>
            <a:endParaRPr/>
          </a:p>
        </p:txBody>
      </p:sp>
      <p:sp>
        <p:nvSpPr>
          <p:cNvPr id="254" name="Google Shape;254;p16"/>
          <p:cNvSpPr txBox="1"/>
          <p:nvPr>
            <p:ph idx="11" type="ftr"/>
          </p:nvPr>
        </p:nvSpPr>
        <p:spPr>
          <a:xfrm>
            <a:off x="2286000" y="6355080"/>
            <a:ext cx="45720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BRAC University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Times New Roman"/>
              <a:buNone/>
            </a:pPr>
            <a:r>
              <a:rPr lang="en-US">
                <a:solidFill>
                  <a:schemeClr val="dk1"/>
                </a:solidFill>
                <a:latin typeface="Times New Roman"/>
                <a:ea typeface="Times New Roman"/>
                <a:cs typeface="Times New Roman"/>
                <a:sym typeface="Times New Roman"/>
              </a:rPr>
              <a:t>Microprocessor System Vs Microcontroller System</a:t>
            </a:r>
            <a:endParaRPr/>
          </a:p>
        </p:txBody>
      </p:sp>
      <p:sp>
        <p:nvSpPr>
          <p:cNvPr id="260" name="Google Shape;260;p1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61" name="Google Shape;261;p17"/>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lnSpc>
                <a:spcPct val="100000"/>
              </a:lnSpc>
              <a:spcBef>
                <a:spcPts val="0"/>
              </a:spcBef>
              <a:spcAft>
                <a:spcPts val="0"/>
              </a:spcAft>
              <a:buSzPts val="1976"/>
              <a:buNone/>
            </a:pPr>
            <a:r>
              <a:t/>
            </a:r>
            <a:endParaRPr/>
          </a:p>
        </p:txBody>
      </p:sp>
      <p:grpSp>
        <p:nvGrpSpPr>
          <p:cNvPr id="262" name="Google Shape;262;p17"/>
          <p:cNvGrpSpPr/>
          <p:nvPr/>
        </p:nvGrpSpPr>
        <p:grpSpPr>
          <a:xfrm>
            <a:off x="76200" y="1855788"/>
            <a:ext cx="8915400" cy="3235325"/>
            <a:chOff x="48" y="1440"/>
            <a:chExt cx="5616" cy="2038"/>
          </a:xfrm>
        </p:grpSpPr>
        <p:cxnSp>
          <p:nvCxnSpPr>
            <p:cNvPr id="263" name="Google Shape;263;p17"/>
            <p:cNvCxnSpPr/>
            <p:nvPr/>
          </p:nvCxnSpPr>
          <p:spPr>
            <a:xfrm>
              <a:off x="3360" y="1728"/>
              <a:ext cx="0" cy="288"/>
            </a:xfrm>
            <a:prstGeom prst="straightConnector1">
              <a:avLst/>
            </a:prstGeom>
            <a:noFill/>
            <a:ln cap="flat" cmpd="sng" w="9525">
              <a:solidFill>
                <a:schemeClr val="dk1"/>
              </a:solidFill>
              <a:prstDash val="solid"/>
              <a:round/>
              <a:headEnd len="sm" w="sm" type="none"/>
              <a:tailEnd len="sm" w="sm" type="none"/>
            </a:ln>
          </p:spPr>
        </p:cxnSp>
        <p:grpSp>
          <p:nvGrpSpPr>
            <p:cNvPr id="264" name="Google Shape;264;p17"/>
            <p:cNvGrpSpPr/>
            <p:nvPr/>
          </p:nvGrpSpPr>
          <p:grpSpPr>
            <a:xfrm>
              <a:off x="48" y="1440"/>
              <a:ext cx="5616" cy="2001"/>
              <a:chOff x="48" y="1440"/>
              <a:chExt cx="5616" cy="2001"/>
            </a:xfrm>
          </p:grpSpPr>
          <p:sp>
            <p:nvSpPr>
              <p:cNvPr id="265" name="Google Shape;265;p17"/>
              <p:cNvSpPr/>
              <p:nvPr/>
            </p:nvSpPr>
            <p:spPr>
              <a:xfrm>
                <a:off x="3168" y="2016"/>
                <a:ext cx="480" cy="57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grpSp>
            <p:nvGrpSpPr>
              <p:cNvPr id="266" name="Google Shape;266;p17"/>
              <p:cNvGrpSpPr/>
              <p:nvPr/>
            </p:nvGrpSpPr>
            <p:grpSpPr>
              <a:xfrm>
                <a:off x="48" y="1440"/>
                <a:ext cx="5616" cy="2001"/>
                <a:chOff x="48" y="1440"/>
                <a:chExt cx="5616" cy="2001"/>
              </a:xfrm>
            </p:grpSpPr>
            <p:cxnSp>
              <p:nvCxnSpPr>
                <p:cNvPr id="267" name="Google Shape;267;p17"/>
                <p:cNvCxnSpPr/>
                <p:nvPr/>
              </p:nvCxnSpPr>
              <p:spPr>
                <a:xfrm>
                  <a:off x="3360" y="2592"/>
                  <a:ext cx="0" cy="192"/>
                </a:xfrm>
                <a:prstGeom prst="straightConnector1">
                  <a:avLst/>
                </a:prstGeom>
                <a:noFill/>
                <a:ln cap="flat" cmpd="sng" w="9525">
                  <a:solidFill>
                    <a:schemeClr val="dk1"/>
                  </a:solidFill>
                  <a:prstDash val="solid"/>
                  <a:round/>
                  <a:headEnd len="sm" w="sm" type="none"/>
                  <a:tailEnd len="sm" w="sm" type="none"/>
                </a:ln>
              </p:spPr>
            </p:cxnSp>
            <p:grpSp>
              <p:nvGrpSpPr>
                <p:cNvPr id="268" name="Google Shape;268;p17"/>
                <p:cNvGrpSpPr/>
                <p:nvPr/>
              </p:nvGrpSpPr>
              <p:grpSpPr>
                <a:xfrm>
                  <a:off x="48" y="1440"/>
                  <a:ext cx="5616" cy="2001"/>
                  <a:chOff x="48" y="1440"/>
                  <a:chExt cx="5616" cy="2001"/>
                </a:xfrm>
              </p:grpSpPr>
              <p:sp>
                <p:nvSpPr>
                  <p:cNvPr id="269" name="Google Shape;269;p17"/>
                  <p:cNvSpPr/>
                  <p:nvPr/>
                </p:nvSpPr>
                <p:spPr>
                  <a:xfrm>
                    <a:off x="96" y="1632"/>
                    <a:ext cx="528" cy="129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270" name="Google Shape;270;p17"/>
                  <p:cNvSpPr/>
                  <p:nvPr/>
                </p:nvSpPr>
                <p:spPr>
                  <a:xfrm>
                    <a:off x="816" y="2016"/>
                    <a:ext cx="480" cy="57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271" name="Google Shape;271;p17"/>
                  <p:cNvSpPr/>
                  <p:nvPr/>
                </p:nvSpPr>
                <p:spPr>
                  <a:xfrm>
                    <a:off x="1392" y="2016"/>
                    <a:ext cx="480" cy="57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272" name="Google Shape;272;p17"/>
                  <p:cNvSpPr/>
                  <p:nvPr/>
                </p:nvSpPr>
                <p:spPr>
                  <a:xfrm>
                    <a:off x="1968" y="2016"/>
                    <a:ext cx="480" cy="57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273" name="Google Shape;273;p17"/>
                  <p:cNvSpPr/>
                  <p:nvPr/>
                </p:nvSpPr>
                <p:spPr>
                  <a:xfrm>
                    <a:off x="2544" y="2016"/>
                    <a:ext cx="480" cy="57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cxnSp>
                <p:nvCxnSpPr>
                  <p:cNvPr id="274" name="Google Shape;274;p17"/>
                  <p:cNvCxnSpPr/>
                  <p:nvPr/>
                </p:nvCxnSpPr>
                <p:spPr>
                  <a:xfrm>
                    <a:off x="624" y="1728"/>
                    <a:ext cx="2736" cy="0"/>
                  </a:xfrm>
                  <a:prstGeom prst="straightConnector1">
                    <a:avLst/>
                  </a:prstGeom>
                  <a:noFill/>
                  <a:ln cap="flat" cmpd="sng" w="9525">
                    <a:solidFill>
                      <a:schemeClr val="dk1"/>
                    </a:solidFill>
                    <a:prstDash val="solid"/>
                    <a:round/>
                    <a:headEnd len="sm" w="sm" type="none"/>
                    <a:tailEnd len="sm" w="sm" type="none"/>
                  </a:ln>
                </p:spPr>
              </p:cxnSp>
              <p:cxnSp>
                <p:nvCxnSpPr>
                  <p:cNvPr id="275" name="Google Shape;275;p17"/>
                  <p:cNvCxnSpPr/>
                  <p:nvPr/>
                </p:nvCxnSpPr>
                <p:spPr>
                  <a:xfrm>
                    <a:off x="624" y="2784"/>
                    <a:ext cx="2736" cy="0"/>
                  </a:xfrm>
                  <a:prstGeom prst="straightConnector1">
                    <a:avLst/>
                  </a:prstGeom>
                  <a:noFill/>
                  <a:ln cap="flat" cmpd="sng" w="9525">
                    <a:solidFill>
                      <a:schemeClr val="dk1"/>
                    </a:solidFill>
                    <a:prstDash val="solid"/>
                    <a:round/>
                    <a:headEnd len="sm" w="sm" type="none"/>
                    <a:tailEnd len="sm" w="sm" type="none"/>
                  </a:ln>
                </p:spPr>
              </p:cxnSp>
              <p:cxnSp>
                <p:nvCxnSpPr>
                  <p:cNvPr id="276" name="Google Shape;276;p17"/>
                  <p:cNvCxnSpPr/>
                  <p:nvPr/>
                </p:nvCxnSpPr>
                <p:spPr>
                  <a:xfrm>
                    <a:off x="1056" y="1728"/>
                    <a:ext cx="0" cy="288"/>
                  </a:xfrm>
                  <a:prstGeom prst="straightConnector1">
                    <a:avLst/>
                  </a:prstGeom>
                  <a:noFill/>
                  <a:ln cap="flat" cmpd="sng" w="9525">
                    <a:solidFill>
                      <a:schemeClr val="dk1"/>
                    </a:solidFill>
                    <a:prstDash val="solid"/>
                    <a:round/>
                    <a:headEnd len="sm" w="sm" type="none"/>
                    <a:tailEnd len="sm" w="sm" type="none"/>
                  </a:ln>
                </p:spPr>
              </p:cxnSp>
              <p:cxnSp>
                <p:nvCxnSpPr>
                  <p:cNvPr id="277" name="Google Shape;277;p17"/>
                  <p:cNvCxnSpPr/>
                  <p:nvPr/>
                </p:nvCxnSpPr>
                <p:spPr>
                  <a:xfrm>
                    <a:off x="1632" y="1728"/>
                    <a:ext cx="0" cy="288"/>
                  </a:xfrm>
                  <a:prstGeom prst="straightConnector1">
                    <a:avLst/>
                  </a:prstGeom>
                  <a:noFill/>
                  <a:ln cap="flat" cmpd="sng" w="9525">
                    <a:solidFill>
                      <a:schemeClr val="dk1"/>
                    </a:solidFill>
                    <a:prstDash val="solid"/>
                    <a:round/>
                    <a:headEnd len="sm" w="sm" type="none"/>
                    <a:tailEnd len="sm" w="sm" type="none"/>
                  </a:ln>
                </p:spPr>
              </p:cxnSp>
              <p:cxnSp>
                <p:nvCxnSpPr>
                  <p:cNvPr id="278" name="Google Shape;278;p17"/>
                  <p:cNvCxnSpPr/>
                  <p:nvPr/>
                </p:nvCxnSpPr>
                <p:spPr>
                  <a:xfrm>
                    <a:off x="2208" y="1728"/>
                    <a:ext cx="0" cy="288"/>
                  </a:xfrm>
                  <a:prstGeom prst="straightConnector1">
                    <a:avLst/>
                  </a:prstGeom>
                  <a:noFill/>
                  <a:ln cap="flat" cmpd="sng" w="9525">
                    <a:solidFill>
                      <a:schemeClr val="dk1"/>
                    </a:solidFill>
                    <a:prstDash val="solid"/>
                    <a:round/>
                    <a:headEnd len="sm" w="sm" type="none"/>
                    <a:tailEnd len="sm" w="sm" type="none"/>
                  </a:ln>
                </p:spPr>
              </p:cxnSp>
              <p:cxnSp>
                <p:nvCxnSpPr>
                  <p:cNvPr id="279" name="Google Shape;279;p17"/>
                  <p:cNvCxnSpPr/>
                  <p:nvPr/>
                </p:nvCxnSpPr>
                <p:spPr>
                  <a:xfrm>
                    <a:off x="2784" y="1728"/>
                    <a:ext cx="0" cy="288"/>
                  </a:xfrm>
                  <a:prstGeom prst="straightConnector1">
                    <a:avLst/>
                  </a:prstGeom>
                  <a:noFill/>
                  <a:ln cap="flat" cmpd="sng" w="9525">
                    <a:solidFill>
                      <a:schemeClr val="dk1"/>
                    </a:solidFill>
                    <a:prstDash val="solid"/>
                    <a:round/>
                    <a:headEnd len="sm" w="sm" type="none"/>
                    <a:tailEnd len="sm" w="sm" type="none"/>
                  </a:ln>
                </p:spPr>
              </p:cxnSp>
              <p:cxnSp>
                <p:nvCxnSpPr>
                  <p:cNvPr id="280" name="Google Shape;280;p17"/>
                  <p:cNvCxnSpPr/>
                  <p:nvPr/>
                </p:nvCxnSpPr>
                <p:spPr>
                  <a:xfrm>
                    <a:off x="1056" y="2592"/>
                    <a:ext cx="0" cy="192"/>
                  </a:xfrm>
                  <a:prstGeom prst="straightConnector1">
                    <a:avLst/>
                  </a:prstGeom>
                  <a:noFill/>
                  <a:ln cap="flat" cmpd="sng" w="9525">
                    <a:solidFill>
                      <a:schemeClr val="dk1"/>
                    </a:solidFill>
                    <a:prstDash val="solid"/>
                    <a:round/>
                    <a:headEnd len="sm" w="sm" type="none"/>
                    <a:tailEnd len="sm" w="sm" type="none"/>
                  </a:ln>
                </p:spPr>
              </p:cxnSp>
              <p:cxnSp>
                <p:nvCxnSpPr>
                  <p:cNvPr id="281" name="Google Shape;281;p17"/>
                  <p:cNvCxnSpPr/>
                  <p:nvPr/>
                </p:nvCxnSpPr>
                <p:spPr>
                  <a:xfrm>
                    <a:off x="1632" y="2592"/>
                    <a:ext cx="0" cy="192"/>
                  </a:xfrm>
                  <a:prstGeom prst="straightConnector1">
                    <a:avLst/>
                  </a:prstGeom>
                  <a:noFill/>
                  <a:ln cap="flat" cmpd="sng" w="9525">
                    <a:solidFill>
                      <a:schemeClr val="dk1"/>
                    </a:solidFill>
                    <a:prstDash val="solid"/>
                    <a:round/>
                    <a:headEnd len="sm" w="sm" type="none"/>
                    <a:tailEnd len="sm" w="sm" type="none"/>
                  </a:ln>
                </p:spPr>
              </p:cxnSp>
              <p:cxnSp>
                <p:nvCxnSpPr>
                  <p:cNvPr id="282" name="Google Shape;282;p17"/>
                  <p:cNvCxnSpPr/>
                  <p:nvPr/>
                </p:nvCxnSpPr>
                <p:spPr>
                  <a:xfrm>
                    <a:off x="2208" y="2592"/>
                    <a:ext cx="0" cy="192"/>
                  </a:xfrm>
                  <a:prstGeom prst="straightConnector1">
                    <a:avLst/>
                  </a:prstGeom>
                  <a:noFill/>
                  <a:ln cap="flat" cmpd="sng" w="9525">
                    <a:solidFill>
                      <a:schemeClr val="dk1"/>
                    </a:solidFill>
                    <a:prstDash val="solid"/>
                    <a:round/>
                    <a:headEnd len="sm" w="sm" type="none"/>
                    <a:tailEnd len="sm" w="sm" type="none"/>
                  </a:ln>
                </p:spPr>
              </p:cxnSp>
              <p:cxnSp>
                <p:nvCxnSpPr>
                  <p:cNvPr id="283" name="Google Shape;283;p17"/>
                  <p:cNvCxnSpPr/>
                  <p:nvPr/>
                </p:nvCxnSpPr>
                <p:spPr>
                  <a:xfrm>
                    <a:off x="2784" y="2592"/>
                    <a:ext cx="0" cy="192"/>
                  </a:xfrm>
                  <a:prstGeom prst="straightConnector1">
                    <a:avLst/>
                  </a:prstGeom>
                  <a:noFill/>
                  <a:ln cap="flat" cmpd="sng" w="9525">
                    <a:solidFill>
                      <a:schemeClr val="dk1"/>
                    </a:solidFill>
                    <a:prstDash val="solid"/>
                    <a:round/>
                    <a:headEnd len="sm" w="sm" type="none"/>
                    <a:tailEnd len="sm" w="sm" type="none"/>
                  </a:ln>
                </p:spPr>
              </p:cxnSp>
              <p:sp>
                <p:nvSpPr>
                  <p:cNvPr id="284" name="Google Shape;284;p17"/>
                  <p:cNvSpPr/>
                  <p:nvPr/>
                </p:nvSpPr>
                <p:spPr>
                  <a:xfrm>
                    <a:off x="3984" y="1440"/>
                    <a:ext cx="1680" cy="1584"/>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cxnSp>
                <p:nvCxnSpPr>
                  <p:cNvPr id="285" name="Google Shape;285;p17"/>
                  <p:cNvCxnSpPr/>
                  <p:nvPr/>
                </p:nvCxnSpPr>
                <p:spPr>
                  <a:xfrm>
                    <a:off x="4560" y="1440"/>
                    <a:ext cx="0" cy="1584"/>
                  </a:xfrm>
                  <a:prstGeom prst="straightConnector1">
                    <a:avLst/>
                  </a:prstGeom>
                  <a:noFill/>
                  <a:ln cap="flat" cmpd="sng" w="9525">
                    <a:solidFill>
                      <a:schemeClr val="dk1"/>
                    </a:solidFill>
                    <a:prstDash val="solid"/>
                    <a:round/>
                    <a:headEnd len="sm" w="sm" type="none"/>
                    <a:tailEnd len="sm" w="sm" type="none"/>
                  </a:ln>
                </p:spPr>
              </p:cxnSp>
              <p:cxnSp>
                <p:nvCxnSpPr>
                  <p:cNvPr id="286" name="Google Shape;286;p17"/>
                  <p:cNvCxnSpPr/>
                  <p:nvPr/>
                </p:nvCxnSpPr>
                <p:spPr>
                  <a:xfrm>
                    <a:off x="5088" y="1440"/>
                    <a:ext cx="0" cy="1584"/>
                  </a:xfrm>
                  <a:prstGeom prst="straightConnector1">
                    <a:avLst/>
                  </a:prstGeom>
                  <a:noFill/>
                  <a:ln cap="flat" cmpd="sng" w="9525">
                    <a:solidFill>
                      <a:schemeClr val="dk1"/>
                    </a:solidFill>
                    <a:prstDash val="solid"/>
                    <a:round/>
                    <a:headEnd len="sm" w="sm" type="none"/>
                    <a:tailEnd len="sm" w="sm" type="none"/>
                  </a:ln>
                </p:spPr>
              </p:cxnSp>
              <p:cxnSp>
                <p:nvCxnSpPr>
                  <p:cNvPr id="287" name="Google Shape;287;p17"/>
                  <p:cNvCxnSpPr/>
                  <p:nvPr/>
                </p:nvCxnSpPr>
                <p:spPr>
                  <a:xfrm>
                    <a:off x="3984" y="2208"/>
                    <a:ext cx="1680" cy="0"/>
                  </a:xfrm>
                  <a:prstGeom prst="straightConnector1">
                    <a:avLst/>
                  </a:prstGeom>
                  <a:noFill/>
                  <a:ln cap="flat" cmpd="sng" w="9525">
                    <a:solidFill>
                      <a:schemeClr val="dk1"/>
                    </a:solidFill>
                    <a:prstDash val="solid"/>
                    <a:round/>
                    <a:headEnd len="sm" w="sm" type="none"/>
                    <a:tailEnd len="sm" w="sm" type="none"/>
                  </a:ln>
                </p:spPr>
              </p:cxnSp>
              <p:sp>
                <p:nvSpPr>
                  <p:cNvPr id="288" name="Google Shape;288;p17"/>
                  <p:cNvSpPr txBox="1"/>
                  <p:nvPr/>
                </p:nvSpPr>
                <p:spPr>
                  <a:xfrm>
                    <a:off x="48" y="1706"/>
                    <a:ext cx="643" cy="98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CPU</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General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purpose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Micro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processor</a:t>
                    </a:r>
                    <a:endParaRPr b="0" i="0" sz="1400" u="none" cap="none" strike="noStrike">
                      <a:solidFill>
                        <a:srgbClr val="000000"/>
                      </a:solidFill>
                      <a:latin typeface="Arial"/>
                      <a:ea typeface="Arial"/>
                      <a:cs typeface="Arial"/>
                      <a:sym typeface="Arial"/>
                    </a:endParaRPr>
                  </a:p>
                </p:txBody>
              </p:sp>
              <p:sp>
                <p:nvSpPr>
                  <p:cNvPr id="289" name="Google Shape;289;p17"/>
                  <p:cNvSpPr txBox="1"/>
                  <p:nvPr/>
                </p:nvSpPr>
                <p:spPr>
                  <a:xfrm>
                    <a:off x="768" y="1440"/>
                    <a:ext cx="680"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Data Bus</a:t>
                    </a:r>
                    <a:endParaRPr b="0" i="0" sz="1400" u="none" cap="none" strike="noStrike">
                      <a:solidFill>
                        <a:srgbClr val="000000"/>
                      </a:solidFill>
                      <a:latin typeface="Arial"/>
                      <a:ea typeface="Arial"/>
                      <a:cs typeface="Arial"/>
                      <a:sym typeface="Arial"/>
                    </a:endParaRPr>
                  </a:p>
                </p:txBody>
              </p:sp>
              <p:sp>
                <p:nvSpPr>
                  <p:cNvPr id="290" name="Google Shape;290;p17"/>
                  <p:cNvSpPr txBox="1"/>
                  <p:nvPr/>
                </p:nvSpPr>
                <p:spPr>
                  <a:xfrm>
                    <a:off x="768" y="2880"/>
                    <a:ext cx="888"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Address Bus</a:t>
                    </a:r>
                    <a:endParaRPr b="0" i="0" sz="1400" u="none" cap="none" strike="noStrike">
                      <a:solidFill>
                        <a:srgbClr val="000000"/>
                      </a:solidFill>
                      <a:latin typeface="Arial"/>
                      <a:ea typeface="Arial"/>
                      <a:cs typeface="Arial"/>
                      <a:sym typeface="Arial"/>
                    </a:endParaRPr>
                  </a:p>
                </p:txBody>
              </p:sp>
              <p:sp>
                <p:nvSpPr>
                  <p:cNvPr id="291" name="Google Shape;291;p17"/>
                  <p:cNvSpPr txBox="1"/>
                  <p:nvPr/>
                </p:nvSpPr>
                <p:spPr>
                  <a:xfrm>
                    <a:off x="836" y="2160"/>
                    <a:ext cx="460"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RAM</a:t>
                    </a:r>
                    <a:endParaRPr b="0" i="0" sz="1400" u="none" cap="none" strike="noStrike">
                      <a:solidFill>
                        <a:srgbClr val="000000"/>
                      </a:solidFill>
                      <a:latin typeface="Arial"/>
                      <a:ea typeface="Arial"/>
                      <a:cs typeface="Arial"/>
                      <a:sym typeface="Arial"/>
                    </a:endParaRPr>
                  </a:p>
                </p:txBody>
              </p:sp>
              <p:sp>
                <p:nvSpPr>
                  <p:cNvPr id="292" name="Google Shape;292;p17"/>
                  <p:cNvSpPr txBox="1"/>
                  <p:nvPr/>
                </p:nvSpPr>
                <p:spPr>
                  <a:xfrm>
                    <a:off x="1392" y="2160"/>
                    <a:ext cx="468"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ROM</a:t>
                    </a:r>
                    <a:endParaRPr b="0" i="0" sz="1400" u="none" cap="none" strike="noStrike">
                      <a:solidFill>
                        <a:srgbClr val="000000"/>
                      </a:solidFill>
                      <a:latin typeface="Arial"/>
                      <a:ea typeface="Arial"/>
                      <a:cs typeface="Arial"/>
                      <a:sym typeface="Arial"/>
                    </a:endParaRPr>
                  </a:p>
                </p:txBody>
              </p:sp>
              <p:sp>
                <p:nvSpPr>
                  <p:cNvPr id="293" name="Google Shape;293;p17"/>
                  <p:cNvSpPr txBox="1"/>
                  <p:nvPr/>
                </p:nvSpPr>
                <p:spPr>
                  <a:xfrm>
                    <a:off x="2016" y="2112"/>
                    <a:ext cx="396"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I / 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Port</a:t>
                    </a:r>
                    <a:endParaRPr b="0" i="0" sz="1400" u="none" cap="none" strike="noStrike">
                      <a:solidFill>
                        <a:srgbClr val="000000"/>
                      </a:solidFill>
                      <a:latin typeface="Arial"/>
                      <a:ea typeface="Arial"/>
                      <a:cs typeface="Arial"/>
                      <a:sym typeface="Arial"/>
                    </a:endParaRPr>
                  </a:p>
                </p:txBody>
              </p:sp>
              <p:sp>
                <p:nvSpPr>
                  <p:cNvPr id="294" name="Google Shape;294;p17"/>
                  <p:cNvSpPr txBox="1"/>
                  <p:nvPr/>
                </p:nvSpPr>
                <p:spPr>
                  <a:xfrm>
                    <a:off x="2544" y="2160"/>
                    <a:ext cx="500"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Timer</a:t>
                    </a:r>
                    <a:endParaRPr b="0" i="0" sz="1400" u="none" cap="none" strike="noStrike">
                      <a:solidFill>
                        <a:srgbClr val="000000"/>
                      </a:solidFill>
                      <a:latin typeface="Arial"/>
                      <a:ea typeface="Arial"/>
                      <a:cs typeface="Arial"/>
                      <a:sym typeface="Arial"/>
                    </a:endParaRPr>
                  </a:p>
                </p:txBody>
              </p:sp>
              <p:sp>
                <p:nvSpPr>
                  <p:cNvPr id="295" name="Google Shape;295;p17"/>
                  <p:cNvSpPr txBox="1"/>
                  <p:nvPr/>
                </p:nvSpPr>
                <p:spPr>
                  <a:xfrm>
                    <a:off x="3168" y="2016"/>
                    <a:ext cx="476" cy="5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Serial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COM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Port</a:t>
                    </a:r>
                    <a:endParaRPr b="0" i="0" sz="1400" u="none" cap="none" strike="noStrike">
                      <a:solidFill>
                        <a:srgbClr val="000000"/>
                      </a:solidFill>
                      <a:latin typeface="Arial"/>
                      <a:ea typeface="Arial"/>
                      <a:cs typeface="Arial"/>
                      <a:sym typeface="Arial"/>
                    </a:endParaRPr>
                  </a:p>
                </p:txBody>
              </p:sp>
              <p:sp>
                <p:nvSpPr>
                  <p:cNvPr id="296" name="Google Shape;296;p17"/>
                  <p:cNvSpPr txBox="1"/>
                  <p:nvPr/>
                </p:nvSpPr>
                <p:spPr>
                  <a:xfrm>
                    <a:off x="4052" y="1632"/>
                    <a:ext cx="412"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CPU</a:t>
                    </a:r>
                    <a:endParaRPr b="0" i="0" sz="1400" u="none" cap="none" strike="noStrike">
                      <a:solidFill>
                        <a:srgbClr val="000000"/>
                      </a:solidFill>
                      <a:latin typeface="Arial"/>
                      <a:ea typeface="Arial"/>
                      <a:cs typeface="Arial"/>
                      <a:sym typeface="Arial"/>
                    </a:endParaRPr>
                  </a:p>
                </p:txBody>
              </p:sp>
              <p:sp>
                <p:nvSpPr>
                  <p:cNvPr id="297" name="Google Shape;297;p17"/>
                  <p:cNvSpPr txBox="1"/>
                  <p:nvPr/>
                </p:nvSpPr>
                <p:spPr>
                  <a:xfrm>
                    <a:off x="4580" y="1632"/>
                    <a:ext cx="460"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RAM</a:t>
                    </a:r>
                    <a:endParaRPr b="0" i="0" sz="1400" u="none" cap="none" strike="noStrike">
                      <a:solidFill>
                        <a:srgbClr val="000000"/>
                      </a:solidFill>
                      <a:latin typeface="Arial"/>
                      <a:ea typeface="Arial"/>
                      <a:cs typeface="Arial"/>
                      <a:sym typeface="Arial"/>
                    </a:endParaRPr>
                  </a:p>
                </p:txBody>
              </p:sp>
              <p:sp>
                <p:nvSpPr>
                  <p:cNvPr id="298" name="Google Shape;298;p17"/>
                  <p:cNvSpPr txBox="1"/>
                  <p:nvPr/>
                </p:nvSpPr>
                <p:spPr>
                  <a:xfrm>
                    <a:off x="5136" y="1632"/>
                    <a:ext cx="468"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ROM</a:t>
                    </a:r>
                    <a:endParaRPr b="0" i="0" sz="1400" u="none" cap="none" strike="noStrike">
                      <a:solidFill>
                        <a:srgbClr val="000000"/>
                      </a:solidFill>
                      <a:latin typeface="Arial"/>
                      <a:ea typeface="Arial"/>
                      <a:cs typeface="Arial"/>
                      <a:sym typeface="Arial"/>
                    </a:endParaRPr>
                  </a:p>
                </p:txBody>
              </p:sp>
              <p:sp>
                <p:nvSpPr>
                  <p:cNvPr id="299" name="Google Shape;299;p17"/>
                  <p:cNvSpPr txBox="1"/>
                  <p:nvPr/>
                </p:nvSpPr>
                <p:spPr>
                  <a:xfrm>
                    <a:off x="4068" y="2380"/>
                    <a:ext cx="396"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I / 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Port</a:t>
                    </a:r>
                    <a:endParaRPr b="0" i="0" sz="1400" u="none" cap="none" strike="noStrike">
                      <a:solidFill>
                        <a:srgbClr val="000000"/>
                      </a:solidFill>
                      <a:latin typeface="Arial"/>
                      <a:ea typeface="Arial"/>
                      <a:cs typeface="Arial"/>
                      <a:sym typeface="Arial"/>
                    </a:endParaRPr>
                  </a:p>
                </p:txBody>
              </p:sp>
              <p:sp>
                <p:nvSpPr>
                  <p:cNvPr id="300" name="Google Shape;300;p17"/>
                  <p:cNvSpPr txBox="1"/>
                  <p:nvPr/>
                </p:nvSpPr>
                <p:spPr>
                  <a:xfrm>
                    <a:off x="4560" y="2448"/>
                    <a:ext cx="500"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Timer</a:t>
                    </a:r>
                    <a:endParaRPr b="0" i="0" sz="1400" u="none" cap="none" strike="noStrike">
                      <a:solidFill>
                        <a:srgbClr val="000000"/>
                      </a:solidFill>
                      <a:latin typeface="Arial"/>
                      <a:ea typeface="Arial"/>
                      <a:cs typeface="Arial"/>
                      <a:sym typeface="Arial"/>
                    </a:endParaRPr>
                  </a:p>
                </p:txBody>
              </p:sp>
              <p:sp>
                <p:nvSpPr>
                  <p:cNvPr id="301" name="Google Shape;301;p17"/>
                  <p:cNvSpPr txBox="1"/>
                  <p:nvPr/>
                </p:nvSpPr>
                <p:spPr>
                  <a:xfrm>
                    <a:off x="5136" y="2352"/>
                    <a:ext cx="476" cy="5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Serial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COM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Port</a:t>
                    </a:r>
                    <a:endParaRPr b="0" i="0" sz="1400" u="none" cap="none" strike="noStrike">
                      <a:solidFill>
                        <a:srgbClr val="000000"/>
                      </a:solidFill>
                      <a:latin typeface="Arial"/>
                      <a:ea typeface="Arial"/>
                      <a:cs typeface="Arial"/>
                      <a:sym typeface="Arial"/>
                    </a:endParaRPr>
                  </a:p>
                </p:txBody>
              </p:sp>
              <p:sp>
                <p:nvSpPr>
                  <p:cNvPr id="302" name="Google Shape;302;p17"/>
                  <p:cNvSpPr txBox="1"/>
                  <p:nvPr/>
                </p:nvSpPr>
                <p:spPr>
                  <a:xfrm>
                    <a:off x="380" y="3208"/>
                    <a:ext cx="1567"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Microprocessor System</a:t>
                    </a:r>
                    <a:endParaRPr b="0" i="0" sz="1400" u="none" cap="none" strike="noStrike">
                      <a:solidFill>
                        <a:srgbClr val="000000"/>
                      </a:solidFill>
                      <a:latin typeface="Arial"/>
                      <a:ea typeface="Arial"/>
                      <a:cs typeface="Arial"/>
                      <a:sym typeface="Arial"/>
                    </a:endParaRPr>
                  </a:p>
                </p:txBody>
              </p:sp>
            </p:grpSp>
          </p:grpSp>
        </p:grpSp>
        <p:sp>
          <p:nvSpPr>
            <p:cNvPr id="303" name="Google Shape;303;p17"/>
            <p:cNvSpPr txBox="1"/>
            <p:nvPr/>
          </p:nvSpPr>
          <p:spPr>
            <a:xfrm>
              <a:off x="4368" y="3247"/>
              <a:ext cx="1100"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Microcontroller</a:t>
              </a:r>
              <a:endParaRPr b="0" i="0" sz="1400" u="none" cap="none" strike="noStrike">
                <a:solidFill>
                  <a:srgbClr val="000000"/>
                </a:solidFill>
                <a:latin typeface="Arial"/>
                <a:ea typeface="Arial"/>
                <a:cs typeface="Arial"/>
                <a:sym typeface="Arial"/>
              </a:endParaRPr>
            </a:p>
          </p:txBody>
        </p:sp>
      </p:grpSp>
      <p:sp>
        <p:nvSpPr>
          <p:cNvPr id="304" name="Google Shape;304;p17"/>
          <p:cNvSpPr txBox="1"/>
          <p:nvPr>
            <p:ph idx="11" type="ftr"/>
          </p:nvPr>
        </p:nvSpPr>
        <p:spPr>
          <a:xfrm>
            <a:off x="1828800" y="6355080"/>
            <a:ext cx="61722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pic>
        <p:nvPicPr>
          <p:cNvPr descr="BRAC University Jobs 2020- Jobs in BRAC University- careerz360.com" id="305" name="Google Shape;305;p17"/>
          <p:cNvPicPr preferRelativeResize="0"/>
          <p:nvPr/>
        </p:nvPicPr>
        <p:blipFill rotWithShape="1">
          <a:blip r:embed="rId3">
            <a:alphaModFix/>
          </a:blip>
          <a:srcRect b="0" l="0" r="0" t="0"/>
          <a:stretch/>
        </p:blipFill>
        <p:spPr>
          <a:xfrm>
            <a:off x="8112414" y="16958"/>
            <a:ext cx="990600" cy="990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Times New Roman"/>
              <a:buNone/>
            </a:pPr>
            <a:r>
              <a:rPr lang="en-US">
                <a:solidFill>
                  <a:schemeClr val="dk1"/>
                </a:solidFill>
                <a:latin typeface="Times New Roman"/>
                <a:ea typeface="Times New Roman"/>
                <a:cs typeface="Times New Roman"/>
                <a:sym typeface="Times New Roman"/>
              </a:rPr>
              <a:t>Assembly Language</a:t>
            </a:r>
            <a:endParaRPr/>
          </a:p>
        </p:txBody>
      </p:sp>
      <p:sp>
        <p:nvSpPr>
          <p:cNvPr id="311" name="Google Shape;311;p1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312" name="Google Shape;312;p1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Autofit/>
          </a:bodyPr>
          <a:lstStyle/>
          <a:p>
            <a:pPr indent="-274320" lvl="0" marL="274320" rtl="0" algn="l">
              <a:lnSpc>
                <a:spcPct val="100000"/>
              </a:lnSpc>
              <a:spcBef>
                <a:spcPts val="0"/>
              </a:spcBef>
              <a:spcAft>
                <a:spcPts val="0"/>
              </a:spcAft>
              <a:buSzPts val="1824"/>
              <a:buChar char="?"/>
            </a:pPr>
            <a:r>
              <a:rPr b="1" lang="en-US" sz="2400">
                <a:latin typeface="Times New Roman"/>
                <a:ea typeface="Times New Roman"/>
                <a:cs typeface="Times New Roman"/>
                <a:sym typeface="Times New Roman"/>
              </a:rPr>
              <a:t>Assembly language:</a:t>
            </a:r>
            <a:endParaRPr b="1" sz="2400">
              <a:latin typeface="Times New Roman"/>
              <a:ea typeface="Times New Roman"/>
              <a:cs typeface="Times New Roman"/>
              <a:sym typeface="Times New Roman"/>
            </a:endParaRPr>
          </a:p>
          <a:p>
            <a:pPr indent="-274320" lvl="1" marL="548640" rtl="0" algn="just">
              <a:lnSpc>
                <a:spcPct val="100000"/>
              </a:lnSpc>
              <a:spcBef>
                <a:spcPts val="500"/>
              </a:spcBef>
              <a:spcAft>
                <a:spcPts val="0"/>
              </a:spcAft>
              <a:buSzPts val="1672"/>
              <a:buChar char="?"/>
            </a:pPr>
            <a:r>
              <a:rPr lang="en-US" sz="2200">
                <a:solidFill>
                  <a:schemeClr val="dk1"/>
                </a:solidFill>
                <a:latin typeface="Times New Roman"/>
                <a:ea typeface="Times New Roman"/>
                <a:cs typeface="Times New Roman"/>
                <a:sym typeface="Times New Roman"/>
              </a:rPr>
              <a:t>Assembly language is used in programming because it is difficult to program a microprocessor in its native machine language.</a:t>
            </a:r>
            <a:endParaRPr/>
          </a:p>
          <a:p>
            <a:pPr indent="-158496" lvl="1" marL="548640" rtl="0" algn="just">
              <a:lnSpc>
                <a:spcPct val="100000"/>
              </a:lnSpc>
              <a:spcBef>
                <a:spcPts val="500"/>
              </a:spcBef>
              <a:spcAft>
                <a:spcPts val="0"/>
              </a:spcAft>
              <a:buSzPts val="1824"/>
              <a:buNone/>
            </a:pPr>
            <a:r>
              <a:t/>
            </a:r>
            <a:endParaRPr sz="2400">
              <a:solidFill>
                <a:schemeClr val="dk1"/>
              </a:solidFill>
              <a:latin typeface="Times New Roman"/>
              <a:ea typeface="Times New Roman"/>
              <a:cs typeface="Times New Roman"/>
              <a:sym typeface="Times New Roman"/>
            </a:endParaRPr>
          </a:p>
          <a:p>
            <a:pPr indent="-274320" lvl="0" marL="274320" rtl="0" algn="l">
              <a:lnSpc>
                <a:spcPct val="100000"/>
              </a:lnSpc>
              <a:spcBef>
                <a:spcPts val="600"/>
              </a:spcBef>
              <a:spcAft>
                <a:spcPts val="0"/>
              </a:spcAft>
              <a:buSzPts val="1824"/>
              <a:buChar char="?"/>
            </a:pPr>
            <a:r>
              <a:rPr b="1" lang="en-US" sz="2400">
                <a:latin typeface="Times New Roman"/>
                <a:ea typeface="Times New Roman"/>
                <a:cs typeface="Times New Roman"/>
                <a:sym typeface="Times New Roman"/>
              </a:rPr>
              <a:t>Assembler:</a:t>
            </a:r>
            <a:endParaRPr b="1" sz="2400">
              <a:latin typeface="Times New Roman"/>
              <a:ea typeface="Times New Roman"/>
              <a:cs typeface="Times New Roman"/>
              <a:sym typeface="Times New Roman"/>
            </a:endParaRPr>
          </a:p>
          <a:p>
            <a:pPr indent="-274320" lvl="1" marL="548640" rtl="0" algn="just">
              <a:lnSpc>
                <a:spcPct val="100000"/>
              </a:lnSpc>
              <a:spcBef>
                <a:spcPts val="500"/>
              </a:spcBef>
              <a:spcAft>
                <a:spcPts val="0"/>
              </a:spcAft>
              <a:buSzPts val="1672"/>
              <a:buChar char="?"/>
            </a:pPr>
            <a:r>
              <a:rPr lang="en-US" sz="2200">
                <a:solidFill>
                  <a:schemeClr val="dk1"/>
                </a:solidFill>
                <a:latin typeface="Times New Roman"/>
                <a:ea typeface="Times New Roman"/>
                <a:cs typeface="Times New Roman"/>
                <a:sym typeface="Times New Roman"/>
              </a:rPr>
              <a:t>An assembler is a program that converts assembly language into machine language.</a:t>
            </a:r>
            <a:endParaRPr/>
          </a:p>
          <a:p>
            <a:pPr indent="-168148" lvl="1" marL="548640" rtl="0" algn="just">
              <a:lnSpc>
                <a:spcPct val="100000"/>
              </a:lnSpc>
              <a:spcBef>
                <a:spcPts val="500"/>
              </a:spcBef>
              <a:spcAft>
                <a:spcPts val="0"/>
              </a:spcAft>
              <a:buSzPts val="1672"/>
              <a:buNone/>
            </a:pPr>
            <a:r>
              <a:t/>
            </a:r>
            <a:endParaRPr sz="2200">
              <a:solidFill>
                <a:schemeClr val="dk1"/>
              </a:solidFill>
              <a:latin typeface="Times New Roman"/>
              <a:ea typeface="Times New Roman"/>
              <a:cs typeface="Times New Roman"/>
              <a:sym typeface="Times New Roman"/>
            </a:endParaRPr>
          </a:p>
          <a:p>
            <a:pPr indent="-274320" lvl="1" marL="548640" rtl="0" algn="just">
              <a:lnSpc>
                <a:spcPct val="100000"/>
              </a:lnSpc>
              <a:spcBef>
                <a:spcPts val="500"/>
              </a:spcBef>
              <a:spcAft>
                <a:spcPts val="0"/>
              </a:spcAft>
              <a:buSzPts val="1672"/>
              <a:buChar char="?"/>
            </a:pPr>
            <a:r>
              <a:rPr lang="en-US" sz="2200">
                <a:solidFill>
                  <a:schemeClr val="dk1"/>
                </a:solidFill>
                <a:latin typeface="Times New Roman"/>
                <a:ea typeface="Times New Roman"/>
                <a:cs typeface="Times New Roman"/>
                <a:sym typeface="Times New Roman"/>
              </a:rPr>
              <a:t>Assemblers are similar to compilers in that they produce executable code. However, assemblers are more simplistic.</a:t>
            </a:r>
            <a:endParaRPr sz="2200">
              <a:solidFill>
                <a:schemeClr val="dk1"/>
              </a:solidFill>
              <a:latin typeface="Times New Roman"/>
              <a:ea typeface="Times New Roman"/>
              <a:cs typeface="Times New Roman"/>
              <a:sym typeface="Times New Roman"/>
            </a:endParaRPr>
          </a:p>
        </p:txBody>
      </p:sp>
      <p:sp>
        <p:nvSpPr>
          <p:cNvPr id="313" name="Google Shape;313;p18"/>
          <p:cNvSpPr txBox="1"/>
          <p:nvPr>
            <p:ph idx="11" type="ftr"/>
          </p:nvPr>
        </p:nvSpPr>
        <p:spPr>
          <a:xfrm>
            <a:off x="1828800" y="6355080"/>
            <a:ext cx="61722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pic>
        <p:nvPicPr>
          <p:cNvPr descr="BRAC University Jobs 2020- Jobs in BRAC University- careerz360.com" id="314" name="Google Shape;314;p18"/>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Times New Roman"/>
              <a:buNone/>
            </a:pPr>
            <a:r>
              <a:rPr lang="en-US">
                <a:solidFill>
                  <a:schemeClr val="dk1"/>
                </a:solidFill>
                <a:latin typeface="Times New Roman"/>
                <a:ea typeface="Times New Roman"/>
                <a:cs typeface="Times New Roman"/>
                <a:sym typeface="Times New Roman"/>
              </a:rPr>
              <a:t>High level language vs Machine language</a:t>
            </a:r>
            <a:endParaRPr>
              <a:solidFill>
                <a:schemeClr val="dk1"/>
              </a:solidFill>
              <a:latin typeface="Times New Roman"/>
              <a:ea typeface="Times New Roman"/>
              <a:cs typeface="Times New Roman"/>
              <a:sym typeface="Times New Roman"/>
            </a:endParaRPr>
          </a:p>
        </p:txBody>
      </p:sp>
      <p:sp>
        <p:nvSpPr>
          <p:cNvPr id="320" name="Google Shape;320;p1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321" name="Google Shape;321;p1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672"/>
              <a:buChar char="?"/>
            </a:pPr>
            <a:r>
              <a:rPr lang="en-US" sz="2200">
                <a:latin typeface="Times New Roman"/>
                <a:ea typeface="Times New Roman"/>
                <a:cs typeface="Times New Roman"/>
                <a:sym typeface="Times New Roman"/>
              </a:rPr>
              <a:t>int a, b, c;</a:t>
            </a:r>
            <a:br>
              <a:rPr lang="en-US" sz="2200">
                <a:latin typeface="Times New Roman"/>
                <a:ea typeface="Times New Roman"/>
                <a:cs typeface="Times New Roman"/>
                <a:sym typeface="Times New Roman"/>
              </a:rPr>
            </a:br>
            <a:r>
              <a:rPr lang="en-US" sz="2200">
                <a:latin typeface="Times New Roman"/>
                <a:ea typeface="Times New Roman"/>
                <a:cs typeface="Times New Roman"/>
                <a:sym typeface="Times New Roman"/>
              </a:rPr>
              <a:t>a = 83;</a:t>
            </a:r>
            <a:br>
              <a:rPr lang="en-US" sz="2200">
                <a:latin typeface="Times New Roman"/>
                <a:ea typeface="Times New Roman"/>
                <a:cs typeface="Times New Roman"/>
                <a:sym typeface="Times New Roman"/>
              </a:rPr>
            </a:br>
            <a:r>
              <a:rPr lang="en-US" sz="2200">
                <a:latin typeface="Times New Roman"/>
                <a:ea typeface="Times New Roman"/>
                <a:cs typeface="Times New Roman"/>
                <a:sym typeface="Times New Roman"/>
              </a:rPr>
              <a:t>b = -2;				</a:t>
            </a:r>
            <a:r>
              <a:rPr b="1" lang="en-US" sz="2200">
                <a:latin typeface="Times New Roman"/>
                <a:ea typeface="Times New Roman"/>
                <a:cs typeface="Times New Roman"/>
                <a:sym typeface="Times New Roman"/>
              </a:rPr>
              <a:t>// high level language</a:t>
            </a:r>
            <a:br>
              <a:rPr lang="en-US" sz="2200">
                <a:latin typeface="Times New Roman"/>
                <a:ea typeface="Times New Roman"/>
                <a:cs typeface="Times New Roman"/>
                <a:sym typeface="Times New Roman"/>
              </a:rPr>
            </a:br>
            <a:r>
              <a:rPr lang="en-US" sz="2200">
                <a:latin typeface="Times New Roman"/>
                <a:ea typeface="Times New Roman"/>
                <a:cs typeface="Times New Roman"/>
                <a:sym typeface="Times New Roman"/>
              </a:rPr>
              <a:t>c = a + b;</a:t>
            </a:r>
            <a:endParaRPr/>
          </a:p>
          <a:p>
            <a:pPr indent="0" lvl="0" marL="0" rtl="0" algn="l">
              <a:lnSpc>
                <a:spcPct val="100000"/>
              </a:lnSpc>
              <a:spcBef>
                <a:spcPts val="600"/>
              </a:spcBef>
              <a:spcAft>
                <a:spcPts val="0"/>
              </a:spcAft>
              <a:buSzPts val="1672"/>
              <a:buNone/>
            </a:pPr>
            <a:r>
              <a:rPr lang="en-US" sz="2200">
                <a:latin typeface="Times New Roman"/>
                <a:ea typeface="Times New Roman"/>
                <a:cs typeface="Times New Roman"/>
                <a:sym typeface="Times New Roman"/>
              </a:rPr>
              <a:t>--------------------------------------------------------------------------------------------------------------------------------------------------------------------------</a:t>
            </a:r>
            <a:endParaRPr sz="2200">
              <a:latin typeface="Times New Roman"/>
              <a:ea typeface="Times New Roman"/>
              <a:cs typeface="Times New Roman"/>
              <a:sym typeface="Times New Roman"/>
            </a:endParaRPr>
          </a:p>
          <a:p>
            <a:pPr indent="-274320" lvl="0" marL="274320" rtl="0" algn="l">
              <a:lnSpc>
                <a:spcPct val="100000"/>
              </a:lnSpc>
              <a:spcBef>
                <a:spcPts val="600"/>
              </a:spcBef>
              <a:spcAft>
                <a:spcPts val="0"/>
              </a:spcAft>
              <a:buSzPts val="1672"/>
              <a:buChar char="?"/>
            </a:pPr>
            <a:r>
              <a:rPr lang="en-US" sz="2200">
                <a:latin typeface="Times New Roman"/>
                <a:ea typeface="Times New Roman"/>
                <a:cs typeface="Times New Roman"/>
                <a:sym typeface="Times New Roman"/>
              </a:rPr>
              <a:t>0010 0001 0000 0100</a:t>
            </a:r>
            <a:endParaRPr/>
          </a:p>
          <a:p>
            <a:pPr indent="-274320" lvl="0" marL="274320" rtl="0" algn="l">
              <a:lnSpc>
                <a:spcPct val="100000"/>
              </a:lnSpc>
              <a:spcBef>
                <a:spcPts val="600"/>
              </a:spcBef>
              <a:spcAft>
                <a:spcPts val="0"/>
              </a:spcAft>
              <a:buSzPts val="1672"/>
              <a:buChar char="?"/>
            </a:pPr>
            <a:r>
              <a:rPr lang="en-US" sz="2200">
                <a:latin typeface="Times New Roman"/>
                <a:ea typeface="Times New Roman"/>
                <a:cs typeface="Times New Roman"/>
                <a:sym typeface="Times New Roman"/>
              </a:rPr>
              <a:t>0001 0001 0000 0101</a:t>
            </a:r>
            <a:endParaRPr/>
          </a:p>
          <a:p>
            <a:pPr indent="-274320" lvl="0" marL="274320" rtl="0" algn="l">
              <a:lnSpc>
                <a:spcPct val="100000"/>
              </a:lnSpc>
              <a:spcBef>
                <a:spcPts val="600"/>
              </a:spcBef>
              <a:spcAft>
                <a:spcPts val="0"/>
              </a:spcAft>
              <a:buSzPts val="1672"/>
              <a:buChar char="?"/>
            </a:pPr>
            <a:r>
              <a:rPr lang="en-US" sz="2200">
                <a:latin typeface="Times New Roman"/>
                <a:ea typeface="Times New Roman"/>
                <a:cs typeface="Times New Roman"/>
                <a:sym typeface="Times New Roman"/>
              </a:rPr>
              <a:t>0011 0001 0000 0110			</a:t>
            </a:r>
            <a:r>
              <a:rPr b="1" lang="en-US" sz="2200">
                <a:latin typeface="Times New Roman"/>
                <a:ea typeface="Times New Roman"/>
                <a:cs typeface="Times New Roman"/>
                <a:sym typeface="Times New Roman"/>
              </a:rPr>
              <a:t>//machine language</a:t>
            </a:r>
            <a:endParaRPr/>
          </a:p>
          <a:p>
            <a:pPr indent="-274320" lvl="0" marL="274320" rtl="0" algn="l">
              <a:lnSpc>
                <a:spcPct val="100000"/>
              </a:lnSpc>
              <a:spcBef>
                <a:spcPts val="600"/>
              </a:spcBef>
              <a:spcAft>
                <a:spcPts val="0"/>
              </a:spcAft>
              <a:buSzPts val="1672"/>
              <a:buChar char="?"/>
            </a:pPr>
            <a:r>
              <a:rPr lang="en-US" sz="2200">
                <a:latin typeface="Times New Roman"/>
                <a:ea typeface="Times New Roman"/>
                <a:cs typeface="Times New Roman"/>
                <a:sym typeface="Times New Roman"/>
              </a:rPr>
              <a:t>0111 0000 0000 0001</a:t>
            </a:r>
            <a:endParaRPr/>
          </a:p>
          <a:p>
            <a:pPr indent="-274320" lvl="0" marL="274320" rtl="0" algn="l">
              <a:lnSpc>
                <a:spcPct val="100000"/>
              </a:lnSpc>
              <a:spcBef>
                <a:spcPts val="600"/>
              </a:spcBef>
              <a:spcAft>
                <a:spcPts val="0"/>
              </a:spcAft>
              <a:buSzPts val="1672"/>
              <a:buChar char="?"/>
            </a:pPr>
            <a:r>
              <a:rPr lang="en-US" sz="2200">
                <a:latin typeface="Times New Roman"/>
                <a:ea typeface="Times New Roman"/>
                <a:cs typeface="Times New Roman"/>
                <a:sym typeface="Times New Roman"/>
              </a:rPr>
              <a:t>0000 0000 0101 0011</a:t>
            </a:r>
            <a:endParaRPr/>
          </a:p>
          <a:p>
            <a:pPr indent="-274320" lvl="0" marL="274320" rtl="0" algn="l">
              <a:lnSpc>
                <a:spcPct val="100000"/>
              </a:lnSpc>
              <a:spcBef>
                <a:spcPts val="600"/>
              </a:spcBef>
              <a:spcAft>
                <a:spcPts val="0"/>
              </a:spcAft>
              <a:buSzPts val="1672"/>
              <a:buChar char="?"/>
            </a:pPr>
            <a:r>
              <a:rPr lang="en-US" sz="2200">
                <a:latin typeface="Times New Roman"/>
                <a:ea typeface="Times New Roman"/>
                <a:cs typeface="Times New Roman"/>
                <a:sym typeface="Times New Roman"/>
              </a:rPr>
              <a:t>1111 1111 1111 1110</a:t>
            </a:r>
            <a:endParaRPr/>
          </a:p>
          <a:p>
            <a:pPr indent="-148844" lvl="0" marL="274320" rtl="0" algn="l">
              <a:lnSpc>
                <a:spcPct val="100000"/>
              </a:lnSpc>
              <a:spcBef>
                <a:spcPts val="600"/>
              </a:spcBef>
              <a:spcAft>
                <a:spcPts val="0"/>
              </a:spcAft>
              <a:buSzPts val="1976"/>
              <a:buNone/>
            </a:pPr>
            <a:r>
              <a:t/>
            </a:r>
            <a:endParaRPr/>
          </a:p>
        </p:txBody>
      </p:sp>
      <p:sp>
        <p:nvSpPr>
          <p:cNvPr id="322" name="Google Shape;322;p19"/>
          <p:cNvSpPr txBox="1"/>
          <p:nvPr>
            <p:ph idx="11" type="ftr"/>
          </p:nvPr>
        </p:nvSpPr>
        <p:spPr>
          <a:xfrm>
            <a:off x="2286000" y="6355080"/>
            <a:ext cx="45720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pic>
        <p:nvPicPr>
          <p:cNvPr descr="BRAC University Jobs 2020- Jobs in BRAC University- careerz360.com" id="323" name="Google Shape;323;p19"/>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Example of Assembly Language</a:t>
            </a:r>
            <a:endParaRPr/>
          </a:p>
        </p:txBody>
      </p:sp>
      <p:sp>
        <p:nvSpPr>
          <p:cNvPr id="329" name="Google Shape;329;p2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330" name="Google Shape;330;p20"/>
          <p:cNvSpPr txBox="1"/>
          <p:nvPr/>
        </p:nvSpPr>
        <p:spPr>
          <a:xfrm>
            <a:off x="457200" y="1219199"/>
            <a:ext cx="8686800" cy="5128953"/>
          </a:xfrm>
          <a:prstGeom prst="rect">
            <a:avLst/>
          </a:prstGeom>
          <a:noFill/>
          <a:ln>
            <a:noFill/>
          </a:ln>
        </p:spPr>
        <p:txBody>
          <a:bodyPr anchorCtr="0" anchor="t" bIns="45700" lIns="91425" spcFirstLastPara="1" rIns="91425" wrap="square" tIns="45700">
            <a:normAutofit fontScale="92500" lnSpcReduction="20000"/>
          </a:bodyPr>
          <a:lstStyle/>
          <a:p>
            <a:pPr indent="-235762" lvl="0" marL="342900" marR="0" rtl="0" algn="l">
              <a:lnSpc>
                <a:spcPct val="100000"/>
              </a:lnSpc>
              <a:spcBef>
                <a:spcPts val="0"/>
              </a:spcBef>
              <a:spcAft>
                <a:spcPts val="0"/>
              </a:spcAft>
              <a:buClr>
                <a:schemeClr val="accent1"/>
              </a:buClr>
              <a:buSzPct val="76000"/>
              <a:buFont typeface="Noto Sans Symbols"/>
              <a:buNone/>
            </a:pPr>
            <a:r>
              <a:t/>
            </a:r>
            <a:endParaRPr b="1" i="0" sz="2400" u="none" cap="none" strike="noStrike">
              <a:solidFill>
                <a:schemeClr val="dk1"/>
              </a:solidFill>
              <a:latin typeface="Times New Roman"/>
              <a:ea typeface="Times New Roman"/>
              <a:cs typeface="Times New Roman"/>
              <a:sym typeface="Times New Roman"/>
            </a:endParaRPr>
          </a:p>
          <a:p>
            <a:pPr indent="-342924" lvl="0" marL="342900" marR="0" rtl="0" algn="l">
              <a:lnSpc>
                <a:spcPct val="100000"/>
              </a:lnSpc>
              <a:spcBef>
                <a:spcPts val="600"/>
              </a:spcBef>
              <a:spcAft>
                <a:spcPts val="0"/>
              </a:spcAft>
              <a:buClr>
                <a:schemeClr val="accent1"/>
              </a:buClr>
              <a:buSzPct val="76000"/>
              <a:buFont typeface="Noto Sans Symbols"/>
              <a:buChar char="❑"/>
            </a:pPr>
            <a:r>
              <a:rPr b="1" i="0" lang="en-US" sz="1900" u="none" cap="none" strike="noStrike">
                <a:solidFill>
                  <a:schemeClr val="dk1"/>
                </a:solidFill>
                <a:latin typeface="Times New Roman"/>
                <a:ea typeface="Times New Roman"/>
                <a:cs typeface="Times New Roman"/>
                <a:sym typeface="Times New Roman"/>
              </a:rPr>
              <a:t>Add 2 with 3</a:t>
            </a:r>
            <a:endParaRPr b="0" i="0" sz="1400" u="none" cap="none" strike="noStrike">
              <a:solidFill>
                <a:srgbClr val="000000"/>
              </a:solidFill>
              <a:latin typeface="Arial"/>
              <a:ea typeface="Arial"/>
              <a:cs typeface="Arial"/>
              <a:sym typeface="Arial"/>
            </a:endParaRPr>
          </a:p>
          <a:p>
            <a:pPr indent="-274320" lvl="0" marL="274320" marR="0" rtl="0" algn="l">
              <a:lnSpc>
                <a:spcPct val="100000"/>
              </a:lnSpc>
              <a:spcBef>
                <a:spcPts val="600"/>
              </a:spcBef>
              <a:spcAft>
                <a:spcPts val="0"/>
              </a:spcAft>
              <a:buClr>
                <a:srgbClr val="000000"/>
              </a:buClr>
              <a:buSzPct val="100000"/>
              <a:buFont typeface="Arial"/>
              <a:buNone/>
            </a:pPr>
            <a:r>
              <a:rPr b="1" i="0" lang="en-US" sz="1900" u="none" cap="none" strike="noStrike">
                <a:solidFill>
                  <a:schemeClr val="dk1"/>
                </a:solidFill>
                <a:latin typeface="Times New Roman"/>
                <a:ea typeface="Times New Roman"/>
                <a:cs typeface="Times New Roman"/>
                <a:sym typeface="Times New Roman"/>
              </a:rPr>
              <a:t>mov  cl,  3     : </a:t>
            </a:r>
            <a:r>
              <a:rPr b="0" i="0" lang="en-US" sz="1900" u="none" cap="none" strike="noStrike">
                <a:solidFill>
                  <a:schemeClr val="dk1"/>
                </a:solidFill>
                <a:latin typeface="Times New Roman"/>
                <a:ea typeface="Times New Roman"/>
                <a:cs typeface="Times New Roman"/>
                <a:sym typeface="Times New Roman"/>
              </a:rPr>
              <a:t>copy the value 3 in the internal register cl      </a:t>
            </a:r>
            <a:r>
              <a:rPr b="1" i="1" lang="en-US" sz="1900" u="none" cap="none" strike="noStrike">
                <a:solidFill>
                  <a:schemeClr val="dk1"/>
                </a:solidFill>
                <a:latin typeface="Times New Roman"/>
                <a:ea typeface="Times New Roman"/>
                <a:cs typeface="Times New Roman"/>
                <a:sym typeface="Times New Roman"/>
              </a:rPr>
              <a:t>// so currently cl is    		         					holding the value 3</a:t>
            </a:r>
            <a:endParaRPr b="0" i="0" sz="1400" u="none" cap="none" strike="noStrike">
              <a:solidFill>
                <a:srgbClr val="000000"/>
              </a:solidFill>
              <a:latin typeface="Arial"/>
              <a:ea typeface="Arial"/>
              <a:cs typeface="Arial"/>
              <a:sym typeface="Arial"/>
            </a:endParaRPr>
          </a:p>
          <a:p>
            <a:pPr indent="-274320" lvl="0" marL="274320" marR="0" rtl="0" algn="l">
              <a:lnSpc>
                <a:spcPct val="100000"/>
              </a:lnSpc>
              <a:spcBef>
                <a:spcPts val="600"/>
              </a:spcBef>
              <a:spcAft>
                <a:spcPts val="0"/>
              </a:spcAft>
              <a:buClr>
                <a:srgbClr val="000000"/>
              </a:buClr>
              <a:buSzPct val="100000"/>
              <a:buFont typeface="Arial"/>
              <a:buNone/>
            </a:pPr>
            <a:r>
              <a:t/>
            </a:r>
            <a:endParaRPr b="0" i="1" sz="1900" u="none" cap="none" strike="noStrike">
              <a:solidFill>
                <a:schemeClr val="dk1"/>
              </a:solidFill>
              <a:latin typeface="Times New Roman"/>
              <a:ea typeface="Times New Roman"/>
              <a:cs typeface="Times New Roman"/>
              <a:sym typeface="Times New Roman"/>
            </a:endParaRPr>
          </a:p>
          <a:p>
            <a:pPr indent="-274320" lvl="0" marL="274320" marR="0" rtl="0" algn="l">
              <a:lnSpc>
                <a:spcPct val="100000"/>
              </a:lnSpc>
              <a:spcBef>
                <a:spcPts val="600"/>
              </a:spcBef>
              <a:spcAft>
                <a:spcPts val="0"/>
              </a:spcAft>
              <a:buClr>
                <a:srgbClr val="000000"/>
              </a:buClr>
              <a:buSzPct val="100000"/>
              <a:buFont typeface="Arial"/>
              <a:buNone/>
            </a:pPr>
            <a:r>
              <a:rPr b="1" i="0" lang="en-US" sz="1900" u="none" cap="none" strike="noStrike">
                <a:solidFill>
                  <a:schemeClr val="dk1"/>
                </a:solidFill>
                <a:latin typeface="Times New Roman"/>
                <a:ea typeface="Times New Roman"/>
                <a:cs typeface="Times New Roman"/>
                <a:sym typeface="Times New Roman"/>
              </a:rPr>
              <a:t>add  cl,  2     :  </a:t>
            </a:r>
            <a:r>
              <a:rPr b="0" i="0" lang="en-US" sz="1900" u="none" cap="none" strike="noStrike">
                <a:solidFill>
                  <a:schemeClr val="dk1"/>
                </a:solidFill>
                <a:latin typeface="Times New Roman"/>
                <a:ea typeface="Times New Roman"/>
                <a:cs typeface="Times New Roman"/>
                <a:sym typeface="Times New Roman"/>
              </a:rPr>
              <a:t>add the value 2 with the current value of cl   </a:t>
            </a:r>
            <a:r>
              <a:rPr b="1" i="1" lang="en-US" sz="1900" u="none" cap="none" strike="noStrike">
                <a:solidFill>
                  <a:schemeClr val="dk1"/>
                </a:solidFill>
                <a:latin typeface="Times New Roman"/>
                <a:ea typeface="Times New Roman"/>
                <a:cs typeface="Times New Roman"/>
                <a:sym typeface="Times New Roman"/>
              </a:rPr>
              <a:t>// after adding 2, cl is now    		         </a:t>
            </a:r>
            <a:r>
              <a:rPr b="0" i="0" lang="en-US" sz="1900" u="none" cap="none" strike="noStrike">
                <a:solidFill>
                  <a:schemeClr val="dk1"/>
                </a:solidFill>
                <a:latin typeface="Times New Roman"/>
                <a:ea typeface="Times New Roman"/>
                <a:cs typeface="Times New Roman"/>
                <a:sym typeface="Times New Roman"/>
              </a:rPr>
              <a:t>and store sum in cl</a:t>
            </a:r>
            <a:r>
              <a:rPr b="1" i="1" lang="en-US" sz="1900" u="none" cap="none" strike="noStrike">
                <a:solidFill>
                  <a:schemeClr val="dk1"/>
                </a:solidFill>
                <a:latin typeface="Times New Roman"/>
                <a:ea typeface="Times New Roman"/>
                <a:cs typeface="Times New Roman"/>
                <a:sym typeface="Times New Roman"/>
              </a:rPr>
              <a:t>			holding the value 5</a:t>
            </a:r>
            <a:endParaRPr b="0" i="0" sz="1400" u="none" cap="none" strike="noStrike">
              <a:solidFill>
                <a:srgbClr val="000000"/>
              </a:solidFill>
              <a:latin typeface="Arial"/>
              <a:ea typeface="Arial"/>
              <a:cs typeface="Arial"/>
              <a:sym typeface="Arial"/>
            </a:endParaRPr>
          </a:p>
          <a:p>
            <a:pPr indent="-274320" lvl="0" marL="274320" marR="0" rtl="0" algn="l">
              <a:lnSpc>
                <a:spcPct val="100000"/>
              </a:lnSpc>
              <a:spcBef>
                <a:spcPts val="600"/>
              </a:spcBef>
              <a:spcAft>
                <a:spcPts val="0"/>
              </a:spcAft>
              <a:buClr>
                <a:srgbClr val="000000"/>
              </a:buClr>
              <a:buSzPct val="100000"/>
              <a:buFont typeface="Arial"/>
              <a:buNone/>
            </a:pPr>
            <a:r>
              <a:t/>
            </a:r>
            <a:endParaRPr b="1" i="0" sz="1900" u="none" cap="none" strike="noStrike">
              <a:solidFill>
                <a:schemeClr val="dk1"/>
              </a:solidFill>
              <a:latin typeface="Times New Roman"/>
              <a:ea typeface="Times New Roman"/>
              <a:cs typeface="Times New Roman"/>
              <a:sym typeface="Times New Roman"/>
            </a:endParaRPr>
          </a:p>
          <a:p>
            <a:pPr indent="-342924" lvl="0" marL="342900" marR="0" rtl="0" algn="l">
              <a:lnSpc>
                <a:spcPct val="100000"/>
              </a:lnSpc>
              <a:spcBef>
                <a:spcPts val="600"/>
              </a:spcBef>
              <a:spcAft>
                <a:spcPts val="0"/>
              </a:spcAft>
              <a:buClr>
                <a:schemeClr val="accent1"/>
              </a:buClr>
              <a:buSzPct val="76000"/>
              <a:buFont typeface="Noto Sans Symbols"/>
              <a:buChar char="❑"/>
            </a:pPr>
            <a:r>
              <a:rPr b="1" i="0" lang="en-US" sz="1900" u="none" cap="none" strike="noStrike">
                <a:solidFill>
                  <a:schemeClr val="dk1"/>
                </a:solidFill>
                <a:latin typeface="Times New Roman"/>
                <a:ea typeface="Times New Roman"/>
                <a:cs typeface="Times New Roman"/>
                <a:sym typeface="Times New Roman"/>
              </a:rPr>
              <a:t>Subtract 2 from 3</a:t>
            </a:r>
            <a:endParaRPr b="1" i="0" sz="1900" u="none" cap="none" strike="noStrike">
              <a:solidFill>
                <a:schemeClr val="dk1"/>
              </a:solidFill>
              <a:latin typeface="Times New Roman"/>
              <a:ea typeface="Times New Roman"/>
              <a:cs typeface="Times New Roman"/>
              <a:sym typeface="Times New Roman"/>
            </a:endParaRPr>
          </a:p>
          <a:p>
            <a:pPr indent="-274320" lvl="0" marL="274320" marR="0" rtl="0" algn="l">
              <a:lnSpc>
                <a:spcPct val="100000"/>
              </a:lnSpc>
              <a:spcBef>
                <a:spcPts val="600"/>
              </a:spcBef>
              <a:spcAft>
                <a:spcPts val="0"/>
              </a:spcAft>
              <a:buClr>
                <a:srgbClr val="000000"/>
              </a:buClr>
              <a:buSzPct val="100000"/>
              <a:buFont typeface="Arial"/>
              <a:buNone/>
            </a:pPr>
            <a:r>
              <a:rPr b="1" i="0" lang="en-US" sz="1900" u="none" cap="none" strike="noStrike">
                <a:solidFill>
                  <a:schemeClr val="dk1"/>
                </a:solidFill>
                <a:latin typeface="Times New Roman"/>
                <a:ea typeface="Times New Roman"/>
                <a:cs typeface="Times New Roman"/>
                <a:sym typeface="Times New Roman"/>
              </a:rPr>
              <a:t>mov  cl,  3  : </a:t>
            </a:r>
            <a:r>
              <a:rPr b="0" i="0" lang="en-US" sz="1900" u="none" cap="none" strike="noStrike">
                <a:solidFill>
                  <a:schemeClr val="dk1"/>
                </a:solidFill>
                <a:latin typeface="Times New Roman"/>
                <a:ea typeface="Times New Roman"/>
                <a:cs typeface="Times New Roman"/>
                <a:sym typeface="Times New Roman"/>
              </a:rPr>
              <a:t>copy the value 3 in the internal register cl       </a:t>
            </a:r>
            <a:r>
              <a:rPr b="1" i="1" lang="en-US" sz="1900" u="none" cap="none" strike="noStrike">
                <a:solidFill>
                  <a:schemeClr val="dk1"/>
                </a:solidFill>
                <a:latin typeface="Times New Roman"/>
                <a:ea typeface="Times New Roman"/>
                <a:cs typeface="Times New Roman"/>
                <a:sym typeface="Times New Roman"/>
              </a:rPr>
              <a:t>//so currently cl is    		       					holding the value 3</a:t>
            </a:r>
            <a:endParaRPr b="0" i="0" sz="1400" u="none" cap="none" strike="noStrike">
              <a:solidFill>
                <a:srgbClr val="000000"/>
              </a:solidFill>
              <a:latin typeface="Arial"/>
              <a:ea typeface="Arial"/>
              <a:cs typeface="Arial"/>
              <a:sym typeface="Arial"/>
            </a:endParaRPr>
          </a:p>
          <a:p>
            <a:pPr indent="-274320" lvl="0" marL="274320" marR="0" rtl="0" algn="l">
              <a:lnSpc>
                <a:spcPct val="100000"/>
              </a:lnSpc>
              <a:spcBef>
                <a:spcPts val="600"/>
              </a:spcBef>
              <a:spcAft>
                <a:spcPts val="0"/>
              </a:spcAft>
              <a:buClr>
                <a:srgbClr val="000000"/>
              </a:buClr>
              <a:buSzPct val="100000"/>
              <a:buFont typeface="Arial"/>
              <a:buNone/>
            </a:pPr>
            <a:r>
              <a:t/>
            </a:r>
            <a:endParaRPr b="1" i="1" sz="1900" u="none" cap="none" strike="noStrike">
              <a:solidFill>
                <a:schemeClr val="dk1"/>
              </a:solidFill>
              <a:latin typeface="Times New Roman"/>
              <a:ea typeface="Times New Roman"/>
              <a:cs typeface="Times New Roman"/>
              <a:sym typeface="Times New Roman"/>
            </a:endParaRPr>
          </a:p>
          <a:p>
            <a:pPr indent="-274320" lvl="0" marL="274320" marR="0" rtl="0" algn="l">
              <a:lnSpc>
                <a:spcPct val="100000"/>
              </a:lnSpc>
              <a:spcBef>
                <a:spcPts val="600"/>
              </a:spcBef>
              <a:spcAft>
                <a:spcPts val="0"/>
              </a:spcAft>
              <a:buClr>
                <a:srgbClr val="000000"/>
              </a:buClr>
              <a:buSzPct val="100000"/>
              <a:buFont typeface="Arial"/>
              <a:buNone/>
            </a:pPr>
            <a:r>
              <a:rPr b="1" i="0" lang="en-US" sz="1900" u="none" cap="none" strike="noStrike">
                <a:solidFill>
                  <a:schemeClr val="dk1"/>
                </a:solidFill>
                <a:latin typeface="Times New Roman"/>
                <a:ea typeface="Times New Roman"/>
                <a:cs typeface="Times New Roman"/>
                <a:sym typeface="Times New Roman"/>
              </a:rPr>
              <a:t>sub   cl,  2  : </a:t>
            </a:r>
            <a:r>
              <a:rPr b="0" i="0" lang="en-US" sz="1900" u="none" cap="none" strike="noStrike">
                <a:solidFill>
                  <a:schemeClr val="dk1"/>
                </a:solidFill>
                <a:latin typeface="Times New Roman"/>
                <a:ea typeface="Times New Roman"/>
                <a:cs typeface="Times New Roman"/>
                <a:sym typeface="Times New Roman"/>
              </a:rPr>
              <a:t>sub the value 2 from the current value of cl    </a:t>
            </a:r>
            <a:r>
              <a:rPr b="1" i="1" lang="en-US" sz="1900" u="none" cap="none" strike="noStrike">
                <a:solidFill>
                  <a:schemeClr val="dk1"/>
                </a:solidFill>
                <a:latin typeface="Times New Roman"/>
                <a:ea typeface="Times New Roman"/>
                <a:cs typeface="Times New Roman"/>
                <a:sym typeface="Times New Roman"/>
              </a:rPr>
              <a:t>//after subtracting 2, cl is now   	      					holding the value 1</a:t>
            </a:r>
            <a:endParaRPr b="0" i="0" sz="1400" u="none" cap="none" strike="noStrike">
              <a:solidFill>
                <a:srgbClr val="000000"/>
              </a:solidFill>
              <a:latin typeface="Arial"/>
              <a:ea typeface="Arial"/>
              <a:cs typeface="Arial"/>
              <a:sym typeface="Arial"/>
            </a:endParaRPr>
          </a:p>
          <a:p>
            <a:pPr indent="-274320" lvl="0" marL="274320" marR="0" rtl="0" algn="l">
              <a:lnSpc>
                <a:spcPct val="100000"/>
              </a:lnSpc>
              <a:spcBef>
                <a:spcPts val="600"/>
              </a:spcBef>
              <a:spcAft>
                <a:spcPts val="0"/>
              </a:spcAft>
              <a:buClr>
                <a:srgbClr val="000000"/>
              </a:buClr>
              <a:buSzPct val="100000"/>
              <a:buFont typeface="Arial"/>
              <a:buNone/>
            </a:pPr>
            <a:r>
              <a:t/>
            </a:r>
            <a:endParaRPr b="0" i="0" sz="1900" u="none" cap="none" strike="noStrike">
              <a:solidFill>
                <a:schemeClr val="dk1"/>
              </a:solidFill>
              <a:latin typeface="Times New Roman"/>
              <a:ea typeface="Times New Roman"/>
              <a:cs typeface="Times New Roman"/>
              <a:sym typeface="Times New Roman"/>
            </a:endParaRPr>
          </a:p>
          <a:p>
            <a:pPr indent="-274320" lvl="0" marL="274320" marR="0" rtl="0" algn="l">
              <a:lnSpc>
                <a:spcPct val="100000"/>
              </a:lnSpc>
              <a:spcBef>
                <a:spcPts val="600"/>
              </a:spcBef>
              <a:spcAft>
                <a:spcPts val="0"/>
              </a:spcAft>
              <a:buClr>
                <a:srgbClr val="000000"/>
              </a:buClr>
              <a:buSzPct val="100000"/>
              <a:buFont typeface="Arial"/>
              <a:buNone/>
            </a:pPr>
            <a:r>
              <a:rPr b="0" i="0" lang="en-US" sz="1900" u="none" cap="none" strike="noStrike">
                <a:solidFill>
                  <a:schemeClr val="dk1"/>
                </a:solidFill>
                <a:latin typeface="Times New Roman"/>
                <a:ea typeface="Times New Roman"/>
                <a:cs typeface="Times New Roman"/>
                <a:sym typeface="Times New Roman"/>
              </a:rPr>
              <a:t>mov, add, sub </a:t>
            </a:r>
            <a:r>
              <a:rPr b="1" i="0" lang="en-US" sz="1900" u="none" cap="none" strike="noStrike">
                <a:solidFill>
                  <a:schemeClr val="dk1"/>
                </a:solidFill>
                <a:latin typeface="Times New Roman"/>
                <a:ea typeface="Times New Roman"/>
                <a:cs typeface="Times New Roman"/>
                <a:sym typeface="Times New Roman"/>
              </a:rPr>
              <a:t>--- </a:t>
            </a:r>
            <a:r>
              <a:rPr b="1" i="1" lang="en-US" sz="1900" u="none" cap="none" strike="noStrike">
                <a:solidFill>
                  <a:schemeClr val="dk1"/>
                </a:solidFill>
                <a:latin typeface="Times New Roman"/>
                <a:ea typeface="Times New Roman"/>
                <a:cs typeface="Times New Roman"/>
                <a:sym typeface="Times New Roman"/>
              </a:rPr>
              <a:t>opcodes or instructions</a:t>
            </a:r>
            <a:endParaRPr b="0" i="0" sz="1400" u="none" cap="none" strike="noStrike">
              <a:solidFill>
                <a:srgbClr val="000000"/>
              </a:solidFill>
              <a:latin typeface="Arial"/>
              <a:ea typeface="Arial"/>
              <a:cs typeface="Arial"/>
              <a:sym typeface="Arial"/>
            </a:endParaRPr>
          </a:p>
          <a:p>
            <a:pPr indent="-274320" lvl="0" marL="274320" marR="0" rtl="0" algn="l">
              <a:lnSpc>
                <a:spcPct val="100000"/>
              </a:lnSpc>
              <a:spcBef>
                <a:spcPts val="600"/>
              </a:spcBef>
              <a:spcAft>
                <a:spcPts val="0"/>
              </a:spcAft>
              <a:buClr>
                <a:srgbClr val="000000"/>
              </a:buClr>
              <a:buSzPct val="100000"/>
              <a:buFont typeface="Arial"/>
              <a:buNone/>
            </a:pPr>
            <a:r>
              <a:rPr b="0" i="0" lang="en-US" sz="1900" u="none" cap="none" strike="noStrike">
                <a:solidFill>
                  <a:schemeClr val="dk1"/>
                </a:solidFill>
                <a:latin typeface="Times New Roman"/>
                <a:ea typeface="Times New Roman"/>
                <a:cs typeface="Times New Roman"/>
                <a:sym typeface="Times New Roman"/>
              </a:rPr>
              <a:t>cl, 3, 2 </a:t>
            </a:r>
            <a:r>
              <a:rPr b="1" i="0" lang="en-US" sz="1900" u="none" cap="none" strike="noStrike">
                <a:solidFill>
                  <a:schemeClr val="dk1"/>
                </a:solidFill>
                <a:latin typeface="Times New Roman"/>
                <a:ea typeface="Times New Roman"/>
                <a:cs typeface="Times New Roman"/>
                <a:sym typeface="Times New Roman"/>
              </a:rPr>
              <a:t>---- operands</a:t>
            </a:r>
            <a:endParaRPr b="0" i="0" sz="1400" u="none" cap="none" strike="noStrike">
              <a:solidFill>
                <a:srgbClr val="000000"/>
              </a:solidFill>
              <a:latin typeface="Arial"/>
              <a:ea typeface="Arial"/>
              <a:cs typeface="Arial"/>
              <a:sym typeface="Arial"/>
            </a:endParaRPr>
          </a:p>
          <a:p>
            <a:pPr indent="-274320" lvl="0" marL="274320" marR="0" rtl="0" algn="l">
              <a:lnSpc>
                <a:spcPct val="100000"/>
              </a:lnSpc>
              <a:spcBef>
                <a:spcPts val="600"/>
              </a:spcBef>
              <a:spcAft>
                <a:spcPts val="0"/>
              </a:spcAft>
              <a:buClr>
                <a:srgbClr val="000000"/>
              </a:buClr>
              <a:buSzPct val="100000"/>
              <a:buFont typeface="Arial"/>
              <a:buNone/>
            </a:pPr>
            <a:r>
              <a:t/>
            </a:r>
            <a:endParaRPr b="0" i="0" sz="1900" u="none" cap="none" strike="noStrike">
              <a:solidFill>
                <a:schemeClr val="dk1"/>
              </a:solidFill>
              <a:latin typeface="Times New Roman"/>
              <a:ea typeface="Times New Roman"/>
              <a:cs typeface="Times New Roman"/>
              <a:sym typeface="Times New Roman"/>
            </a:endParaRPr>
          </a:p>
          <a:p>
            <a:pPr indent="-274320" lvl="0" marL="274320" marR="0" rtl="0" algn="l">
              <a:lnSpc>
                <a:spcPct val="100000"/>
              </a:lnSpc>
              <a:spcBef>
                <a:spcPts val="600"/>
              </a:spcBef>
              <a:spcAft>
                <a:spcPts val="0"/>
              </a:spcAft>
              <a:buClr>
                <a:srgbClr val="000000"/>
              </a:buClr>
              <a:buSzPct val="1000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1" name="Google Shape;331;p20"/>
          <p:cNvSpPr txBox="1"/>
          <p:nvPr>
            <p:ph idx="11" type="ftr"/>
          </p:nvPr>
        </p:nvSpPr>
        <p:spPr>
          <a:xfrm>
            <a:off x="1828800" y="6355080"/>
            <a:ext cx="61722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pic>
        <p:nvPicPr>
          <p:cNvPr descr="BRAC University Jobs 2020- Jobs in BRAC University- careerz360.com" id="332" name="Google Shape;332;p20"/>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Food for thought</a:t>
            </a:r>
            <a:endParaRPr/>
          </a:p>
        </p:txBody>
      </p:sp>
      <p:sp>
        <p:nvSpPr>
          <p:cNvPr id="338" name="Google Shape;338;p2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339" name="Google Shape;339;p2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128"/>
              <a:buChar char="?"/>
            </a:pPr>
            <a:r>
              <a:rPr b="1" lang="en-US" sz="2800">
                <a:latin typeface="Times New Roman"/>
                <a:ea typeface="Times New Roman"/>
                <a:cs typeface="Times New Roman"/>
                <a:sym typeface="Times New Roman"/>
              </a:rPr>
              <a:t>Using cl register show assembly code for the following expression :</a:t>
            </a:r>
            <a:endParaRPr/>
          </a:p>
          <a:p>
            <a:pPr indent="0" lvl="0" marL="0" rtl="0" algn="ctr">
              <a:lnSpc>
                <a:spcPct val="100000"/>
              </a:lnSpc>
              <a:spcBef>
                <a:spcPts val="600"/>
              </a:spcBef>
              <a:spcAft>
                <a:spcPts val="0"/>
              </a:spcAft>
              <a:buSzPts val="2128"/>
              <a:buNone/>
            </a:pPr>
            <a:r>
              <a:rPr b="1" lang="en-US" sz="2800">
                <a:latin typeface="Times New Roman"/>
                <a:ea typeface="Times New Roman"/>
                <a:cs typeface="Times New Roman"/>
                <a:sym typeface="Times New Roman"/>
              </a:rPr>
              <a:t>5 + 6 – 10</a:t>
            </a:r>
            <a:endParaRPr/>
          </a:p>
          <a:p>
            <a:pPr indent="-148844" lvl="0" marL="274320" rtl="0" algn="l">
              <a:lnSpc>
                <a:spcPct val="100000"/>
              </a:lnSpc>
              <a:spcBef>
                <a:spcPts val="600"/>
              </a:spcBef>
              <a:spcAft>
                <a:spcPts val="0"/>
              </a:spcAft>
              <a:buSzPts val="1976"/>
              <a:buNone/>
            </a:pPr>
            <a:r>
              <a:t/>
            </a:r>
            <a:endParaRPr/>
          </a:p>
          <a:p>
            <a:pPr indent="-274320" lvl="0" marL="274320" rtl="0" algn="l">
              <a:lnSpc>
                <a:spcPct val="100000"/>
              </a:lnSpc>
              <a:spcBef>
                <a:spcPts val="600"/>
              </a:spcBef>
              <a:spcAft>
                <a:spcPts val="0"/>
              </a:spcAft>
              <a:buSzPts val="1976"/>
              <a:buChar char="?"/>
            </a:pPr>
            <a:r>
              <a:rPr lang="en-US"/>
              <a:t>mov cl, 5</a:t>
            </a:r>
            <a:endParaRPr/>
          </a:p>
          <a:p>
            <a:pPr indent="-274320" lvl="0" marL="274320" rtl="0" algn="l">
              <a:lnSpc>
                <a:spcPct val="100000"/>
              </a:lnSpc>
              <a:spcBef>
                <a:spcPts val="600"/>
              </a:spcBef>
              <a:spcAft>
                <a:spcPts val="0"/>
              </a:spcAft>
              <a:buSzPts val="1976"/>
              <a:buChar char="?"/>
            </a:pPr>
            <a:r>
              <a:rPr lang="en-US"/>
              <a:t>add cl, 6</a:t>
            </a:r>
            <a:endParaRPr/>
          </a:p>
          <a:p>
            <a:pPr indent="-274320" lvl="0" marL="274320" rtl="0" algn="l">
              <a:lnSpc>
                <a:spcPct val="100000"/>
              </a:lnSpc>
              <a:spcBef>
                <a:spcPts val="600"/>
              </a:spcBef>
              <a:spcAft>
                <a:spcPts val="0"/>
              </a:spcAft>
              <a:buSzPts val="1976"/>
              <a:buChar char="?"/>
            </a:pPr>
            <a:r>
              <a:rPr lang="en-US"/>
              <a:t>sub cl, 10</a:t>
            </a:r>
            <a:endParaRPr/>
          </a:p>
        </p:txBody>
      </p:sp>
      <p:sp>
        <p:nvSpPr>
          <p:cNvPr id="340" name="Google Shape;340;p21"/>
          <p:cNvSpPr txBox="1"/>
          <p:nvPr>
            <p:ph idx="11" type="ftr"/>
          </p:nvPr>
        </p:nvSpPr>
        <p:spPr>
          <a:xfrm>
            <a:off x="2286000" y="6355080"/>
            <a:ext cx="4572000"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pic>
        <p:nvPicPr>
          <p:cNvPr descr="BRAC University Jobs 2020- Jobs in BRAC University- careerz360.com" id="341" name="Google Shape;341;p21"/>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Rupam</dc:creator>
</cp:coreProperties>
</file>