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6858000" cx="9144000"/>
  <p:notesSz cx="7315200" cy="9601200"/>
  <p:embeddedFontLst>
    <p:embeddedFont>
      <p:font typeface="Open Sans ExtraBold"/>
      <p:bold r:id="rId30"/>
      <p:boldItalic r:id="rId31"/>
    </p:embeddedFont>
    <p:embeddedFont>
      <p:font typeface="Gill Sans"/>
      <p:regular r:id="rId32"/>
      <p:bold r:id="rId33"/>
    </p:embeddedFont>
    <p:embeddedFont>
      <p:font typeface="Open Sans"/>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8" roundtripDataSignature="AMtx7mj5Kb04pkG8WuGK+rJwqHZZX591z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0C809DE-8539-4A12-A96E-CEEE99FFDE2B}">
  <a:tblStyle styleId="{50C809DE-8539-4A12-A96E-CEEE99FFDE2B}" styleName="Table_0">
    <a:wholeTbl>
      <a:tcTxStyle b="off" i="off">
        <a:font>
          <a:latin typeface="Gill Sans MT"/>
          <a:ea typeface="Gill Sans MT"/>
          <a:cs typeface="Gill Sans M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BECF0"/>
          </a:solidFill>
        </a:fill>
      </a:tcStyle>
    </a:wholeTbl>
    <a:band1H>
      <a:tcTxStyle b="off" i="off"/>
      <a:tcStyle>
        <a:fill>
          <a:solidFill>
            <a:srgbClr val="D4D6E0"/>
          </a:solidFill>
        </a:fill>
      </a:tcStyle>
    </a:band1H>
    <a:band2H>
      <a:tcTxStyle b="off" i="off"/>
    </a:band2H>
    <a:band1V>
      <a:tcTxStyle b="off" i="off"/>
      <a:tcStyle>
        <a:fill>
          <a:solidFill>
            <a:srgbClr val="D4D6E0"/>
          </a:solidFill>
        </a:fill>
      </a:tcStyle>
    </a:band1V>
    <a:band2V>
      <a:tcTxStyle b="off" i="off"/>
    </a:band2V>
    <a:lastCol>
      <a:tcTxStyle b="on" i="off">
        <a:font>
          <a:latin typeface="Gill Sans MT"/>
          <a:ea typeface="Gill Sans MT"/>
          <a:cs typeface="Gill Sans MT"/>
        </a:font>
        <a:schemeClr val="lt1"/>
      </a:tcTxStyle>
      <a:tcStyle>
        <a:fill>
          <a:solidFill>
            <a:schemeClr val="accent1"/>
          </a:solidFill>
        </a:fill>
      </a:tcStyle>
    </a:lastCol>
    <a:firstCol>
      <a:tcTxStyle b="on" i="off">
        <a:font>
          <a:latin typeface="Gill Sans MT"/>
          <a:ea typeface="Gill Sans MT"/>
          <a:cs typeface="Gill Sans MT"/>
        </a:font>
        <a:schemeClr val="lt1"/>
      </a:tcTxStyle>
      <a:tcStyle>
        <a:fill>
          <a:solidFill>
            <a:schemeClr val="accent1"/>
          </a:solidFill>
        </a:fill>
      </a:tcStyle>
    </a:firstCol>
    <a:lastRow>
      <a:tcTxStyle b="on" i="off">
        <a:font>
          <a:latin typeface="Gill Sans MT"/>
          <a:ea typeface="Gill Sans MT"/>
          <a:cs typeface="Gill Sans MT"/>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Gill Sans MT"/>
          <a:ea typeface="Gill Sans MT"/>
          <a:cs typeface="Gill Sans MT"/>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FF5551A4-6F11-4066-8FA7-33F719FFEE3D}" styleName="Table_1">
    <a:wholeTbl>
      <a:tcTxStyle b="off" i="off">
        <a:font>
          <a:latin typeface="Gill Sans MT"/>
          <a:ea typeface="Gill Sans MT"/>
          <a:cs typeface="Gill Sans MT"/>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penSansExtraBold-boldItalic.fntdata"/><Relationship Id="rId30" Type="http://schemas.openxmlformats.org/officeDocument/2006/relationships/font" Target="fonts/OpenSansExtraBold-bold.fntdata"/><Relationship Id="rId11" Type="http://schemas.openxmlformats.org/officeDocument/2006/relationships/slide" Target="slides/slide5.xml"/><Relationship Id="rId33" Type="http://schemas.openxmlformats.org/officeDocument/2006/relationships/font" Target="fonts/GillSans-bold.fntdata"/><Relationship Id="rId10" Type="http://schemas.openxmlformats.org/officeDocument/2006/relationships/slide" Target="slides/slide4.xml"/><Relationship Id="rId32" Type="http://schemas.openxmlformats.org/officeDocument/2006/relationships/font" Target="fonts/GillSans-regular.fntdata"/><Relationship Id="rId13" Type="http://schemas.openxmlformats.org/officeDocument/2006/relationships/slide" Target="slides/slide7.xml"/><Relationship Id="rId35" Type="http://schemas.openxmlformats.org/officeDocument/2006/relationships/font" Target="fonts/OpenSans-bold.fntdata"/><Relationship Id="rId12" Type="http://schemas.openxmlformats.org/officeDocument/2006/relationships/slide" Target="slides/slide6.xml"/><Relationship Id="rId34" Type="http://schemas.openxmlformats.org/officeDocument/2006/relationships/font" Target="fonts/OpenSans-regular.fntdata"/><Relationship Id="rId15" Type="http://schemas.openxmlformats.org/officeDocument/2006/relationships/slide" Target="slides/slide9.xml"/><Relationship Id="rId37" Type="http://schemas.openxmlformats.org/officeDocument/2006/relationships/font" Target="fonts/OpenSans-boldItalic.fntdata"/><Relationship Id="rId14" Type="http://schemas.openxmlformats.org/officeDocument/2006/relationships/slide" Target="slides/slide8.xml"/><Relationship Id="rId36" Type="http://schemas.openxmlformats.org/officeDocument/2006/relationships/font" Target="fonts/OpenSans-italic.fntdata"/><Relationship Id="rId17" Type="http://schemas.openxmlformats.org/officeDocument/2006/relationships/slide" Target="slides/slide11.xml"/><Relationship Id="rId16" Type="http://schemas.openxmlformats.org/officeDocument/2006/relationships/slide" Target="slides/slide10.xml"/><Relationship Id="rId38" Type="http://customschemas.google.com/relationships/presentationmetadata" Target="meta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69920" cy="480060"/>
          </a:xfrm>
          <a:prstGeom prst="rect">
            <a:avLst/>
          </a:prstGeom>
          <a:noFill/>
          <a:ln>
            <a:noFill/>
          </a:ln>
        </p:spPr>
        <p:txBody>
          <a:bodyPr anchorCtr="0" anchor="t" bIns="48325" lIns="96650" spcFirstLastPara="1" rIns="96650" wrap="square" tIns="483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143587" y="0"/>
            <a:ext cx="3169920" cy="480060"/>
          </a:xfrm>
          <a:prstGeom prst="rect">
            <a:avLst/>
          </a:prstGeom>
          <a:noFill/>
          <a:ln>
            <a:noFill/>
          </a:ln>
        </p:spPr>
        <p:txBody>
          <a:bodyPr anchorCtr="0" anchor="t" bIns="48325" lIns="96650" spcFirstLastPara="1" rIns="96650" wrap="square" tIns="48325">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19474"/>
            <a:ext cx="3169920" cy="480060"/>
          </a:xfrm>
          <a:prstGeom prst="rect">
            <a:avLst/>
          </a:prstGeom>
          <a:noFill/>
          <a:ln>
            <a:noFill/>
          </a:ln>
        </p:spPr>
        <p:txBody>
          <a:bodyPr anchorCtr="0" anchor="b" bIns="48325" lIns="96650" spcFirstLastPara="1" rIns="96650" wrap="square" tIns="483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p1: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36" name="Google Shape;36;p1: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2: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43" name="Google Shape;43;p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51" name="Google Shape;51;p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4: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59" name="Google Shape;59;p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5: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69" name="Google Shape;69;p5: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28" name="Google Shape;128;p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36" name="Google Shape;136;p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8: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44" name="Google Shape;144;p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9: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lnSpc>
                <a:spcPct val="100000"/>
              </a:lnSpc>
              <a:spcBef>
                <a:spcPts val="0"/>
              </a:spcBef>
              <a:spcAft>
                <a:spcPts val="0"/>
              </a:spcAft>
              <a:buSzPts val="1400"/>
              <a:buNone/>
            </a:pPr>
            <a:r>
              <a:t/>
            </a:r>
            <a:endParaRPr/>
          </a:p>
        </p:txBody>
      </p:sp>
      <p:sp>
        <p:nvSpPr>
          <p:cNvPr id="157" name="Google Shape;157;p9: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0: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75" name="Google Shape;175;p1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1: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85" name="Google Shape;185;p1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2: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93" name="Google Shape;193;p1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3: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215" name="Google Shape;215;p1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4: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223" name="Google Shape;223;p1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5: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232" name="Google Shape;232;p1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6: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241" name="Google Shape;241;p1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7: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249" name="Google Shape;249;p1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8: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257" name="Google Shape;257;p1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9: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265" name="Google Shape;265;p1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0: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273" name="Google Shape;273;p2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1: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282" name="Google Shape;282;p2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2: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290" name="Google Shape;290;p2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3: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298" name="Google Shape;298;p2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25"/>
          <p:cNvSpPr txBox="1"/>
          <p:nvPr>
            <p:ph type="ctrTitle"/>
          </p:nvPr>
        </p:nvSpPr>
        <p:spPr>
          <a:xfrm>
            <a:off x="1219200" y="3886200"/>
            <a:ext cx="6858000" cy="9906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0"/>
              </a:spcBef>
              <a:spcAft>
                <a:spcPts val="0"/>
              </a:spcAft>
              <a:buClr>
                <a:schemeClr val="dk1"/>
              </a:buClr>
              <a:buSzPts val="3200"/>
              <a:buFont typeface="Bookman Old Style"/>
              <a:buNone/>
              <a:defRPr sz="3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5"/>
          <p:cNvSpPr txBox="1"/>
          <p:nvPr>
            <p:ph idx="1" type="subTitle"/>
          </p:nvPr>
        </p:nvSpPr>
        <p:spPr>
          <a:xfrm>
            <a:off x="1219200" y="5124450"/>
            <a:ext cx="6858000" cy="5334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lnSpc>
                <a:spcPct val="100000"/>
              </a:lnSpc>
              <a:spcBef>
                <a:spcPts val="500"/>
              </a:spcBef>
              <a:spcAft>
                <a:spcPts val="0"/>
              </a:spcAft>
              <a:buSzPts val="1368"/>
              <a:buNone/>
              <a:defRPr/>
            </a:lvl2pPr>
            <a:lvl3pPr lvl="2" algn="ctr">
              <a:lnSpc>
                <a:spcPct val="100000"/>
              </a:lnSpc>
              <a:spcBef>
                <a:spcPts val="500"/>
              </a:spcBef>
              <a:spcAft>
                <a:spcPts val="0"/>
              </a:spcAft>
              <a:buSzPts val="1368"/>
              <a:buNone/>
              <a:defRPr/>
            </a:lvl3pPr>
            <a:lvl4pPr lvl="3" algn="ctr">
              <a:lnSpc>
                <a:spcPct val="100000"/>
              </a:lnSpc>
              <a:spcBef>
                <a:spcPts val="400"/>
              </a:spcBef>
              <a:spcAft>
                <a:spcPts val="0"/>
              </a:spcAft>
              <a:buSzPts val="1260"/>
              <a:buNone/>
              <a:defRPr/>
            </a:lvl4pPr>
            <a:lvl5pPr lvl="4" algn="ctr">
              <a:lnSpc>
                <a:spcPct val="100000"/>
              </a:lnSpc>
              <a:spcBef>
                <a:spcPts val="300"/>
              </a:spcBef>
              <a:spcAft>
                <a:spcPts val="0"/>
              </a:spcAft>
              <a:buSzPts val="1260"/>
              <a:buNone/>
              <a:defRPr/>
            </a:lvl5pPr>
            <a:lvl6pPr lvl="5" algn="ctr">
              <a:lnSpc>
                <a:spcPct val="100000"/>
              </a:lnSpc>
              <a:spcBef>
                <a:spcPts val="300"/>
              </a:spcBef>
              <a:spcAft>
                <a:spcPts val="0"/>
              </a:spcAft>
              <a:buSzPts val="1350"/>
              <a:buNone/>
              <a:defRPr/>
            </a:lvl6pPr>
            <a:lvl7pPr lvl="6" algn="ctr">
              <a:lnSpc>
                <a:spcPct val="100000"/>
              </a:lnSpc>
              <a:spcBef>
                <a:spcPts val="300"/>
              </a:spcBef>
              <a:spcAft>
                <a:spcPts val="0"/>
              </a:spcAft>
              <a:buSzPts val="1350"/>
              <a:buNone/>
              <a:defRPr/>
            </a:lvl7pPr>
            <a:lvl8pPr lvl="7" algn="ctr">
              <a:lnSpc>
                <a:spcPct val="100000"/>
              </a:lnSpc>
              <a:spcBef>
                <a:spcPts val="300"/>
              </a:spcBef>
              <a:spcAft>
                <a:spcPts val="0"/>
              </a:spcAft>
              <a:buSzPts val="1350"/>
              <a:buNone/>
              <a:defRPr/>
            </a:lvl8pPr>
            <a:lvl9pPr lvl="8" algn="ctr">
              <a:lnSpc>
                <a:spcPct val="100000"/>
              </a:lnSpc>
              <a:spcBef>
                <a:spcPts val="300"/>
              </a:spcBef>
              <a:spcAft>
                <a:spcPts val="0"/>
              </a:spcAft>
              <a:buSzPts val="1350"/>
              <a:buNone/>
              <a:defRPr/>
            </a:lvl9pPr>
          </a:lstStyle>
          <a:p/>
        </p:txBody>
      </p:sp>
      <p:sp>
        <p:nvSpPr>
          <p:cNvPr id="21" name="Google Shape;21;p25"/>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5"/>
          <p:cNvSpPr txBox="1"/>
          <p:nvPr>
            <p:ph idx="12" type="sldNum"/>
          </p:nvPr>
        </p:nvSpPr>
        <p:spPr>
          <a:xfrm>
            <a:off x="1216152" y="6355080"/>
            <a:ext cx="1219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
        <p:nvSpPr>
          <p:cNvPr id="23" name="Google Shape;23;p25"/>
          <p:cNvSpPr/>
          <p:nvPr/>
        </p:nvSpPr>
        <p:spPr>
          <a:xfrm>
            <a:off x="904875" y="3648075"/>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4" name="Google Shape;24;p25"/>
          <p:cNvSpPr/>
          <p:nvPr/>
        </p:nvSpPr>
        <p:spPr>
          <a:xfrm>
            <a:off x="914400" y="5048250"/>
            <a:ext cx="7315200" cy="685800"/>
          </a:xfrm>
          <a:prstGeom prst="rect">
            <a:avLst/>
          </a:prstGeom>
          <a:noFill/>
          <a:ln cap="rnd"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5" name="Google Shape;25;p25"/>
          <p:cNvSpPr/>
          <p:nvPr/>
        </p:nvSpPr>
        <p:spPr>
          <a:xfrm>
            <a:off x="904875" y="3648075"/>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6" name="Google Shape;26;p25"/>
          <p:cNvSpPr/>
          <p:nvPr/>
        </p:nvSpPr>
        <p:spPr>
          <a:xfrm>
            <a:off x="914400" y="5048250"/>
            <a:ext cx="228600" cy="6858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2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6"/>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
        <p:nvSpPr>
          <p:cNvPr id="31" name="Google Shape;31;p26"/>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32" name="Google Shape;32;p26"/>
          <p:cNvSpPr txBox="1"/>
          <p:nvPr>
            <p:ph idx="11" type="ftr"/>
          </p:nvPr>
        </p:nvSpPr>
        <p:spPr>
          <a:xfrm>
            <a:off x="2286000" y="6355080"/>
            <a:ext cx="4572000"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chemeClr val="dk2"/>
              </a:buClr>
              <a:buSzPts val="3200"/>
              <a:buFont typeface="Bookman Old Style"/>
              <a:buNone/>
              <a:defRPr b="0" i="0" sz="3200" u="none" cap="none" strike="noStrike">
                <a:solidFill>
                  <a:schemeClr val="dk2"/>
                </a:solidFill>
                <a:latin typeface="Bookman Old Style"/>
                <a:ea typeface="Bookman Old Style"/>
                <a:cs typeface="Bookman Old Style"/>
                <a:sym typeface="Bookman Old Sty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
          <p:cNvSpPr txBox="1"/>
          <p:nvPr>
            <p:ph idx="1" type="body"/>
          </p:nvPr>
        </p:nvSpPr>
        <p:spPr>
          <a:xfrm>
            <a:off x="457200" y="1219200"/>
            <a:ext cx="8229600" cy="4910328"/>
          </a:xfrm>
          <a:prstGeom prst="rect">
            <a:avLst/>
          </a:prstGeom>
          <a:noFill/>
          <a:ln>
            <a:noFill/>
          </a:ln>
        </p:spPr>
        <p:txBody>
          <a:bodyPr anchorCtr="0" anchor="t" bIns="45700" lIns="91425" spcFirstLastPara="1" rIns="91425" wrap="square" tIns="45700">
            <a:normAutofit/>
          </a:bodyPr>
          <a:lstStyle>
            <a:lvl1pPr indent="-354076" lvl="0" marL="457200" marR="0" rtl="0" algn="l">
              <a:lnSpc>
                <a:spcPct val="100000"/>
              </a:lnSpc>
              <a:spcBef>
                <a:spcPts val="600"/>
              </a:spcBef>
              <a:spcAft>
                <a:spcPts val="0"/>
              </a:spcAft>
              <a:buClr>
                <a:schemeClr val="accent1"/>
              </a:buClr>
              <a:buSzPts val="1976"/>
              <a:buFont typeface="Noto Sans Symbols"/>
              <a:buChar char="🞂"/>
              <a:defRPr b="0" i="0" sz="2600" u="none" cap="none" strike="noStrike">
                <a:solidFill>
                  <a:schemeClr val="dk1"/>
                </a:solidFill>
                <a:latin typeface="Gill Sans"/>
                <a:ea typeface="Gill Sans"/>
                <a:cs typeface="Gill Sans"/>
                <a:sym typeface="Gill Sans"/>
              </a:defRPr>
            </a:lvl1pPr>
            <a:lvl2pPr indent="-339597" lvl="1" marL="914400" marR="0" rtl="0" algn="l">
              <a:lnSpc>
                <a:spcPct val="100000"/>
              </a:lnSpc>
              <a:spcBef>
                <a:spcPts val="500"/>
              </a:spcBef>
              <a:spcAft>
                <a:spcPts val="0"/>
              </a:spcAft>
              <a:buClr>
                <a:schemeClr val="accent2"/>
              </a:buClr>
              <a:buSzPts val="1748"/>
              <a:buFont typeface="Noto Sans Symbols"/>
              <a:buChar char="🞂"/>
              <a:defRPr b="0" i="0" sz="2300" u="none" cap="none" strike="noStrike">
                <a:solidFill>
                  <a:schemeClr val="dk2"/>
                </a:solidFill>
                <a:latin typeface="Gill Sans"/>
                <a:ea typeface="Gill Sans"/>
                <a:cs typeface="Gill Sans"/>
                <a:sym typeface="Gill Sans"/>
              </a:defRPr>
            </a:lvl2pPr>
            <a:lvl3pPr indent="-325119" lvl="2" marL="1371600" marR="0" rtl="0" algn="l">
              <a:lnSpc>
                <a:spcPct val="100000"/>
              </a:lnSpc>
              <a:spcBef>
                <a:spcPts val="500"/>
              </a:spcBef>
              <a:spcAft>
                <a:spcPts val="0"/>
              </a:spcAft>
              <a:buClr>
                <a:srgbClr val="BABABA"/>
              </a:buClr>
              <a:buSzPts val="1520"/>
              <a:buFont typeface="Noto Sans Symbols"/>
              <a:buChar char="🞂"/>
              <a:defRPr b="0" i="0" sz="2000" u="none" cap="none" strike="noStrike">
                <a:solidFill>
                  <a:schemeClr val="dk1"/>
                </a:solidFill>
                <a:latin typeface="Gill Sans"/>
                <a:ea typeface="Gill Sans"/>
                <a:cs typeface="Gill Sans"/>
                <a:sym typeface="Gill Sans"/>
              </a:defRPr>
            </a:lvl3pPr>
            <a:lvl4pPr indent="-308610" lvl="3" marL="1828800" marR="0" rtl="0" algn="l">
              <a:lnSpc>
                <a:spcPct val="100000"/>
              </a:lnSpc>
              <a:spcBef>
                <a:spcPts val="400"/>
              </a:spcBef>
              <a:spcAft>
                <a:spcPts val="0"/>
              </a:spcAft>
              <a:buClr>
                <a:srgbClr val="8BA1B3"/>
              </a:buClr>
              <a:buSzPts val="1260"/>
              <a:buFont typeface="Noto Sans Symbols"/>
              <a:buChar char="◻"/>
              <a:defRPr b="0" i="0" sz="1800" u="none" cap="none" strike="noStrike">
                <a:solidFill>
                  <a:schemeClr val="dk1"/>
                </a:solidFill>
                <a:latin typeface="Gill Sans"/>
                <a:ea typeface="Gill Sans"/>
                <a:cs typeface="Gill Sans"/>
                <a:sym typeface="Gill Sans"/>
              </a:defRPr>
            </a:lvl4pPr>
            <a:lvl5pPr indent="-299720" lvl="4" marL="2286000" marR="0" rtl="0" algn="l">
              <a:lnSpc>
                <a:spcPct val="100000"/>
              </a:lnSpc>
              <a:spcBef>
                <a:spcPts val="300"/>
              </a:spcBef>
              <a:spcAft>
                <a:spcPts val="0"/>
              </a:spcAft>
              <a:buClr>
                <a:schemeClr val="accent2"/>
              </a:buClr>
              <a:buSzPts val="1120"/>
              <a:buFont typeface="Noto Sans Symbols"/>
              <a:buChar char="◻"/>
              <a:defRPr b="0" i="0" sz="1600" u="none" cap="none" strike="noStrike">
                <a:solidFill>
                  <a:schemeClr val="dk1"/>
                </a:solidFill>
                <a:latin typeface="Gill Sans"/>
                <a:ea typeface="Gill Sans"/>
                <a:cs typeface="Gill Sans"/>
                <a:sym typeface="Gill Sans"/>
              </a:defRPr>
            </a:lvl5pPr>
            <a:lvl6pPr indent="-304800" lvl="5" marL="2743200" marR="0" rtl="0" algn="l">
              <a:lnSpc>
                <a:spcPct val="100000"/>
              </a:lnSpc>
              <a:spcBef>
                <a:spcPts val="300"/>
              </a:spcBef>
              <a:spcAft>
                <a:spcPts val="0"/>
              </a:spcAft>
              <a:buClr>
                <a:srgbClr val="8BA1B3"/>
              </a:buClr>
              <a:buSzPts val="1200"/>
              <a:buFont typeface="Noto Sans Symbols"/>
              <a:buChar char="🞂"/>
              <a:defRPr b="0" i="0" sz="1600" u="none" cap="none" strike="noStrike">
                <a:solidFill>
                  <a:schemeClr val="dk1"/>
                </a:solidFill>
                <a:latin typeface="Gill Sans"/>
                <a:ea typeface="Gill Sans"/>
                <a:cs typeface="Gill Sans"/>
                <a:sym typeface="Gill Sans"/>
              </a:defRPr>
            </a:lvl6pPr>
            <a:lvl7pPr indent="-295275" lvl="6" marL="3200400" marR="0" rtl="0" algn="l">
              <a:lnSpc>
                <a:spcPct val="100000"/>
              </a:lnSpc>
              <a:spcBef>
                <a:spcPts val="300"/>
              </a:spcBef>
              <a:spcAft>
                <a:spcPts val="0"/>
              </a:spcAft>
              <a:buClr>
                <a:srgbClr val="646C8F"/>
              </a:buClr>
              <a:buSzPts val="1050"/>
              <a:buFont typeface="Noto Sans Symbols"/>
              <a:buChar char="🞂"/>
              <a:defRPr b="0" i="0" sz="1400" u="none" cap="none" strike="noStrike">
                <a:solidFill>
                  <a:schemeClr val="dk1"/>
                </a:solidFill>
                <a:latin typeface="Gill Sans"/>
                <a:ea typeface="Gill Sans"/>
                <a:cs typeface="Gill Sans"/>
                <a:sym typeface="Gill Sans"/>
              </a:defRPr>
            </a:lvl7pPr>
            <a:lvl8pPr indent="-295275" lvl="7" marL="3657600" marR="0" rtl="0" algn="l">
              <a:lnSpc>
                <a:spcPct val="100000"/>
              </a:lnSpc>
              <a:spcBef>
                <a:spcPts val="300"/>
              </a:spcBef>
              <a:spcAft>
                <a:spcPts val="0"/>
              </a:spcAft>
              <a:buClr>
                <a:srgbClr val="BABABA"/>
              </a:buClr>
              <a:buSzPts val="1050"/>
              <a:buFont typeface="Noto Sans Symbols"/>
              <a:buChar char="🞂"/>
              <a:defRPr b="0" i="0" sz="1400" u="none" cap="none" strike="noStrike">
                <a:solidFill>
                  <a:schemeClr val="dk1"/>
                </a:solidFill>
                <a:latin typeface="Gill Sans"/>
                <a:ea typeface="Gill Sans"/>
                <a:cs typeface="Gill Sans"/>
                <a:sym typeface="Gill Sans"/>
              </a:defRPr>
            </a:lvl8pPr>
            <a:lvl9pPr indent="-285750" lvl="8" marL="4114800" marR="0" rtl="0" algn="l">
              <a:lnSpc>
                <a:spcPct val="100000"/>
              </a:lnSpc>
              <a:spcBef>
                <a:spcPts val="300"/>
              </a:spcBef>
              <a:spcAft>
                <a:spcPts val="0"/>
              </a:spcAft>
              <a:buClr>
                <a:srgbClr val="9FB8CD"/>
              </a:buClr>
              <a:buSzPts val="900"/>
              <a:buFont typeface="Noto Sans Symbols"/>
              <a:buChar char="🞂"/>
              <a:defRPr b="0" i="0" sz="1200" u="none" cap="none" strike="noStrike">
                <a:solidFill>
                  <a:schemeClr val="dk1"/>
                </a:solidFill>
                <a:latin typeface="Gill Sans"/>
                <a:ea typeface="Gill Sans"/>
                <a:cs typeface="Gill Sans"/>
                <a:sym typeface="Gill Sans"/>
              </a:defRPr>
            </a:lvl9pPr>
          </a:lstStyle>
          <a:p/>
        </p:txBody>
      </p:sp>
      <p:sp>
        <p:nvSpPr>
          <p:cNvPr id="12" name="Google Shape;12;p24"/>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13" name="Google Shape;13;p2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cxnSp>
        <p:nvCxnSpPr>
          <p:cNvPr id="14" name="Google Shape;14;p24"/>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15" name="Google Shape;15;p24"/>
          <p:cNvCxnSpPr/>
          <p:nvPr/>
        </p:nvCxnSpPr>
        <p:spPr>
          <a:xfrm>
            <a:off x="457200" y="1143000"/>
            <a:ext cx="8229600" cy="0"/>
          </a:xfrm>
          <a:prstGeom prst="straightConnector1">
            <a:avLst/>
          </a:prstGeom>
          <a:noFill/>
          <a:ln cap="flat" cmpd="sng" w="9525">
            <a:solidFill>
              <a:schemeClr val="accent2"/>
            </a:solidFill>
            <a:prstDash val="dash"/>
            <a:round/>
            <a:headEnd len="sm" w="sm" type="none"/>
            <a:tailEnd len="sm" w="sm" type="none"/>
          </a:ln>
        </p:spPr>
      </p:cxnSp>
      <p:sp>
        <p:nvSpPr>
          <p:cNvPr id="16" name="Google Shape;16;p24"/>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7" name="Google Shape;17;p24"/>
          <p:cNvSpPr txBox="1"/>
          <p:nvPr>
            <p:ph idx="11" type="ftr"/>
          </p:nvPr>
        </p:nvSpPr>
        <p:spPr>
          <a:xfrm>
            <a:off x="2286000" y="6248400"/>
            <a:ext cx="4572000" cy="36576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 name="Shape 37"/>
        <p:cNvGrpSpPr/>
        <p:nvPr/>
      </p:nvGrpSpPr>
      <p:grpSpPr>
        <a:xfrm>
          <a:off x="0" y="0"/>
          <a:ext cx="0" cy="0"/>
          <a:chOff x="0" y="0"/>
          <a:chExt cx="0" cy="0"/>
        </a:xfrm>
      </p:grpSpPr>
      <p:sp>
        <p:nvSpPr>
          <p:cNvPr id="38" name="Google Shape;38;p1"/>
          <p:cNvSpPr txBox="1"/>
          <p:nvPr>
            <p:ph idx="1" type="subTitle"/>
          </p:nvPr>
        </p:nvSpPr>
        <p:spPr>
          <a:xfrm>
            <a:off x="1143000" y="5105400"/>
            <a:ext cx="6858000" cy="6858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216"/>
              <a:buNone/>
            </a:pPr>
            <a:r>
              <a:rPr b="1" lang="en-US" sz="1600">
                <a:solidFill>
                  <a:schemeClr val="dk1"/>
                </a:solidFill>
              </a:rPr>
              <a:t>Course ID:</a:t>
            </a:r>
            <a:r>
              <a:rPr lang="en-US" sz="1600">
                <a:solidFill>
                  <a:schemeClr val="dk1"/>
                </a:solidFill>
              </a:rPr>
              <a:t> CSE341</a:t>
            </a:r>
            <a:endParaRPr/>
          </a:p>
          <a:p>
            <a:pPr indent="0" lvl="0" marL="0" rtl="0" algn="ctr">
              <a:lnSpc>
                <a:spcPct val="100000"/>
              </a:lnSpc>
              <a:spcBef>
                <a:spcPts val="0"/>
              </a:spcBef>
              <a:spcAft>
                <a:spcPts val="0"/>
              </a:spcAft>
              <a:buSzPts val="1216"/>
              <a:buNone/>
            </a:pPr>
            <a:r>
              <a:rPr b="1" lang="en-US" sz="1600">
                <a:solidFill>
                  <a:schemeClr val="dk1"/>
                </a:solidFill>
              </a:rPr>
              <a:t>Course Title:</a:t>
            </a:r>
            <a:r>
              <a:rPr lang="en-US" sz="1600">
                <a:solidFill>
                  <a:schemeClr val="dk1"/>
                </a:solidFill>
              </a:rPr>
              <a:t> Microprocessors</a:t>
            </a:r>
            <a:endParaRPr/>
          </a:p>
        </p:txBody>
      </p:sp>
      <p:sp>
        <p:nvSpPr>
          <p:cNvPr id="39" name="Google Shape;39;p1"/>
          <p:cNvSpPr txBox="1"/>
          <p:nvPr/>
        </p:nvSpPr>
        <p:spPr>
          <a:xfrm>
            <a:off x="0" y="1371600"/>
            <a:ext cx="9144000" cy="107721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Gill Sans"/>
                <a:ea typeface="Gill Sans"/>
                <a:cs typeface="Gill Sans"/>
                <a:sym typeface="Gill Sans"/>
              </a:rPr>
              <a:t>Intel 8086 Microprocessor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Gill Sans"/>
                <a:ea typeface="Gill Sans"/>
                <a:cs typeface="Gill Sans"/>
                <a:sym typeface="Gill Sans"/>
              </a:rPr>
              <a:t>Memory Partition and Registers</a:t>
            </a:r>
            <a:endParaRPr b="0" i="0" sz="1400" u="none" cap="none" strike="noStrike">
              <a:solidFill>
                <a:srgbClr val="000000"/>
              </a:solidFill>
              <a:latin typeface="Arial"/>
              <a:ea typeface="Arial"/>
              <a:cs typeface="Arial"/>
              <a:sym typeface="Arial"/>
            </a:endParaRPr>
          </a:p>
        </p:txBody>
      </p:sp>
      <p:sp>
        <p:nvSpPr>
          <p:cNvPr id="40" name="Google Shape;40;p1"/>
          <p:cNvSpPr txBox="1"/>
          <p:nvPr/>
        </p:nvSpPr>
        <p:spPr>
          <a:xfrm>
            <a:off x="1143000" y="3352800"/>
            <a:ext cx="6858000" cy="1219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br>
              <a:rPr b="0" i="0" lang="en-US" sz="1600" u="none" cap="none" strike="noStrike">
                <a:solidFill>
                  <a:schemeClr val="dk1"/>
                </a:solidFill>
                <a:latin typeface="Gill Sans"/>
                <a:ea typeface="Gill Sans"/>
                <a:cs typeface="Gill Sans"/>
                <a:sym typeface="Gill Sans"/>
              </a:rPr>
            </a:br>
            <a:br>
              <a:rPr b="0" i="0" lang="en-US" sz="1600" u="none" cap="none" strike="noStrike">
                <a:solidFill>
                  <a:schemeClr val="dk1"/>
                </a:solidFill>
                <a:latin typeface="Gill Sans"/>
                <a:ea typeface="Gill Sans"/>
                <a:cs typeface="Gill Sans"/>
                <a:sym typeface="Gill Sans"/>
              </a:rPr>
            </a:br>
            <a:r>
              <a:rPr b="0" i="0" lang="en-US" sz="2000" u="none" cap="none" strike="noStrike">
                <a:solidFill>
                  <a:schemeClr val="dk1"/>
                </a:solidFill>
                <a:latin typeface="Gill Sans"/>
                <a:ea typeface="Gill Sans"/>
                <a:cs typeface="Gill Sans"/>
                <a:sym typeface="Gill Sans"/>
              </a:rPr>
              <a:t>Department of Computer Science &amp; Engineering</a:t>
            </a:r>
            <a:br>
              <a:rPr b="0" i="0" lang="en-US" sz="2000" u="none" cap="none" strike="noStrike">
                <a:solidFill>
                  <a:schemeClr val="dk1"/>
                </a:solidFill>
                <a:latin typeface="Gill Sans"/>
                <a:ea typeface="Gill Sans"/>
                <a:cs typeface="Gill Sans"/>
                <a:sym typeface="Gill Sans"/>
              </a:rPr>
            </a:br>
            <a:r>
              <a:rPr b="0" i="0" lang="en-US" sz="2000" u="none" cap="none" strike="noStrike">
                <a:solidFill>
                  <a:schemeClr val="dk1"/>
                </a:solidFill>
                <a:latin typeface="Gill Sans"/>
                <a:ea typeface="Gill Sans"/>
                <a:cs typeface="Gill Sans"/>
                <a:sym typeface="Gill Sans"/>
              </a:rPr>
              <a:t>BRAC University.</a:t>
            </a:r>
            <a:endParaRPr b="0" i="0" sz="1600" u="none" cap="none" strike="noStrike">
              <a:solidFill>
                <a:schemeClr val="dk1"/>
              </a:solidFill>
              <a:latin typeface="Gill Sans"/>
              <a:ea typeface="Gill Sans"/>
              <a:cs typeface="Gill Sans"/>
              <a:sym typeface="Gill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Lecture References:</a:t>
            </a:r>
            <a:endParaRPr/>
          </a:p>
        </p:txBody>
      </p:sp>
      <p:sp>
        <p:nvSpPr>
          <p:cNvPr id="46" name="Google Shape;46;p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solidFill>
                  <a:schemeClr val="dk1"/>
                </a:solidFill>
              </a:rPr>
              <a:t>‹#›</a:t>
            </a:fld>
            <a:endParaRPr>
              <a:solidFill>
                <a:schemeClr val="dk1"/>
              </a:solidFill>
            </a:endParaRPr>
          </a:p>
        </p:txBody>
      </p:sp>
      <p:sp>
        <p:nvSpPr>
          <p:cNvPr id="47" name="Google Shape;47;p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976"/>
              <a:buChar char="?"/>
            </a:pPr>
            <a:r>
              <a:rPr b="1" lang="en-US"/>
              <a:t>Book:</a:t>
            </a:r>
            <a:endParaRPr/>
          </a:p>
          <a:p>
            <a:pPr indent="-274320" lvl="1" marL="548640" rtl="0" algn="l">
              <a:lnSpc>
                <a:spcPct val="100000"/>
              </a:lnSpc>
              <a:spcBef>
                <a:spcPts val="500"/>
              </a:spcBef>
              <a:spcAft>
                <a:spcPts val="0"/>
              </a:spcAft>
              <a:buSzPts val="1748"/>
              <a:buChar char="?"/>
            </a:pPr>
            <a:r>
              <a:rPr i="1" lang="en-US">
                <a:solidFill>
                  <a:schemeClr val="dk1"/>
                </a:solidFill>
              </a:rPr>
              <a:t>Microprocessors and Interfacing: Programming and Hardware, Chapter # 2, </a:t>
            </a:r>
            <a:r>
              <a:rPr b="1" lang="en-US">
                <a:solidFill>
                  <a:schemeClr val="dk1"/>
                </a:solidFill>
              </a:rPr>
              <a:t>Author: </a:t>
            </a:r>
            <a:r>
              <a:rPr lang="en-US">
                <a:solidFill>
                  <a:schemeClr val="dk1"/>
                </a:solidFill>
              </a:rPr>
              <a:t>Douglas V. Hall</a:t>
            </a:r>
            <a:endParaRPr/>
          </a:p>
          <a:p>
            <a:pPr indent="-274320" lvl="1" marL="548640" rtl="0" algn="l">
              <a:lnSpc>
                <a:spcPct val="100000"/>
              </a:lnSpc>
              <a:spcBef>
                <a:spcPts val="500"/>
              </a:spcBef>
              <a:spcAft>
                <a:spcPts val="0"/>
              </a:spcAft>
              <a:buSzPts val="1748"/>
              <a:buChar char="?"/>
            </a:pPr>
            <a:r>
              <a:rPr i="1" lang="en-US">
                <a:solidFill>
                  <a:schemeClr val="dk1"/>
                </a:solidFill>
              </a:rPr>
              <a:t>The 8086/8088 Family: Design, Programming, And Interfacing,</a:t>
            </a:r>
            <a:r>
              <a:rPr lang="en-US">
                <a:solidFill>
                  <a:schemeClr val="dk1"/>
                </a:solidFill>
              </a:rPr>
              <a:t> </a:t>
            </a:r>
            <a:r>
              <a:rPr i="1" lang="en-US">
                <a:solidFill>
                  <a:schemeClr val="dk1"/>
                </a:solidFill>
              </a:rPr>
              <a:t>Chapter # 2, </a:t>
            </a:r>
            <a:r>
              <a:rPr b="1" lang="en-US">
                <a:solidFill>
                  <a:schemeClr val="dk1"/>
                </a:solidFill>
              </a:rPr>
              <a:t>Author: </a:t>
            </a:r>
            <a:r>
              <a:rPr lang="en-US">
                <a:solidFill>
                  <a:schemeClr val="dk1"/>
                </a:solidFill>
              </a:rPr>
              <a:t> John Uffenbeck.</a:t>
            </a:r>
            <a:endParaRPr/>
          </a:p>
          <a:p>
            <a:pPr indent="-163322" lvl="1" marL="548640" rtl="0" algn="l">
              <a:lnSpc>
                <a:spcPct val="100000"/>
              </a:lnSpc>
              <a:spcBef>
                <a:spcPts val="500"/>
              </a:spcBef>
              <a:spcAft>
                <a:spcPts val="0"/>
              </a:spcAft>
              <a:buSzPts val="1748"/>
              <a:buNone/>
            </a:pPr>
            <a:r>
              <a:t/>
            </a:r>
            <a:endParaRPr>
              <a:solidFill>
                <a:schemeClr val="dk1"/>
              </a:solidFill>
            </a:endParaRPr>
          </a:p>
          <a:p>
            <a:pPr indent="-274320" lvl="1" marL="548640" rtl="0" algn="l">
              <a:lnSpc>
                <a:spcPct val="100000"/>
              </a:lnSpc>
              <a:spcBef>
                <a:spcPts val="500"/>
              </a:spcBef>
              <a:spcAft>
                <a:spcPts val="0"/>
              </a:spcAft>
              <a:buSzPts val="1748"/>
              <a:buNone/>
            </a:pPr>
            <a:r>
              <a:t/>
            </a:r>
            <a:endParaRPr>
              <a:solidFill>
                <a:schemeClr val="dk1"/>
              </a:solidFill>
            </a:endParaRPr>
          </a:p>
          <a:p>
            <a:pPr indent="-163322" lvl="1" marL="548640" rtl="0" algn="l">
              <a:lnSpc>
                <a:spcPct val="100000"/>
              </a:lnSpc>
              <a:spcBef>
                <a:spcPts val="500"/>
              </a:spcBef>
              <a:spcAft>
                <a:spcPts val="0"/>
              </a:spcAft>
              <a:buSzPts val="1748"/>
              <a:buNone/>
            </a:pPr>
            <a:r>
              <a:t/>
            </a:r>
            <a:endParaRPr>
              <a:solidFill>
                <a:schemeClr val="dk1"/>
              </a:solidFill>
            </a:endParaRPr>
          </a:p>
        </p:txBody>
      </p:sp>
      <p:sp>
        <p:nvSpPr>
          <p:cNvPr id="48" name="Google Shape;48;p2"/>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Microprocessor</a:t>
            </a:r>
            <a:endParaRPr/>
          </a:p>
        </p:txBody>
      </p:sp>
      <p:sp>
        <p:nvSpPr>
          <p:cNvPr id="54" name="Google Shape;54;p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solidFill>
                  <a:schemeClr val="dk1"/>
                </a:solidFill>
              </a:rPr>
              <a:t>‹#›</a:t>
            </a:fld>
            <a:endParaRPr>
              <a:solidFill>
                <a:schemeClr val="dk1"/>
              </a:solidFill>
            </a:endParaRPr>
          </a:p>
        </p:txBody>
      </p:sp>
      <p:sp>
        <p:nvSpPr>
          <p:cNvPr id="55" name="Google Shape;55;p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824"/>
              <a:buChar char="?"/>
            </a:pPr>
            <a:r>
              <a:rPr b="1" lang="en-US" sz="2400"/>
              <a:t>Intel 8086</a:t>
            </a:r>
            <a:endParaRPr/>
          </a:p>
          <a:p>
            <a:pPr indent="-274320" lvl="1" marL="548640" rtl="0" algn="l">
              <a:lnSpc>
                <a:spcPct val="100000"/>
              </a:lnSpc>
              <a:spcBef>
                <a:spcPts val="500"/>
              </a:spcBef>
              <a:spcAft>
                <a:spcPts val="0"/>
              </a:spcAft>
              <a:buSzPts val="1748"/>
              <a:buChar char="?"/>
            </a:pPr>
            <a:r>
              <a:rPr lang="en-US">
                <a:solidFill>
                  <a:schemeClr val="dk1"/>
                </a:solidFill>
              </a:rPr>
              <a:t>The microprocessor 8086 can be considered to be the basic processor for the Intel X86 family from 1978. </a:t>
            </a:r>
            <a:endParaRPr/>
          </a:p>
          <a:p>
            <a:pPr indent="-274320" lvl="1" marL="548640" rtl="0" algn="l">
              <a:lnSpc>
                <a:spcPct val="100000"/>
              </a:lnSpc>
              <a:spcBef>
                <a:spcPts val="500"/>
              </a:spcBef>
              <a:spcAft>
                <a:spcPts val="0"/>
              </a:spcAft>
              <a:buSzPts val="1748"/>
              <a:buChar char="?"/>
            </a:pPr>
            <a:r>
              <a:rPr lang="en-US">
                <a:solidFill>
                  <a:schemeClr val="dk1"/>
                </a:solidFill>
              </a:rPr>
              <a:t>It has a 20-bit address bus along with 16-bit data bus.</a:t>
            </a:r>
            <a:endParaRPr/>
          </a:p>
          <a:p>
            <a:pPr indent="-274320" lvl="1" marL="548640" rtl="0" algn="l">
              <a:lnSpc>
                <a:spcPct val="100000"/>
              </a:lnSpc>
              <a:spcBef>
                <a:spcPts val="500"/>
              </a:spcBef>
              <a:spcAft>
                <a:spcPts val="0"/>
              </a:spcAft>
              <a:buSzPts val="1748"/>
              <a:buChar char="?"/>
            </a:pPr>
            <a:r>
              <a:rPr lang="en-US">
                <a:solidFill>
                  <a:schemeClr val="dk1"/>
                </a:solidFill>
              </a:rPr>
              <a:t>With the knowledge of 8086 16-bit processor, one can study the further versions of this processor 80286, 80406 and Pentium.</a:t>
            </a:r>
            <a:endParaRPr>
              <a:solidFill>
                <a:schemeClr val="dk1"/>
              </a:solidFill>
            </a:endParaRPr>
          </a:p>
          <a:p>
            <a:pPr indent="-163322" lvl="1" marL="548640" rtl="0" algn="l">
              <a:lnSpc>
                <a:spcPct val="100000"/>
              </a:lnSpc>
              <a:spcBef>
                <a:spcPts val="500"/>
              </a:spcBef>
              <a:spcAft>
                <a:spcPts val="0"/>
              </a:spcAft>
              <a:buSzPts val="1748"/>
              <a:buNone/>
            </a:pPr>
            <a:r>
              <a:t/>
            </a:r>
            <a:endParaRPr>
              <a:solidFill>
                <a:schemeClr val="dk1"/>
              </a:solidFill>
            </a:endParaRPr>
          </a:p>
          <a:p>
            <a:pPr indent="-274320" lvl="1" marL="548640" rtl="0" algn="l">
              <a:lnSpc>
                <a:spcPct val="100000"/>
              </a:lnSpc>
              <a:spcBef>
                <a:spcPts val="500"/>
              </a:spcBef>
              <a:spcAft>
                <a:spcPts val="0"/>
              </a:spcAft>
              <a:buSzPts val="1748"/>
              <a:buNone/>
            </a:pPr>
            <a:r>
              <a:t/>
            </a:r>
            <a:endParaRPr>
              <a:solidFill>
                <a:schemeClr val="dk1"/>
              </a:solidFill>
            </a:endParaRPr>
          </a:p>
          <a:p>
            <a:pPr indent="-163322" lvl="1" marL="548640" rtl="0" algn="l">
              <a:lnSpc>
                <a:spcPct val="100000"/>
              </a:lnSpc>
              <a:spcBef>
                <a:spcPts val="500"/>
              </a:spcBef>
              <a:spcAft>
                <a:spcPts val="0"/>
              </a:spcAft>
              <a:buSzPts val="1748"/>
              <a:buNone/>
            </a:pPr>
            <a:r>
              <a:t/>
            </a:r>
            <a:endParaRPr>
              <a:solidFill>
                <a:schemeClr val="dk1"/>
              </a:solidFill>
            </a:endParaRPr>
          </a:p>
        </p:txBody>
      </p:sp>
      <p:sp>
        <p:nvSpPr>
          <p:cNvPr id="56" name="Google Shape;56;p3"/>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Memory Partitioning for 8086 Processor</a:t>
            </a:r>
            <a:endParaRPr/>
          </a:p>
        </p:txBody>
      </p:sp>
      <p:sp>
        <p:nvSpPr>
          <p:cNvPr id="62" name="Google Shape;62;p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63" name="Google Shape;63;p4"/>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lnSpc>
                <a:spcPct val="100000"/>
              </a:lnSpc>
              <a:spcBef>
                <a:spcPts val="0"/>
              </a:spcBef>
              <a:spcAft>
                <a:spcPts val="0"/>
              </a:spcAft>
              <a:buSzPct val="76000"/>
              <a:buChar char="?"/>
            </a:pPr>
            <a:r>
              <a:rPr b="1" lang="en-US" sz="2400">
                <a:latin typeface="Open Sans ExtraBold"/>
                <a:ea typeface="Open Sans ExtraBold"/>
                <a:cs typeface="Open Sans ExtraBold"/>
                <a:sym typeface="Open Sans ExtraBold"/>
              </a:rPr>
              <a:t>The 8086 processor assign a 20-bit physical address to its memory locations.</a:t>
            </a:r>
            <a:endParaRPr/>
          </a:p>
          <a:p>
            <a:pPr indent="-228600" lvl="2" marL="822960" rtl="0" algn="l">
              <a:lnSpc>
                <a:spcPct val="100000"/>
              </a:lnSpc>
              <a:spcBef>
                <a:spcPts val="500"/>
              </a:spcBef>
              <a:spcAft>
                <a:spcPts val="0"/>
              </a:spcAft>
              <a:buSzPct val="76000"/>
              <a:buNone/>
            </a:pPr>
            <a:r>
              <a:rPr b="1" lang="en-US">
                <a:latin typeface="Open Sans ExtraBold"/>
                <a:ea typeface="Open Sans ExtraBold"/>
                <a:cs typeface="Open Sans ExtraBold"/>
                <a:sym typeface="Open Sans ExtraBold"/>
              </a:rPr>
              <a:t>   2</a:t>
            </a:r>
            <a:r>
              <a:rPr b="1" baseline="30000" lang="en-US">
                <a:latin typeface="Open Sans ExtraBold"/>
                <a:ea typeface="Open Sans ExtraBold"/>
                <a:cs typeface="Open Sans ExtraBold"/>
                <a:sym typeface="Open Sans ExtraBold"/>
              </a:rPr>
              <a:t>20</a:t>
            </a:r>
            <a:r>
              <a:rPr b="1" lang="en-US">
                <a:latin typeface="Open Sans ExtraBold"/>
                <a:ea typeface="Open Sans ExtraBold"/>
                <a:cs typeface="Open Sans ExtraBold"/>
                <a:sym typeface="Open Sans ExtraBold"/>
              </a:rPr>
              <a:t> </a:t>
            </a:r>
            <a:r>
              <a:rPr b="1" lang="en-US">
                <a:solidFill>
                  <a:srgbClr val="002060"/>
                </a:solidFill>
                <a:latin typeface="Open Sans ExtraBold"/>
                <a:ea typeface="Open Sans ExtraBold"/>
                <a:cs typeface="Open Sans ExtraBold"/>
                <a:sym typeface="Open Sans ExtraBold"/>
              </a:rPr>
              <a:t>→  1 Mbyte -&gt; 1,048,576 bytes</a:t>
            </a:r>
            <a:endParaRPr/>
          </a:p>
          <a:p>
            <a:pPr indent="-228600" lvl="2" marL="822960" rtl="0" algn="l">
              <a:lnSpc>
                <a:spcPct val="100000"/>
              </a:lnSpc>
              <a:spcBef>
                <a:spcPts val="500"/>
              </a:spcBef>
              <a:spcAft>
                <a:spcPts val="0"/>
              </a:spcAft>
              <a:buSzPct val="76000"/>
              <a:buNone/>
            </a:pPr>
            <a:r>
              <a:rPr b="1" lang="en-US">
                <a:latin typeface="Open Sans ExtraBold"/>
                <a:ea typeface="Open Sans ExtraBold"/>
                <a:cs typeface="Open Sans ExtraBold"/>
                <a:sym typeface="Open Sans ExtraBold"/>
              </a:rPr>
              <a:t>   20 bits → 5 hex digits</a:t>
            </a:r>
            <a:endParaRPr/>
          </a:p>
          <a:p>
            <a:pPr indent="-228600" lvl="2" marL="822960" rtl="0" algn="l">
              <a:lnSpc>
                <a:spcPct val="100000"/>
              </a:lnSpc>
              <a:spcBef>
                <a:spcPts val="500"/>
              </a:spcBef>
              <a:spcAft>
                <a:spcPts val="0"/>
              </a:spcAft>
              <a:buSzPct val="76000"/>
              <a:buNone/>
            </a:pPr>
            <a:r>
              <a:rPr b="1" lang="en-US">
                <a:latin typeface="Open Sans ExtraBold"/>
                <a:ea typeface="Open Sans ExtraBold"/>
                <a:cs typeface="Open Sans ExtraBold"/>
                <a:sym typeface="Open Sans ExtraBold"/>
              </a:rPr>
              <a:t>   First addresses: 00000, 00001,…,0000A,…FFFFF.</a:t>
            </a:r>
            <a:endParaRPr/>
          </a:p>
          <a:p>
            <a:pPr indent="-228600" lvl="2" marL="822960" rtl="0" algn="l">
              <a:lnSpc>
                <a:spcPct val="100000"/>
              </a:lnSpc>
              <a:spcBef>
                <a:spcPts val="500"/>
              </a:spcBef>
              <a:spcAft>
                <a:spcPts val="0"/>
              </a:spcAft>
              <a:buSzPct val="76000"/>
              <a:buNone/>
            </a:pPr>
            <a:r>
              <a:rPr b="1" lang="en-US">
                <a:latin typeface="Open Sans ExtraBold"/>
                <a:ea typeface="Open Sans ExtraBold"/>
                <a:cs typeface="Open Sans ExtraBold"/>
                <a:sym typeface="Open Sans ExtraBold"/>
              </a:rPr>
              <a:t>   But Registers are 16-bits (4 Hex digits) and can address only 2</a:t>
            </a:r>
            <a:r>
              <a:rPr b="1" baseline="30000" lang="en-US">
                <a:latin typeface="Open Sans ExtraBold"/>
                <a:ea typeface="Open Sans ExtraBold"/>
                <a:cs typeface="Open Sans ExtraBold"/>
                <a:sym typeface="Open Sans ExtraBold"/>
              </a:rPr>
              <a:t>16</a:t>
            </a:r>
            <a:r>
              <a:rPr b="1" lang="en-US">
                <a:latin typeface="Open Sans ExtraBold"/>
                <a:ea typeface="Open Sans ExtraBold"/>
                <a:cs typeface="Open Sans ExtraBold"/>
                <a:sym typeface="Open Sans ExtraBold"/>
              </a:rPr>
              <a:t> = </a:t>
            </a:r>
            <a:r>
              <a:rPr b="1" lang="en-US">
                <a:solidFill>
                  <a:srgbClr val="002060"/>
                </a:solidFill>
                <a:latin typeface="Open Sans ExtraBold"/>
                <a:ea typeface="Open Sans ExtraBold"/>
                <a:cs typeface="Open Sans ExtraBold"/>
                <a:sym typeface="Open Sans ExtraBold"/>
              </a:rPr>
              <a:t>64 KBytes. 0000,0001,0002,……FFFF</a:t>
            </a:r>
            <a:endParaRPr/>
          </a:p>
          <a:p>
            <a:pPr indent="-228600" lvl="2" marL="822960" rtl="0" algn="l">
              <a:lnSpc>
                <a:spcPct val="100000"/>
              </a:lnSpc>
              <a:spcBef>
                <a:spcPts val="500"/>
              </a:spcBef>
              <a:spcAft>
                <a:spcPts val="0"/>
              </a:spcAft>
              <a:buSzPct val="76000"/>
              <a:buNone/>
            </a:pPr>
            <a:r>
              <a:rPr b="1" lang="en-US">
                <a:solidFill>
                  <a:srgbClr val="002060"/>
                </a:solidFill>
                <a:latin typeface="Open Sans ExtraBold"/>
                <a:ea typeface="Open Sans ExtraBold"/>
                <a:cs typeface="Open Sans ExtraBold"/>
                <a:sym typeface="Open Sans ExtraBold"/>
              </a:rPr>
              <a:t>Suppose </a:t>
            </a:r>
            <a:r>
              <a:rPr b="1" lang="en-US">
                <a:latin typeface="Open Sans ExtraBold"/>
                <a:ea typeface="Open Sans ExtraBold"/>
                <a:cs typeface="Open Sans ExtraBold"/>
                <a:sym typeface="Open Sans ExtraBold"/>
              </a:rPr>
              <a:t>20 bits → 5 hex digits: 38A41H</a:t>
            </a:r>
            <a:endParaRPr/>
          </a:p>
          <a:p>
            <a:pPr indent="-167182" lvl="0" marL="274320" rtl="0" algn="l">
              <a:lnSpc>
                <a:spcPct val="100000"/>
              </a:lnSpc>
              <a:spcBef>
                <a:spcPts val="600"/>
              </a:spcBef>
              <a:spcAft>
                <a:spcPts val="0"/>
              </a:spcAft>
              <a:buSzPct val="76000"/>
              <a:buNone/>
            </a:pPr>
            <a:r>
              <a:t/>
            </a:r>
            <a:endParaRPr sz="2400">
              <a:solidFill>
                <a:srgbClr val="FF0000"/>
              </a:solidFill>
            </a:endParaRPr>
          </a:p>
          <a:p>
            <a:pPr indent="-167182" lvl="0" marL="274320" rtl="0" algn="l">
              <a:lnSpc>
                <a:spcPct val="100000"/>
              </a:lnSpc>
              <a:spcBef>
                <a:spcPts val="600"/>
              </a:spcBef>
              <a:spcAft>
                <a:spcPts val="0"/>
              </a:spcAft>
              <a:buSzPct val="76000"/>
              <a:buNone/>
            </a:pPr>
            <a:r>
              <a:t/>
            </a:r>
            <a:endParaRPr sz="2400">
              <a:solidFill>
                <a:srgbClr val="FF0000"/>
              </a:solidFill>
            </a:endParaRPr>
          </a:p>
          <a:p>
            <a:pPr indent="0" lvl="0" marL="0" rtl="0" algn="l">
              <a:lnSpc>
                <a:spcPct val="100000"/>
              </a:lnSpc>
              <a:spcBef>
                <a:spcPts val="600"/>
              </a:spcBef>
              <a:spcAft>
                <a:spcPts val="0"/>
              </a:spcAft>
              <a:buSzPct val="76000"/>
              <a:buNone/>
            </a:pPr>
            <a:r>
              <a:rPr lang="en-US" sz="2400">
                <a:solidFill>
                  <a:schemeClr val="dk2"/>
                </a:solidFill>
              </a:rPr>
              <a:t>Here, 0011 1000 1010 0100 0001 = 20 bits = 5 Hex digits</a:t>
            </a:r>
            <a:endParaRPr/>
          </a:p>
          <a:p>
            <a:pPr indent="-274320" lvl="0" marL="274320" rtl="0" algn="l">
              <a:lnSpc>
                <a:spcPct val="100000"/>
              </a:lnSpc>
              <a:spcBef>
                <a:spcPts val="600"/>
              </a:spcBef>
              <a:spcAft>
                <a:spcPts val="0"/>
              </a:spcAft>
              <a:buSzPct val="76000"/>
              <a:buChar char="?"/>
            </a:pPr>
            <a:r>
              <a:rPr b="1" lang="en-US" sz="2400">
                <a:solidFill>
                  <a:srgbClr val="002060"/>
                </a:solidFill>
              </a:rPr>
              <a:t>Partition the memory into segments </a:t>
            </a:r>
            <a:endParaRPr/>
          </a:p>
          <a:p>
            <a:pPr indent="-274368" lvl="1" marL="548640" rtl="0" algn="l">
              <a:lnSpc>
                <a:spcPct val="100000"/>
              </a:lnSpc>
              <a:spcBef>
                <a:spcPts val="500"/>
              </a:spcBef>
              <a:spcAft>
                <a:spcPts val="0"/>
              </a:spcAft>
              <a:buSzPct val="76000"/>
              <a:buChar char="?"/>
            </a:pPr>
            <a:r>
              <a:rPr lang="en-US" sz="2100">
                <a:solidFill>
                  <a:schemeClr val="dk1"/>
                </a:solidFill>
              </a:rPr>
              <a:t>Total of (16), 64 Kbytes segments might be positioned within the 1 Mbyte address space of an 8086 processor.</a:t>
            </a:r>
            <a:endParaRPr/>
          </a:p>
          <a:p>
            <a:pPr indent="-158254" lvl="0" marL="274320" rtl="0" algn="l">
              <a:lnSpc>
                <a:spcPct val="100000"/>
              </a:lnSpc>
              <a:spcBef>
                <a:spcPts val="600"/>
              </a:spcBef>
              <a:spcAft>
                <a:spcPts val="0"/>
              </a:spcAft>
              <a:buSzPct val="76000"/>
              <a:buNone/>
            </a:pPr>
            <a:r>
              <a:t/>
            </a:r>
            <a:endParaRPr/>
          </a:p>
          <a:p>
            <a:pPr indent="-158254" lvl="0" marL="274320" rtl="0" algn="l">
              <a:lnSpc>
                <a:spcPct val="100000"/>
              </a:lnSpc>
              <a:spcBef>
                <a:spcPts val="600"/>
              </a:spcBef>
              <a:spcAft>
                <a:spcPts val="0"/>
              </a:spcAft>
              <a:buSzPct val="76000"/>
              <a:buNone/>
            </a:pPr>
            <a:r>
              <a:t/>
            </a:r>
            <a:endParaRPr/>
          </a:p>
        </p:txBody>
      </p:sp>
      <p:sp>
        <p:nvSpPr>
          <p:cNvPr id="64" name="Google Shape;64;p4"/>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graphicFrame>
        <p:nvGraphicFramePr>
          <p:cNvPr id="65" name="Google Shape;65;p4"/>
          <p:cNvGraphicFramePr/>
          <p:nvPr/>
        </p:nvGraphicFramePr>
        <p:xfrm>
          <a:off x="1524000" y="3810000"/>
          <a:ext cx="3000000" cy="3000000"/>
        </p:xfrm>
        <a:graphic>
          <a:graphicData uri="http://schemas.openxmlformats.org/drawingml/2006/table">
            <a:tbl>
              <a:tblPr bandRow="1" firstRow="1">
                <a:noFill/>
                <a:tableStyleId>{50C809DE-8539-4A12-A96E-CEEE99FFDE2B}</a:tableStyleId>
              </a:tblPr>
              <a:tblGrid>
                <a:gridCol w="1219200"/>
                <a:gridCol w="1219200"/>
                <a:gridCol w="1219200"/>
                <a:gridCol w="1219200"/>
                <a:gridCol w="1219200"/>
              </a:tblGrid>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3</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8</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A</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4</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0011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1000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1010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0100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0001</a:t>
                      </a:r>
                      <a:endParaRPr sz="1400" u="none" cap="none" strike="noStrike"/>
                    </a:p>
                  </a:txBody>
                  <a:tcPr marT="45725" marB="45725" marR="91450" marL="91450"/>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5"/>
          <p:cNvSpPr/>
          <p:nvPr/>
        </p:nvSpPr>
        <p:spPr>
          <a:xfrm>
            <a:off x="6400800" y="4953000"/>
            <a:ext cx="1767403" cy="1447800"/>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72" name="Google Shape;72;p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Memory Segment: </a:t>
            </a:r>
            <a:r>
              <a:rPr b="1" i="1" lang="en-US">
                <a:solidFill>
                  <a:schemeClr val="dk1"/>
                </a:solidFill>
              </a:rPr>
              <a:t>Address Space</a:t>
            </a:r>
            <a:endParaRPr/>
          </a:p>
        </p:txBody>
      </p:sp>
      <p:sp>
        <p:nvSpPr>
          <p:cNvPr id="73" name="Google Shape;73;p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74" name="Google Shape;74;p5"/>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148844" lvl="0" marL="274320" rtl="0" algn="l">
              <a:lnSpc>
                <a:spcPct val="100000"/>
              </a:lnSpc>
              <a:spcBef>
                <a:spcPts val="0"/>
              </a:spcBef>
              <a:spcAft>
                <a:spcPts val="0"/>
              </a:spcAft>
              <a:buSzPts val="1976"/>
              <a:buNone/>
            </a:pPr>
            <a:r>
              <a:t/>
            </a:r>
            <a:endParaRPr/>
          </a:p>
        </p:txBody>
      </p:sp>
      <p:grpSp>
        <p:nvGrpSpPr>
          <p:cNvPr id="75" name="Google Shape;75;p5"/>
          <p:cNvGrpSpPr/>
          <p:nvPr/>
        </p:nvGrpSpPr>
        <p:grpSpPr>
          <a:xfrm>
            <a:off x="1676400" y="1219200"/>
            <a:ext cx="6019800" cy="5105400"/>
            <a:chOff x="816" y="1008"/>
            <a:chExt cx="2718" cy="2807"/>
          </a:xfrm>
        </p:grpSpPr>
        <p:sp>
          <p:nvSpPr>
            <p:cNvPr id="76" name="Google Shape;76;p5"/>
            <p:cNvSpPr/>
            <p:nvPr/>
          </p:nvSpPr>
          <p:spPr>
            <a:xfrm>
              <a:off x="1189" y="3602"/>
              <a:ext cx="798" cy="171"/>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77" name="Google Shape;77;p5"/>
            <p:cNvSpPr/>
            <p:nvPr/>
          </p:nvSpPr>
          <p:spPr>
            <a:xfrm>
              <a:off x="825" y="3700"/>
              <a:ext cx="265"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00000</a:t>
              </a:r>
              <a:endParaRPr b="0" i="0" sz="2800" u="none" cap="none" strike="noStrike">
                <a:solidFill>
                  <a:schemeClr val="dk1"/>
                </a:solidFill>
                <a:latin typeface="Gill Sans"/>
                <a:ea typeface="Gill Sans"/>
                <a:cs typeface="Gill Sans"/>
                <a:sym typeface="Gill Sans"/>
              </a:endParaRPr>
            </a:p>
          </p:txBody>
        </p:sp>
        <p:sp>
          <p:nvSpPr>
            <p:cNvPr id="78" name="Google Shape;78;p5"/>
            <p:cNvSpPr/>
            <p:nvPr/>
          </p:nvSpPr>
          <p:spPr>
            <a:xfrm>
              <a:off x="1189" y="3432"/>
              <a:ext cx="798" cy="170"/>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79" name="Google Shape;79;p5"/>
            <p:cNvSpPr/>
            <p:nvPr/>
          </p:nvSpPr>
          <p:spPr>
            <a:xfrm>
              <a:off x="825" y="3521"/>
              <a:ext cx="265"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10000</a:t>
              </a:r>
              <a:endParaRPr b="0" i="0" sz="2800" u="none" cap="none" strike="noStrike">
                <a:solidFill>
                  <a:schemeClr val="dk1"/>
                </a:solidFill>
                <a:latin typeface="Gill Sans"/>
                <a:ea typeface="Gill Sans"/>
                <a:cs typeface="Gill Sans"/>
                <a:sym typeface="Gill Sans"/>
              </a:endParaRPr>
            </a:p>
          </p:txBody>
        </p:sp>
        <p:sp>
          <p:nvSpPr>
            <p:cNvPr id="80" name="Google Shape;80;p5"/>
            <p:cNvSpPr/>
            <p:nvPr/>
          </p:nvSpPr>
          <p:spPr>
            <a:xfrm>
              <a:off x="1189" y="3261"/>
              <a:ext cx="798" cy="171"/>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81" name="Google Shape;81;p5"/>
            <p:cNvSpPr/>
            <p:nvPr/>
          </p:nvSpPr>
          <p:spPr>
            <a:xfrm>
              <a:off x="825" y="3350"/>
              <a:ext cx="265"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20000</a:t>
              </a:r>
              <a:endParaRPr b="0" i="0" sz="2800" u="none" cap="none" strike="noStrike">
                <a:solidFill>
                  <a:schemeClr val="dk1"/>
                </a:solidFill>
                <a:latin typeface="Gill Sans"/>
                <a:ea typeface="Gill Sans"/>
                <a:cs typeface="Gill Sans"/>
                <a:sym typeface="Gill Sans"/>
              </a:endParaRPr>
            </a:p>
          </p:txBody>
        </p:sp>
        <p:sp>
          <p:nvSpPr>
            <p:cNvPr id="82" name="Google Shape;82;p5"/>
            <p:cNvSpPr/>
            <p:nvPr/>
          </p:nvSpPr>
          <p:spPr>
            <a:xfrm>
              <a:off x="1189" y="3082"/>
              <a:ext cx="798" cy="179"/>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83" name="Google Shape;83;p5"/>
            <p:cNvSpPr/>
            <p:nvPr/>
          </p:nvSpPr>
          <p:spPr>
            <a:xfrm>
              <a:off x="825" y="3180"/>
              <a:ext cx="265"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30000</a:t>
              </a:r>
              <a:endParaRPr b="0" i="0" sz="2800" u="none" cap="none" strike="noStrike">
                <a:solidFill>
                  <a:schemeClr val="dk1"/>
                </a:solidFill>
                <a:latin typeface="Gill Sans"/>
                <a:ea typeface="Gill Sans"/>
                <a:cs typeface="Gill Sans"/>
                <a:sym typeface="Gill Sans"/>
              </a:endParaRPr>
            </a:p>
          </p:txBody>
        </p:sp>
        <p:sp>
          <p:nvSpPr>
            <p:cNvPr id="84" name="Google Shape;84;p5"/>
            <p:cNvSpPr/>
            <p:nvPr/>
          </p:nvSpPr>
          <p:spPr>
            <a:xfrm>
              <a:off x="1189" y="2911"/>
              <a:ext cx="798" cy="171"/>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85" name="Google Shape;85;p5"/>
            <p:cNvSpPr/>
            <p:nvPr/>
          </p:nvSpPr>
          <p:spPr>
            <a:xfrm>
              <a:off x="825" y="3009"/>
              <a:ext cx="265"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40000</a:t>
              </a:r>
              <a:endParaRPr b="0" i="0" sz="2800" u="none" cap="none" strike="noStrike">
                <a:solidFill>
                  <a:schemeClr val="dk1"/>
                </a:solidFill>
                <a:latin typeface="Gill Sans"/>
                <a:ea typeface="Gill Sans"/>
                <a:cs typeface="Gill Sans"/>
                <a:sym typeface="Gill Sans"/>
              </a:endParaRPr>
            </a:p>
          </p:txBody>
        </p:sp>
        <p:sp>
          <p:nvSpPr>
            <p:cNvPr id="86" name="Google Shape;86;p5"/>
            <p:cNvSpPr/>
            <p:nvPr/>
          </p:nvSpPr>
          <p:spPr>
            <a:xfrm>
              <a:off x="1189" y="2741"/>
              <a:ext cx="798" cy="170"/>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87" name="Google Shape;87;p5"/>
            <p:cNvSpPr/>
            <p:nvPr/>
          </p:nvSpPr>
          <p:spPr>
            <a:xfrm>
              <a:off x="825" y="2830"/>
              <a:ext cx="265"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50000</a:t>
              </a:r>
              <a:endParaRPr b="0" i="0" sz="2800" u="none" cap="none" strike="noStrike">
                <a:solidFill>
                  <a:schemeClr val="dk1"/>
                </a:solidFill>
                <a:latin typeface="Gill Sans"/>
                <a:ea typeface="Gill Sans"/>
                <a:cs typeface="Gill Sans"/>
                <a:sym typeface="Gill Sans"/>
              </a:endParaRPr>
            </a:p>
          </p:txBody>
        </p:sp>
        <p:sp>
          <p:nvSpPr>
            <p:cNvPr id="88" name="Google Shape;88;p5"/>
            <p:cNvSpPr/>
            <p:nvPr/>
          </p:nvSpPr>
          <p:spPr>
            <a:xfrm>
              <a:off x="1189" y="2570"/>
              <a:ext cx="798" cy="171"/>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89" name="Google Shape;89;p5"/>
            <p:cNvSpPr/>
            <p:nvPr/>
          </p:nvSpPr>
          <p:spPr>
            <a:xfrm>
              <a:off x="825" y="2659"/>
              <a:ext cx="265"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60000</a:t>
              </a:r>
              <a:endParaRPr b="0" i="0" sz="2800" u="none" cap="none" strike="noStrike">
                <a:solidFill>
                  <a:schemeClr val="dk1"/>
                </a:solidFill>
                <a:latin typeface="Gill Sans"/>
                <a:ea typeface="Gill Sans"/>
                <a:cs typeface="Gill Sans"/>
                <a:sym typeface="Gill Sans"/>
              </a:endParaRPr>
            </a:p>
          </p:txBody>
        </p:sp>
        <p:sp>
          <p:nvSpPr>
            <p:cNvPr id="90" name="Google Shape;90;p5"/>
            <p:cNvSpPr/>
            <p:nvPr/>
          </p:nvSpPr>
          <p:spPr>
            <a:xfrm>
              <a:off x="1189" y="2391"/>
              <a:ext cx="798" cy="179"/>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91" name="Google Shape;91;p5"/>
            <p:cNvSpPr/>
            <p:nvPr/>
          </p:nvSpPr>
          <p:spPr>
            <a:xfrm>
              <a:off x="825" y="2489"/>
              <a:ext cx="265"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70000</a:t>
              </a:r>
              <a:endParaRPr b="0" i="0" sz="2800" u="none" cap="none" strike="noStrike">
                <a:solidFill>
                  <a:schemeClr val="dk1"/>
                </a:solidFill>
                <a:latin typeface="Gill Sans"/>
                <a:ea typeface="Gill Sans"/>
                <a:cs typeface="Gill Sans"/>
                <a:sym typeface="Gill Sans"/>
              </a:endParaRPr>
            </a:p>
          </p:txBody>
        </p:sp>
        <p:sp>
          <p:nvSpPr>
            <p:cNvPr id="92" name="Google Shape;92;p5"/>
            <p:cNvSpPr/>
            <p:nvPr/>
          </p:nvSpPr>
          <p:spPr>
            <a:xfrm>
              <a:off x="1189" y="2220"/>
              <a:ext cx="798" cy="171"/>
            </a:xfrm>
            <a:prstGeom prst="rect">
              <a:avLst/>
            </a:prstGeom>
            <a:solidFill>
              <a:srgbClr val="C0C0C0"/>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93" name="Google Shape;93;p5"/>
            <p:cNvSpPr/>
            <p:nvPr/>
          </p:nvSpPr>
          <p:spPr>
            <a:xfrm>
              <a:off x="825" y="2318"/>
              <a:ext cx="265"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80000</a:t>
              </a:r>
              <a:endParaRPr b="0" i="0" sz="2800" u="none" cap="none" strike="noStrike">
                <a:solidFill>
                  <a:schemeClr val="dk1"/>
                </a:solidFill>
                <a:latin typeface="Gill Sans"/>
                <a:ea typeface="Gill Sans"/>
                <a:cs typeface="Gill Sans"/>
                <a:sym typeface="Gill Sans"/>
              </a:endParaRPr>
            </a:p>
          </p:txBody>
        </p:sp>
        <p:sp>
          <p:nvSpPr>
            <p:cNvPr id="94" name="Google Shape;94;p5"/>
            <p:cNvSpPr/>
            <p:nvPr/>
          </p:nvSpPr>
          <p:spPr>
            <a:xfrm>
              <a:off x="1189" y="2049"/>
              <a:ext cx="798" cy="171"/>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95" name="Google Shape;95;p5"/>
            <p:cNvSpPr/>
            <p:nvPr/>
          </p:nvSpPr>
          <p:spPr>
            <a:xfrm>
              <a:off x="825" y="2139"/>
              <a:ext cx="265"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90000</a:t>
              </a:r>
              <a:endParaRPr b="0" i="0" sz="2800" u="none" cap="none" strike="noStrike">
                <a:solidFill>
                  <a:schemeClr val="dk1"/>
                </a:solidFill>
                <a:latin typeface="Gill Sans"/>
                <a:ea typeface="Gill Sans"/>
                <a:cs typeface="Gill Sans"/>
                <a:sym typeface="Gill Sans"/>
              </a:endParaRPr>
            </a:p>
          </p:txBody>
        </p:sp>
        <p:sp>
          <p:nvSpPr>
            <p:cNvPr id="96" name="Google Shape;96;p5"/>
            <p:cNvSpPr/>
            <p:nvPr/>
          </p:nvSpPr>
          <p:spPr>
            <a:xfrm>
              <a:off x="1189" y="1879"/>
              <a:ext cx="798" cy="170"/>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97" name="Google Shape;97;p5"/>
            <p:cNvSpPr/>
            <p:nvPr/>
          </p:nvSpPr>
          <p:spPr>
            <a:xfrm>
              <a:off x="816" y="1968"/>
              <a:ext cx="276"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A0000</a:t>
              </a:r>
              <a:endParaRPr b="0" i="0" sz="2800" u="none" cap="none" strike="noStrike">
                <a:solidFill>
                  <a:schemeClr val="dk1"/>
                </a:solidFill>
                <a:latin typeface="Gill Sans"/>
                <a:ea typeface="Gill Sans"/>
                <a:cs typeface="Gill Sans"/>
                <a:sym typeface="Gill Sans"/>
              </a:endParaRPr>
            </a:p>
          </p:txBody>
        </p:sp>
        <p:sp>
          <p:nvSpPr>
            <p:cNvPr id="98" name="Google Shape;98;p5"/>
            <p:cNvSpPr/>
            <p:nvPr/>
          </p:nvSpPr>
          <p:spPr>
            <a:xfrm>
              <a:off x="1189" y="1700"/>
              <a:ext cx="798" cy="179"/>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99" name="Google Shape;99;p5"/>
            <p:cNvSpPr/>
            <p:nvPr/>
          </p:nvSpPr>
          <p:spPr>
            <a:xfrm>
              <a:off x="816" y="1797"/>
              <a:ext cx="276"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B0000</a:t>
              </a:r>
              <a:endParaRPr b="0" i="0" sz="2800" u="none" cap="none" strike="noStrike">
                <a:solidFill>
                  <a:schemeClr val="dk1"/>
                </a:solidFill>
                <a:latin typeface="Gill Sans"/>
                <a:ea typeface="Gill Sans"/>
                <a:cs typeface="Gill Sans"/>
                <a:sym typeface="Gill Sans"/>
              </a:endParaRPr>
            </a:p>
          </p:txBody>
        </p:sp>
        <p:sp>
          <p:nvSpPr>
            <p:cNvPr id="100" name="Google Shape;100;p5"/>
            <p:cNvSpPr/>
            <p:nvPr/>
          </p:nvSpPr>
          <p:spPr>
            <a:xfrm>
              <a:off x="1189" y="1529"/>
              <a:ext cx="798" cy="171"/>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01" name="Google Shape;101;p5"/>
            <p:cNvSpPr/>
            <p:nvPr/>
          </p:nvSpPr>
          <p:spPr>
            <a:xfrm>
              <a:off x="816" y="1627"/>
              <a:ext cx="281"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C0000</a:t>
              </a:r>
              <a:endParaRPr b="0" i="0" sz="2800" u="none" cap="none" strike="noStrike">
                <a:solidFill>
                  <a:schemeClr val="dk1"/>
                </a:solidFill>
                <a:latin typeface="Gill Sans"/>
                <a:ea typeface="Gill Sans"/>
                <a:cs typeface="Gill Sans"/>
                <a:sym typeface="Gill Sans"/>
              </a:endParaRPr>
            </a:p>
          </p:txBody>
        </p:sp>
        <p:sp>
          <p:nvSpPr>
            <p:cNvPr id="102" name="Google Shape;102;p5"/>
            <p:cNvSpPr/>
            <p:nvPr/>
          </p:nvSpPr>
          <p:spPr>
            <a:xfrm>
              <a:off x="1189" y="1358"/>
              <a:ext cx="798" cy="171"/>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03" name="Google Shape;103;p5"/>
            <p:cNvSpPr/>
            <p:nvPr/>
          </p:nvSpPr>
          <p:spPr>
            <a:xfrm>
              <a:off x="816" y="1448"/>
              <a:ext cx="281"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D0000</a:t>
              </a:r>
              <a:endParaRPr b="0" i="0" sz="2800" u="none" cap="none" strike="noStrike">
                <a:solidFill>
                  <a:schemeClr val="dk1"/>
                </a:solidFill>
                <a:latin typeface="Gill Sans"/>
                <a:ea typeface="Gill Sans"/>
                <a:cs typeface="Gill Sans"/>
                <a:sym typeface="Gill Sans"/>
              </a:endParaRPr>
            </a:p>
          </p:txBody>
        </p:sp>
        <p:sp>
          <p:nvSpPr>
            <p:cNvPr id="104" name="Google Shape;104;p5"/>
            <p:cNvSpPr/>
            <p:nvPr/>
          </p:nvSpPr>
          <p:spPr>
            <a:xfrm>
              <a:off x="1189" y="1188"/>
              <a:ext cx="798" cy="170"/>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05" name="Google Shape;105;p5"/>
            <p:cNvSpPr/>
            <p:nvPr/>
          </p:nvSpPr>
          <p:spPr>
            <a:xfrm>
              <a:off x="816" y="1277"/>
              <a:ext cx="276"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E0000</a:t>
              </a:r>
              <a:endParaRPr b="0" i="0" sz="2800" u="none" cap="none" strike="noStrike">
                <a:solidFill>
                  <a:schemeClr val="dk1"/>
                </a:solidFill>
                <a:latin typeface="Gill Sans"/>
                <a:ea typeface="Gill Sans"/>
                <a:cs typeface="Gill Sans"/>
                <a:sym typeface="Gill Sans"/>
              </a:endParaRPr>
            </a:p>
          </p:txBody>
        </p:sp>
        <p:sp>
          <p:nvSpPr>
            <p:cNvPr id="106" name="Google Shape;106;p5"/>
            <p:cNvSpPr/>
            <p:nvPr/>
          </p:nvSpPr>
          <p:spPr>
            <a:xfrm>
              <a:off x="1189" y="1008"/>
              <a:ext cx="798" cy="180"/>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07" name="Google Shape;107;p5"/>
            <p:cNvSpPr/>
            <p:nvPr/>
          </p:nvSpPr>
          <p:spPr>
            <a:xfrm>
              <a:off x="816" y="1106"/>
              <a:ext cx="271"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F0000</a:t>
              </a:r>
              <a:endParaRPr b="0" i="0" sz="2800" u="none" cap="none" strike="noStrike">
                <a:solidFill>
                  <a:schemeClr val="dk1"/>
                </a:solidFill>
                <a:latin typeface="Gill Sans"/>
                <a:ea typeface="Gill Sans"/>
                <a:cs typeface="Gill Sans"/>
                <a:sym typeface="Gill Sans"/>
              </a:endParaRPr>
            </a:p>
          </p:txBody>
        </p:sp>
        <p:sp>
          <p:nvSpPr>
            <p:cNvPr id="108" name="Google Shape;108;p5"/>
            <p:cNvSpPr/>
            <p:nvPr/>
          </p:nvSpPr>
          <p:spPr>
            <a:xfrm>
              <a:off x="2736" y="2016"/>
              <a:ext cx="798" cy="563"/>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09" name="Google Shape;109;p5"/>
            <p:cNvSpPr/>
            <p:nvPr/>
          </p:nvSpPr>
          <p:spPr>
            <a:xfrm>
              <a:off x="2826" y="2246"/>
              <a:ext cx="640" cy="16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800"/>
                <a:buFont typeface="Noto Sans Symbols"/>
                <a:buNone/>
              </a:pPr>
              <a:r>
                <a:rPr b="0" i="0" lang="en-US" sz="2000" u="none" cap="none" strike="noStrike">
                  <a:solidFill>
                    <a:srgbClr val="000000"/>
                  </a:solidFill>
                  <a:latin typeface="Gill Sans"/>
                  <a:ea typeface="Gill Sans"/>
                  <a:cs typeface="Gill Sans"/>
                  <a:sym typeface="Gill Sans"/>
                </a:rPr>
                <a:t>One Segment</a:t>
              </a:r>
              <a:endParaRPr b="0" i="0" sz="2000" u="none" cap="none" strike="noStrike">
                <a:solidFill>
                  <a:schemeClr val="dk1"/>
                </a:solidFill>
                <a:latin typeface="Gill Sans"/>
                <a:ea typeface="Gill Sans"/>
                <a:cs typeface="Gill Sans"/>
                <a:sym typeface="Gill Sans"/>
              </a:endParaRPr>
            </a:p>
          </p:txBody>
        </p:sp>
        <p:sp>
          <p:nvSpPr>
            <p:cNvPr id="110" name="Google Shape;110;p5"/>
            <p:cNvSpPr/>
            <p:nvPr/>
          </p:nvSpPr>
          <p:spPr>
            <a:xfrm>
              <a:off x="2112" y="2352"/>
              <a:ext cx="489" cy="16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800"/>
                <a:buFont typeface="Noto Sans Symbols"/>
                <a:buNone/>
              </a:pPr>
              <a:r>
                <a:rPr b="0" i="0" lang="en-US" sz="2000" u="none" cap="none" strike="noStrike">
                  <a:solidFill>
                    <a:schemeClr val="dk1"/>
                  </a:solidFill>
                  <a:latin typeface="Gill Sans"/>
                  <a:ea typeface="Gill Sans"/>
                  <a:cs typeface="Gill Sans"/>
                  <a:sym typeface="Gill Sans"/>
                </a:rPr>
                <a:t>8000:0000</a:t>
              </a:r>
              <a:endParaRPr b="0" i="0" sz="1400" u="none" cap="none" strike="noStrike">
                <a:solidFill>
                  <a:srgbClr val="000000"/>
                </a:solidFill>
                <a:latin typeface="Arial"/>
                <a:ea typeface="Arial"/>
                <a:cs typeface="Arial"/>
                <a:sym typeface="Arial"/>
              </a:endParaRPr>
            </a:p>
          </p:txBody>
        </p:sp>
        <p:sp>
          <p:nvSpPr>
            <p:cNvPr id="111" name="Google Shape;111;p5"/>
            <p:cNvSpPr/>
            <p:nvPr/>
          </p:nvSpPr>
          <p:spPr>
            <a:xfrm>
              <a:off x="2112" y="2112"/>
              <a:ext cx="474" cy="16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800"/>
                <a:buFont typeface="Noto Sans Symbols"/>
                <a:buNone/>
              </a:pPr>
              <a:r>
                <a:rPr b="0" i="0" lang="en-US" sz="2000" u="none" cap="none" strike="noStrike">
                  <a:solidFill>
                    <a:schemeClr val="dk1"/>
                  </a:solidFill>
                  <a:latin typeface="Gill Sans"/>
                  <a:ea typeface="Gill Sans"/>
                  <a:cs typeface="Gill Sans"/>
                  <a:sym typeface="Gill Sans"/>
                </a:rPr>
                <a:t>8000:FFFF</a:t>
              </a:r>
              <a:endParaRPr b="0" i="0" sz="1400" u="none" cap="none" strike="noStrike">
                <a:solidFill>
                  <a:srgbClr val="000000"/>
                </a:solidFill>
                <a:latin typeface="Arial"/>
                <a:ea typeface="Arial"/>
                <a:cs typeface="Arial"/>
                <a:sym typeface="Arial"/>
              </a:endParaRPr>
            </a:p>
          </p:txBody>
        </p:sp>
        <p:sp>
          <p:nvSpPr>
            <p:cNvPr id="112" name="Google Shape;112;p5"/>
            <p:cNvSpPr/>
            <p:nvPr/>
          </p:nvSpPr>
          <p:spPr>
            <a:xfrm>
              <a:off x="2016" y="2784"/>
              <a:ext cx="391" cy="169"/>
            </a:xfrm>
            <a:prstGeom prst="rect">
              <a:avLst/>
            </a:prstGeom>
            <a:noFill/>
            <a:ln cap="flat" cmpd="sng" w="12700">
              <a:solidFill>
                <a:srgbClr val="FF00FF"/>
              </a:solidFill>
              <a:prstDash val="solid"/>
              <a:miter lim="800000"/>
              <a:headEnd len="sm" w="sm" type="none"/>
              <a:tailEnd len="sm" w="sm" type="none"/>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800"/>
                <a:buFont typeface="Noto Sans Symbols"/>
                <a:buNone/>
              </a:pPr>
              <a:r>
                <a:rPr b="0" i="0" lang="en-US" sz="2000" u="none" cap="none" strike="noStrike">
                  <a:solidFill>
                    <a:schemeClr val="dk1"/>
                  </a:solidFill>
                  <a:latin typeface="Gill Sans"/>
                  <a:ea typeface="Gill Sans"/>
                  <a:cs typeface="Gill Sans"/>
                  <a:sym typeface="Gill Sans"/>
                </a:rPr>
                <a:t>segment</a:t>
              </a:r>
              <a:endParaRPr b="0" i="0" sz="1400" u="none" cap="none" strike="noStrike">
                <a:solidFill>
                  <a:srgbClr val="000000"/>
                </a:solidFill>
                <a:latin typeface="Arial"/>
                <a:ea typeface="Arial"/>
                <a:cs typeface="Arial"/>
                <a:sym typeface="Arial"/>
              </a:endParaRPr>
            </a:p>
          </p:txBody>
        </p:sp>
        <p:sp>
          <p:nvSpPr>
            <p:cNvPr id="113" name="Google Shape;113;p5"/>
            <p:cNvSpPr/>
            <p:nvPr/>
          </p:nvSpPr>
          <p:spPr>
            <a:xfrm>
              <a:off x="2448" y="2784"/>
              <a:ext cx="261" cy="169"/>
            </a:xfrm>
            <a:prstGeom prst="rect">
              <a:avLst/>
            </a:prstGeom>
            <a:noFill/>
            <a:ln cap="flat" cmpd="sng" w="12700">
              <a:solidFill>
                <a:srgbClr val="FF00FF"/>
              </a:solidFill>
              <a:prstDash val="solid"/>
              <a:miter lim="800000"/>
              <a:headEnd len="sm" w="sm" type="none"/>
              <a:tailEnd len="sm" w="sm" type="none"/>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800"/>
                <a:buFont typeface="Noto Sans Symbols"/>
                <a:buNone/>
              </a:pPr>
              <a:r>
                <a:rPr b="0" i="0" lang="en-US" sz="2000" u="none" cap="none" strike="noStrike">
                  <a:solidFill>
                    <a:schemeClr val="dk1"/>
                  </a:solidFill>
                  <a:latin typeface="Gill Sans"/>
                  <a:ea typeface="Gill Sans"/>
                  <a:cs typeface="Gill Sans"/>
                  <a:sym typeface="Gill Sans"/>
                </a:rPr>
                <a:t>offset</a:t>
              </a:r>
              <a:endParaRPr b="0" i="0" sz="1400" u="none" cap="none" strike="noStrike">
                <a:solidFill>
                  <a:srgbClr val="000000"/>
                </a:solidFill>
                <a:latin typeface="Arial"/>
                <a:ea typeface="Arial"/>
                <a:cs typeface="Arial"/>
                <a:sym typeface="Arial"/>
              </a:endParaRPr>
            </a:p>
          </p:txBody>
        </p:sp>
        <p:cxnSp>
          <p:nvCxnSpPr>
            <p:cNvPr id="114" name="Google Shape;114;p5"/>
            <p:cNvCxnSpPr/>
            <p:nvPr/>
          </p:nvCxnSpPr>
          <p:spPr>
            <a:xfrm>
              <a:off x="2016" y="2304"/>
              <a:ext cx="720" cy="0"/>
            </a:xfrm>
            <a:prstGeom prst="straightConnector1">
              <a:avLst/>
            </a:prstGeom>
            <a:noFill/>
            <a:ln cap="flat" cmpd="sng" w="28575">
              <a:solidFill>
                <a:srgbClr val="FF00FF"/>
              </a:solidFill>
              <a:prstDash val="solid"/>
              <a:round/>
              <a:headEnd len="sm" w="sm" type="none"/>
              <a:tailEnd len="med" w="med" type="triangle"/>
            </a:ln>
          </p:spPr>
        </p:cxnSp>
        <p:cxnSp>
          <p:nvCxnSpPr>
            <p:cNvPr id="115" name="Google Shape;115;p5"/>
            <p:cNvCxnSpPr/>
            <p:nvPr/>
          </p:nvCxnSpPr>
          <p:spPr>
            <a:xfrm flipH="1" rot="10800000">
              <a:off x="2208" y="2452"/>
              <a:ext cx="38" cy="332"/>
            </a:xfrm>
            <a:prstGeom prst="straightConnector1">
              <a:avLst/>
            </a:prstGeom>
            <a:noFill/>
            <a:ln cap="flat" cmpd="sng" w="28575">
              <a:solidFill>
                <a:srgbClr val="FF00FF"/>
              </a:solidFill>
              <a:prstDash val="solid"/>
              <a:round/>
              <a:headEnd len="sm" w="sm" type="none"/>
              <a:tailEnd len="med" w="med" type="triangle"/>
            </a:ln>
          </p:spPr>
        </p:cxnSp>
        <p:cxnSp>
          <p:nvCxnSpPr>
            <p:cNvPr id="116" name="Google Shape;116;p5"/>
            <p:cNvCxnSpPr/>
            <p:nvPr/>
          </p:nvCxnSpPr>
          <p:spPr>
            <a:xfrm rot="10800000">
              <a:off x="2448" y="2448"/>
              <a:ext cx="92" cy="303"/>
            </a:xfrm>
            <a:prstGeom prst="straightConnector1">
              <a:avLst/>
            </a:prstGeom>
            <a:noFill/>
            <a:ln cap="flat" cmpd="sng" w="28575">
              <a:solidFill>
                <a:srgbClr val="FF00FF"/>
              </a:solidFill>
              <a:prstDash val="solid"/>
              <a:round/>
              <a:headEnd len="sm" w="sm" type="none"/>
              <a:tailEnd len="med" w="med" type="triangle"/>
            </a:ln>
          </p:spPr>
        </p:cxnSp>
      </p:grpSp>
      <p:sp>
        <p:nvSpPr>
          <p:cNvPr id="117" name="Google Shape;117;p5"/>
          <p:cNvSpPr/>
          <p:nvPr/>
        </p:nvSpPr>
        <p:spPr>
          <a:xfrm>
            <a:off x="6507745" y="5029200"/>
            <a:ext cx="1630254" cy="14157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800"/>
              <a:buFont typeface="Noto Sans Symbols"/>
              <a:buNone/>
            </a:pPr>
            <a:r>
              <a:rPr b="0" i="0" lang="en-US" sz="2000" u="none" cap="none" strike="noStrike">
                <a:solidFill>
                  <a:srgbClr val="000000"/>
                </a:solidFill>
                <a:latin typeface="Gill Sans"/>
                <a:ea typeface="Gill Sans"/>
                <a:cs typeface="Gill Sans"/>
                <a:sym typeface="Gill Sans"/>
              </a:rPr>
              <a:t>00000 to 3FFFF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chemeClr val="dk2"/>
              </a:buClr>
              <a:buSzPts val="1800"/>
              <a:buFont typeface="Noto Sans Symbols"/>
              <a:buNone/>
            </a:pPr>
            <a:r>
              <a:rPr b="0" i="0" lang="en-US" sz="2000" u="none" cap="none" strike="noStrike">
                <a:solidFill>
                  <a:srgbClr val="000000"/>
                </a:solidFill>
                <a:latin typeface="Gill Sans"/>
                <a:ea typeface="Gill Sans"/>
                <a:cs typeface="Gill Sans"/>
                <a:sym typeface="Gill Sans"/>
              </a:rPr>
              <a:t>is reserved 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chemeClr val="dk2"/>
              </a:buClr>
              <a:buSzPts val="1800"/>
              <a:buFont typeface="Noto Sans Symbols"/>
              <a:buNone/>
            </a:pPr>
            <a:r>
              <a:rPr b="0" i="0" lang="en-US" sz="2000" u="none" cap="none" strike="noStrike">
                <a:solidFill>
                  <a:srgbClr val="000000"/>
                </a:solidFill>
                <a:latin typeface="Gill Sans"/>
                <a:ea typeface="Gill Sans"/>
                <a:cs typeface="Gill Sans"/>
                <a:sym typeface="Gill Sans"/>
              </a:rPr>
              <a:t>RAM to load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chemeClr val="dk2"/>
              </a:buClr>
              <a:buSzPts val="1800"/>
              <a:buFont typeface="Noto Sans Symbols"/>
              <a:buNone/>
            </a:pPr>
            <a:r>
              <a:rPr b="0" i="0" lang="en-US" sz="2000" u="none" cap="none" strike="noStrike">
                <a:solidFill>
                  <a:srgbClr val="000000"/>
                </a:solidFill>
                <a:latin typeface="Gill Sans"/>
                <a:ea typeface="Gill Sans"/>
                <a:cs typeface="Gill Sans"/>
                <a:sym typeface="Gill Sans"/>
              </a:rPr>
              <a:t>system function</a:t>
            </a:r>
            <a:endParaRPr b="0" i="0" sz="2000" u="none" cap="none" strike="noStrike">
              <a:solidFill>
                <a:schemeClr val="dk1"/>
              </a:solidFill>
              <a:latin typeface="Gill Sans"/>
              <a:ea typeface="Gill Sans"/>
              <a:cs typeface="Gill Sans"/>
              <a:sym typeface="Gill Sans"/>
            </a:endParaRPr>
          </a:p>
        </p:txBody>
      </p:sp>
      <p:sp>
        <p:nvSpPr>
          <p:cNvPr id="118" name="Google Shape;118;p5"/>
          <p:cNvSpPr/>
          <p:nvPr/>
        </p:nvSpPr>
        <p:spPr>
          <a:xfrm>
            <a:off x="6553200" y="1295400"/>
            <a:ext cx="1767403" cy="1447800"/>
          </a:xfrm>
          <a:prstGeom prst="rect">
            <a:avLst/>
          </a:prstGeom>
          <a:solidFill>
            <a:srgbClr val="FFFFFF"/>
          </a:solidFill>
          <a:ln cap="flat" cmpd="sng" w="142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19" name="Google Shape;119;p5"/>
          <p:cNvSpPr/>
          <p:nvPr/>
        </p:nvSpPr>
        <p:spPr>
          <a:xfrm>
            <a:off x="6660145" y="1391960"/>
            <a:ext cx="1798055" cy="10464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800"/>
              <a:buFont typeface="Noto Sans Symbols"/>
              <a:buNone/>
            </a:pPr>
            <a:r>
              <a:rPr b="0" i="0" lang="en-US" sz="2000" u="none" cap="none" strike="noStrike">
                <a:solidFill>
                  <a:srgbClr val="000000"/>
                </a:solidFill>
                <a:latin typeface="Gill Sans"/>
                <a:ea typeface="Gill Sans"/>
                <a:cs typeface="Gill Sans"/>
                <a:sym typeface="Gill Sans"/>
              </a:rPr>
              <a:t>FFFF0 To FFFFF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chemeClr val="dk2"/>
              </a:buClr>
              <a:buSzPts val="1800"/>
              <a:buFont typeface="Noto Sans Symbols"/>
              <a:buNone/>
            </a:pPr>
            <a:r>
              <a:rPr b="0" i="0" lang="en-US" sz="2000" u="none" cap="none" strike="noStrike">
                <a:solidFill>
                  <a:srgbClr val="000000"/>
                </a:solidFill>
                <a:latin typeface="Gill Sans"/>
                <a:ea typeface="Gill Sans"/>
                <a:cs typeface="Gill Sans"/>
                <a:sym typeface="Gill Sans"/>
              </a:rPr>
              <a:t>is reserved for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chemeClr val="dk2"/>
              </a:buClr>
              <a:buSzPts val="1800"/>
              <a:buFont typeface="Noto Sans Symbols"/>
              <a:buNone/>
            </a:pPr>
            <a:r>
              <a:rPr b="0" i="0" lang="en-US" sz="2000" u="none" cap="none" strike="noStrike">
                <a:solidFill>
                  <a:srgbClr val="000000"/>
                </a:solidFill>
                <a:latin typeface="Gill Sans"/>
                <a:ea typeface="Gill Sans"/>
                <a:cs typeface="Gill Sans"/>
                <a:sym typeface="Gill Sans"/>
              </a:rPr>
              <a:t>ROM (16 bytes)</a:t>
            </a:r>
            <a:endParaRPr b="1" i="0" sz="2000" u="none" cap="none" strike="noStrike">
              <a:solidFill>
                <a:schemeClr val="dk1"/>
              </a:solidFill>
              <a:latin typeface="Gill Sans"/>
              <a:ea typeface="Gill Sans"/>
              <a:cs typeface="Gill Sans"/>
              <a:sym typeface="Gill Sans"/>
            </a:endParaRPr>
          </a:p>
        </p:txBody>
      </p:sp>
      <p:cxnSp>
        <p:nvCxnSpPr>
          <p:cNvPr id="120" name="Google Shape;120;p5"/>
          <p:cNvCxnSpPr>
            <a:stCxn id="118" idx="1"/>
          </p:cNvCxnSpPr>
          <p:nvPr/>
        </p:nvCxnSpPr>
        <p:spPr>
          <a:xfrm rot="10800000">
            <a:off x="4419600" y="1447800"/>
            <a:ext cx="2133600" cy="571500"/>
          </a:xfrm>
          <a:prstGeom prst="straightConnector1">
            <a:avLst/>
          </a:prstGeom>
          <a:noFill/>
          <a:ln cap="flat" cmpd="sng" w="9525">
            <a:solidFill>
              <a:schemeClr val="dk1"/>
            </a:solidFill>
            <a:prstDash val="solid"/>
            <a:round/>
            <a:headEnd len="sm" w="sm" type="none"/>
            <a:tailEnd len="med" w="med" type="stealth"/>
          </a:ln>
        </p:spPr>
      </p:cxnSp>
      <p:cxnSp>
        <p:nvCxnSpPr>
          <p:cNvPr id="121" name="Google Shape;121;p5"/>
          <p:cNvCxnSpPr/>
          <p:nvPr/>
        </p:nvCxnSpPr>
        <p:spPr>
          <a:xfrm rot="10800000">
            <a:off x="4267200" y="5009650"/>
            <a:ext cx="2133600" cy="324350"/>
          </a:xfrm>
          <a:prstGeom prst="straightConnector1">
            <a:avLst/>
          </a:prstGeom>
          <a:noFill/>
          <a:ln cap="flat" cmpd="sng" w="9525">
            <a:solidFill>
              <a:schemeClr val="dk1"/>
            </a:solidFill>
            <a:prstDash val="solid"/>
            <a:round/>
            <a:headEnd len="sm" w="sm" type="none"/>
            <a:tailEnd len="med" w="med" type="stealth"/>
          </a:ln>
        </p:spPr>
      </p:cxnSp>
      <p:cxnSp>
        <p:nvCxnSpPr>
          <p:cNvPr id="122" name="Google Shape;122;p5"/>
          <p:cNvCxnSpPr/>
          <p:nvPr/>
        </p:nvCxnSpPr>
        <p:spPr>
          <a:xfrm flipH="1">
            <a:off x="4343400" y="5715000"/>
            <a:ext cx="1981200" cy="457200"/>
          </a:xfrm>
          <a:prstGeom prst="straightConnector1">
            <a:avLst/>
          </a:prstGeom>
          <a:noFill/>
          <a:ln cap="flat" cmpd="sng" w="9525">
            <a:solidFill>
              <a:schemeClr val="dk1"/>
            </a:solidFill>
            <a:prstDash val="solid"/>
            <a:round/>
            <a:headEnd len="sm" w="sm" type="none"/>
            <a:tailEnd len="med" w="med" type="stealth"/>
          </a:ln>
        </p:spPr>
      </p:cxnSp>
      <p:sp>
        <p:nvSpPr>
          <p:cNvPr id="123" name="Google Shape;123;p5"/>
          <p:cNvSpPr/>
          <p:nvPr/>
        </p:nvSpPr>
        <p:spPr>
          <a:xfrm>
            <a:off x="4343400" y="1219200"/>
            <a:ext cx="76200" cy="228600"/>
          </a:xfrm>
          <a:prstGeom prst="rightBrace">
            <a:avLst>
              <a:gd fmla="val 8333"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24" name="Google Shape;124;p5"/>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
        <p:nvSpPr>
          <p:cNvPr id="125" name="Google Shape;125;p5"/>
          <p:cNvSpPr/>
          <p:nvPr/>
        </p:nvSpPr>
        <p:spPr>
          <a:xfrm>
            <a:off x="1676400" y="1190289"/>
            <a:ext cx="360676" cy="18466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080"/>
              <a:buFont typeface="Noto Sans Symbols"/>
              <a:buNone/>
            </a:pPr>
            <a:r>
              <a:rPr b="0" i="0" lang="en-US" sz="1200" u="none" cap="none" strike="noStrike">
                <a:solidFill>
                  <a:schemeClr val="dk1"/>
                </a:solidFill>
                <a:latin typeface="Gill Sans"/>
                <a:ea typeface="Gill Sans"/>
                <a:cs typeface="Gill Sans"/>
                <a:sym typeface="Gill Sans"/>
              </a:rPr>
              <a:t>FFFFF</a:t>
            </a:r>
            <a:endParaRPr b="0" i="0" sz="2800" u="none" cap="none" strike="noStrike">
              <a:solidFill>
                <a:schemeClr val="dk1"/>
              </a:solidFill>
              <a:latin typeface="Gill Sans"/>
              <a:ea typeface="Gill Sans"/>
              <a:cs typeface="Gill Sans"/>
              <a:sym typeface="Gill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Memory Segmentation</a:t>
            </a:r>
            <a:endParaRPr/>
          </a:p>
        </p:txBody>
      </p:sp>
      <p:sp>
        <p:nvSpPr>
          <p:cNvPr id="131" name="Google Shape;131;p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132" name="Google Shape;132;p6"/>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
        <p:nvSpPr>
          <p:cNvPr id="133" name="Google Shape;133;p6"/>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976"/>
              <a:buChar char="?"/>
            </a:pPr>
            <a:r>
              <a:rPr b="1" lang="en-US"/>
              <a:t>Segmentation</a:t>
            </a:r>
            <a:r>
              <a:rPr lang="en-US"/>
              <a:t> is the process in which the main memory of the computer is logically divided into different segments and each segment has its own base address. </a:t>
            </a:r>
            <a:endParaRPr/>
          </a:p>
          <a:p>
            <a:pPr indent="-274320" lvl="0" marL="274320" rtl="0" algn="l">
              <a:lnSpc>
                <a:spcPct val="100000"/>
              </a:lnSpc>
              <a:spcBef>
                <a:spcPts val="600"/>
              </a:spcBef>
              <a:spcAft>
                <a:spcPts val="0"/>
              </a:spcAft>
              <a:buSzPts val="1976"/>
              <a:buChar char="?"/>
            </a:pPr>
            <a:r>
              <a:rPr lang="en-US"/>
              <a:t>It is basically used to enhance the speed of execution of the computer system, so that the processor is able to fetch and execute the data from the memory easily and fast.</a:t>
            </a:r>
            <a:endParaRPr/>
          </a:p>
          <a:p>
            <a:pPr indent="-274320" lvl="0" marL="274320" rtl="0" algn="l">
              <a:lnSpc>
                <a:spcPct val="100000"/>
              </a:lnSpc>
              <a:spcBef>
                <a:spcPts val="600"/>
              </a:spcBef>
              <a:spcAft>
                <a:spcPts val="0"/>
              </a:spcAft>
              <a:buSzPts val="1976"/>
              <a:buChar char="?"/>
            </a:pPr>
            <a:r>
              <a:rPr lang="en-US"/>
              <a:t>A segment is a logical unit of memory that may be up to 64 kilobytes long. Each segment is made up of contiguous memory locations.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Memory Segment: </a:t>
            </a:r>
            <a:r>
              <a:rPr b="1" i="1" lang="en-US">
                <a:solidFill>
                  <a:schemeClr val="dk1"/>
                </a:solidFill>
              </a:rPr>
              <a:t>Address Space</a:t>
            </a:r>
            <a:endParaRPr/>
          </a:p>
        </p:txBody>
      </p:sp>
      <p:sp>
        <p:nvSpPr>
          <p:cNvPr id="139" name="Google Shape;139;p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140" name="Google Shape;140;p7"/>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976"/>
              <a:buChar char="?"/>
            </a:pPr>
            <a:r>
              <a:rPr b="1" i="1" lang="en-US"/>
              <a:t>Memory segment </a:t>
            </a:r>
            <a:r>
              <a:rPr lang="en-US"/>
              <a:t>is a block of  2</a:t>
            </a:r>
            <a:r>
              <a:rPr baseline="30000" lang="en-US"/>
              <a:t>16</a:t>
            </a:r>
            <a:r>
              <a:rPr lang="en-US"/>
              <a:t>  (64) KBytes consecutive memory bytes.</a:t>
            </a:r>
            <a:endParaRPr/>
          </a:p>
          <a:p>
            <a:pPr indent="-274320" lvl="0" marL="274320" rtl="0" algn="l">
              <a:lnSpc>
                <a:spcPct val="90000"/>
              </a:lnSpc>
              <a:spcBef>
                <a:spcPts val="600"/>
              </a:spcBef>
              <a:spcAft>
                <a:spcPts val="0"/>
              </a:spcAft>
              <a:buSzPts val="1976"/>
              <a:buNone/>
            </a:pPr>
            <a:r>
              <a:rPr lang="en-US"/>
              <a:t> </a:t>
            </a:r>
            <a:endParaRPr/>
          </a:p>
          <a:p>
            <a:pPr indent="-274320" lvl="0" marL="274320" rtl="0" algn="l">
              <a:lnSpc>
                <a:spcPct val="90000"/>
              </a:lnSpc>
              <a:spcBef>
                <a:spcPts val="600"/>
              </a:spcBef>
              <a:spcAft>
                <a:spcPts val="0"/>
              </a:spcAft>
              <a:buSzPts val="1824"/>
              <a:buChar char="?"/>
            </a:pPr>
            <a:r>
              <a:rPr lang="en-US" sz="2400"/>
              <a:t>Each segment is identified by a 16-bit number called </a:t>
            </a:r>
            <a:r>
              <a:rPr b="1" lang="en-US" sz="2400">
                <a:solidFill>
                  <a:srgbClr val="FF0000"/>
                </a:solidFill>
              </a:rPr>
              <a:t>segment number</a:t>
            </a:r>
            <a:r>
              <a:rPr lang="en-US" sz="2400"/>
              <a:t>, starting with 0000 up to FFFFh. Segment registers hold segment number.</a:t>
            </a:r>
            <a:endParaRPr/>
          </a:p>
          <a:p>
            <a:pPr indent="-274320" lvl="0" marL="274320" rtl="0" algn="l">
              <a:lnSpc>
                <a:spcPct val="90000"/>
              </a:lnSpc>
              <a:spcBef>
                <a:spcPts val="600"/>
              </a:spcBef>
              <a:spcAft>
                <a:spcPts val="0"/>
              </a:spcAft>
              <a:buSzPts val="1824"/>
              <a:buChar char="?"/>
            </a:pPr>
            <a:r>
              <a:rPr lang="en-US" sz="2400"/>
              <a:t>Within a segment, a memory location is specified by giving an </a:t>
            </a:r>
            <a:r>
              <a:rPr b="1" lang="en-US" sz="2400">
                <a:solidFill>
                  <a:srgbClr val="FF0000"/>
                </a:solidFill>
              </a:rPr>
              <a:t>offset</a:t>
            </a:r>
            <a:r>
              <a:rPr lang="en-US" sz="2400">
                <a:solidFill>
                  <a:srgbClr val="FF0000"/>
                </a:solidFill>
              </a:rPr>
              <a:t> </a:t>
            </a:r>
            <a:r>
              <a:rPr lang="en-US" sz="2400"/>
              <a:t>(16-bit) = It is the number of bytes from the beginning of the segment (0→ FFFFh). </a:t>
            </a:r>
            <a:endParaRPr/>
          </a:p>
          <a:p>
            <a:pPr indent="-274320" lvl="0" marL="274320" rtl="0" algn="l">
              <a:lnSpc>
                <a:spcPct val="90000"/>
              </a:lnSpc>
              <a:spcBef>
                <a:spcPts val="600"/>
              </a:spcBef>
              <a:spcAft>
                <a:spcPts val="0"/>
              </a:spcAft>
              <a:buSzPts val="1976"/>
              <a:buChar char="?"/>
            </a:pPr>
            <a:r>
              <a:rPr lang="en-US"/>
              <a:t>The basic difference between </a:t>
            </a:r>
            <a:r>
              <a:rPr b="1" lang="en-US"/>
              <a:t>Logical</a:t>
            </a:r>
            <a:r>
              <a:rPr lang="en-US"/>
              <a:t> and </a:t>
            </a:r>
            <a:r>
              <a:rPr b="1" lang="en-US"/>
              <a:t>physical address</a:t>
            </a:r>
            <a:r>
              <a:rPr lang="en-US"/>
              <a:t> is that </a:t>
            </a:r>
            <a:r>
              <a:rPr b="1" lang="en-US"/>
              <a:t>Logical address</a:t>
            </a:r>
            <a:r>
              <a:rPr lang="en-US"/>
              <a:t> is generated by CPU in perspective of a program whereas the </a:t>
            </a:r>
            <a:r>
              <a:rPr b="1" lang="en-US"/>
              <a:t>physical address</a:t>
            </a:r>
            <a:r>
              <a:rPr lang="en-US"/>
              <a:t> is a location that exists in the memory unit.</a:t>
            </a:r>
            <a:endParaRPr sz="2800"/>
          </a:p>
          <a:p>
            <a:pPr indent="-139192" lvl="0" marL="274320" rtl="0" algn="l">
              <a:lnSpc>
                <a:spcPct val="100000"/>
              </a:lnSpc>
              <a:spcBef>
                <a:spcPts val="600"/>
              </a:spcBef>
              <a:spcAft>
                <a:spcPts val="0"/>
              </a:spcAft>
              <a:buSzPts val="2128"/>
              <a:buNone/>
            </a:pPr>
            <a:r>
              <a:t/>
            </a:r>
            <a:endParaRPr sz="2800"/>
          </a:p>
          <a:p>
            <a:pPr indent="-139192" lvl="0" marL="274320" rtl="0" algn="l">
              <a:lnSpc>
                <a:spcPct val="100000"/>
              </a:lnSpc>
              <a:spcBef>
                <a:spcPts val="600"/>
              </a:spcBef>
              <a:spcAft>
                <a:spcPts val="0"/>
              </a:spcAft>
              <a:buSzPts val="2128"/>
              <a:buNone/>
            </a:pPr>
            <a:r>
              <a:t/>
            </a:r>
            <a:endParaRPr sz="2800"/>
          </a:p>
        </p:txBody>
      </p:sp>
      <p:sp>
        <p:nvSpPr>
          <p:cNvPr id="141" name="Google Shape;141;p7"/>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Memory Segment: </a:t>
            </a:r>
            <a:r>
              <a:rPr b="1" i="1" lang="en-US">
                <a:solidFill>
                  <a:schemeClr val="dk1"/>
                </a:solidFill>
              </a:rPr>
              <a:t>Address Space</a:t>
            </a:r>
            <a:endParaRPr/>
          </a:p>
        </p:txBody>
      </p:sp>
      <p:sp>
        <p:nvSpPr>
          <p:cNvPr id="147" name="Google Shape;147;p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148" name="Google Shape;148;p8"/>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lnSpcReduction="10000"/>
          </a:bodyPr>
          <a:lstStyle/>
          <a:p>
            <a:pPr indent="-274320" lvl="0" marL="274320" rtl="0" algn="l">
              <a:lnSpc>
                <a:spcPct val="100000"/>
              </a:lnSpc>
              <a:spcBef>
                <a:spcPts val="0"/>
              </a:spcBef>
              <a:spcAft>
                <a:spcPts val="0"/>
              </a:spcAft>
              <a:buSzPts val="1976"/>
              <a:buChar char="?"/>
            </a:pPr>
            <a:r>
              <a:rPr lang="en-US"/>
              <a:t>A memory location may be specified by a </a:t>
            </a:r>
            <a:r>
              <a:rPr b="1" i="1" lang="en-US"/>
              <a:t>segment</a:t>
            </a:r>
            <a:r>
              <a:rPr lang="en-US"/>
              <a:t> </a:t>
            </a:r>
            <a:r>
              <a:rPr b="1" i="1" lang="en-US"/>
              <a:t>number</a:t>
            </a:r>
            <a:r>
              <a:rPr lang="en-US"/>
              <a:t> and </a:t>
            </a:r>
            <a:r>
              <a:rPr b="1" i="1" lang="en-US"/>
              <a:t>offset</a:t>
            </a:r>
            <a:r>
              <a:rPr lang="en-US"/>
              <a:t> ( logical address ).</a:t>
            </a:r>
            <a:endParaRPr/>
          </a:p>
          <a:p>
            <a:pPr indent="-274320" lvl="1" marL="548640" rtl="0" algn="l">
              <a:lnSpc>
                <a:spcPct val="100000"/>
              </a:lnSpc>
              <a:spcBef>
                <a:spcPts val="500"/>
              </a:spcBef>
              <a:spcAft>
                <a:spcPts val="0"/>
              </a:spcAft>
              <a:buSzPts val="1748"/>
              <a:buNone/>
            </a:pPr>
            <a:r>
              <a:rPr b="1" lang="en-US" u="sng">
                <a:solidFill>
                  <a:schemeClr val="dk1"/>
                </a:solidFill>
                <a:latin typeface="Arial"/>
                <a:ea typeface="Arial"/>
                <a:cs typeface="Arial"/>
                <a:sym typeface="Arial"/>
              </a:rPr>
              <a:t>Example :</a:t>
            </a:r>
            <a:endParaRPr/>
          </a:p>
          <a:p>
            <a:pPr indent="-274320" lvl="0" marL="274320" rtl="0" algn="l">
              <a:lnSpc>
                <a:spcPct val="100000"/>
              </a:lnSpc>
              <a:spcBef>
                <a:spcPts val="600"/>
              </a:spcBef>
              <a:spcAft>
                <a:spcPts val="0"/>
              </a:spcAft>
              <a:buSzPts val="912"/>
              <a:buNone/>
            </a:pPr>
            <a:r>
              <a:t/>
            </a:r>
            <a:endParaRPr sz="1200"/>
          </a:p>
          <a:p>
            <a:pPr indent="-274320" lvl="0" marL="274320" rtl="0" algn="l">
              <a:lnSpc>
                <a:spcPct val="40000"/>
              </a:lnSpc>
              <a:spcBef>
                <a:spcPts val="600"/>
              </a:spcBef>
              <a:spcAft>
                <a:spcPts val="0"/>
              </a:spcAft>
              <a:buSzPts val="1976"/>
              <a:buNone/>
            </a:pPr>
            <a:r>
              <a:rPr lang="en-US"/>
              <a:t>		      A4FB : 4872</a:t>
            </a:r>
            <a:endParaRPr/>
          </a:p>
          <a:p>
            <a:pPr indent="-274320" lvl="0" marL="274320" rtl="0" algn="l">
              <a:lnSpc>
                <a:spcPct val="40000"/>
              </a:lnSpc>
              <a:spcBef>
                <a:spcPts val="600"/>
              </a:spcBef>
              <a:spcAft>
                <a:spcPts val="0"/>
              </a:spcAft>
              <a:buSzPts val="1976"/>
              <a:buNone/>
            </a:pPr>
            <a:r>
              <a:rPr lang="en-US"/>
              <a:t>				    </a:t>
            </a:r>
            <a:r>
              <a:rPr lang="en-US" sz="2000"/>
              <a:t>h</a:t>
            </a:r>
            <a:endParaRPr/>
          </a:p>
          <a:p>
            <a:pPr indent="-148844" lvl="0" marL="274320" rtl="0" algn="l">
              <a:lnSpc>
                <a:spcPct val="100000"/>
              </a:lnSpc>
              <a:spcBef>
                <a:spcPts val="600"/>
              </a:spcBef>
              <a:spcAft>
                <a:spcPts val="0"/>
              </a:spcAft>
              <a:buSzPts val="1976"/>
              <a:buNone/>
            </a:pPr>
            <a:r>
              <a:t/>
            </a:r>
            <a:endParaRPr/>
          </a:p>
          <a:p>
            <a:pPr indent="-148844" lvl="0" marL="274320" rtl="0" algn="l">
              <a:lnSpc>
                <a:spcPct val="100000"/>
              </a:lnSpc>
              <a:spcBef>
                <a:spcPts val="600"/>
              </a:spcBef>
              <a:spcAft>
                <a:spcPts val="0"/>
              </a:spcAft>
              <a:buSzPts val="1976"/>
              <a:buNone/>
            </a:pPr>
            <a:r>
              <a:t/>
            </a:r>
            <a:endParaRPr/>
          </a:p>
          <a:p>
            <a:pPr indent="-274320" lvl="0" marL="274320" rtl="0" algn="l">
              <a:lnSpc>
                <a:spcPct val="100000"/>
              </a:lnSpc>
              <a:spcBef>
                <a:spcPts val="600"/>
              </a:spcBef>
              <a:spcAft>
                <a:spcPts val="0"/>
              </a:spcAft>
              <a:buSzPts val="2128"/>
              <a:buChar char="?"/>
            </a:pPr>
            <a:r>
              <a:rPr b="1" lang="en-US" sz="2800" u="sng">
                <a:latin typeface="Arial"/>
                <a:ea typeface="Arial"/>
                <a:cs typeface="Arial"/>
                <a:sym typeface="Arial"/>
              </a:rPr>
              <a:t>Offset:</a:t>
            </a:r>
            <a:r>
              <a:rPr lang="en-US" sz="2800"/>
              <a:t>  is the distance from the beginning to a particular location in the </a:t>
            </a:r>
            <a:r>
              <a:rPr b="1" lang="en-US" sz="2800">
                <a:latin typeface="Arial"/>
                <a:ea typeface="Arial"/>
                <a:cs typeface="Arial"/>
                <a:sym typeface="Arial"/>
              </a:rPr>
              <a:t>segment.</a:t>
            </a:r>
            <a:endParaRPr/>
          </a:p>
          <a:p>
            <a:pPr indent="-274320" lvl="0" marL="274320" rtl="0" algn="l">
              <a:lnSpc>
                <a:spcPct val="100000"/>
              </a:lnSpc>
              <a:spcBef>
                <a:spcPts val="600"/>
              </a:spcBef>
              <a:spcAft>
                <a:spcPts val="0"/>
              </a:spcAft>
              <a:buSzPts val="2128"/>
              <a:buNone/>
            </a:pPr>
            <a:r>
              <a:t/>
            </a:r>
            <a:endParaRPr b="1" sz="2800">
              <a:latin typeface="Arial"/>
              <a:ea typeface="Arial"/>
              <a:cs typeface="Arial"/>
              <a:sym typeface="Arial"/>
            </a:endParaRPr>
          </a:p>
          <a:p>
            <a:pPr indent="-274320" lvl="0" marL="274320" rtl="0" algn="l">
              <a:lnSpc>
                <a:spcPct val="100000"/>
              </a:lnSpc>
              <a:spcBef>
                <a:spcPts val="600"/>
              </a:spcBef>
              <a:spcAft>
                <a:spcPts val="0"/>
              </a:spcAft>
              <a:buSzPts val="2128"/>
              <a:buChar char="?"/>
            </a:pPr>
            <a:r>
              <a:rPr b="1" lang="en-US" sz="2800" u="sng">
                <a:latin typeface="Arial"/>
                <a:ea typeface="Arial"/>
                <a:cs typeface="Arial"/>
                <a:sym typeface="Arial"/>
              </a:rPr>
              <a:t>Segment Number:</a:t>
            </a:r>
            <a:r>
              <a:rPr b="1" lang="en-US" sz="2800">
                <a:latin typeface="Arial"/>
                <a:ea typeface="Arial"/>
                <a:cs typeface="Arial"/>
                <a:sym typeface="Arial"/>
              </a:rPr>
              <a:t> </a:t>
            </a:r>
            <a:r>
              <a:rPr lang="en-US" sz="2800"/>
              <a:t>defines the starting of the segment within the memory space.</a:t>
            </a:r>
            <a:endParaRPr b="1" sz="2800" u="sng">
              <a:latin typeface="Arial"/>
              <a:ea typeface="Arial"/>
              <a:cs typeface="Arial"/>
              <a:sym typeface="Arial"/>
            </a:endParaRPr>
          </a:p>
        </p:txBody>
      </p:sp>
      <p:cxnSp>
        <p:nvCxnSpPr>
          <p:cNvPr id="149" name="Google Shape;149;p8"/>
          <p:cNvCxnSpPr/>
          <p:nvPr/>
        </p:nvCxnSpPr>
        <p:spPr>
          <a:xfrm flipH="1">
            <a:off x="1752600" y="2803525"/>
            <a:ext cx="304800" cy="381000"/>
          </a:xfrm>
          <a:prstGeom prst="straightConnector1">
            <a:avLst/>
          </a:prstGeom>
          <a:noFill/>
          <a:ln cap="flat" cmpd="sng" w="38100">
            <a:solidFill>
              <a:srgbClr val="CC00CC"/>
            </a:solidFill>
            <a:prstDash val="solid"/>
            <a:round/>
            <a:headEnd len="sm" w="sm" type="none"/>
            <a:tailEnd len="med" w="med" type="triangle"/>
          </a:ln>
        </p:spPr>
      </p:cxnSp>
      <p:sp>
        <p:nvSpPr>
          <p:cNvPr id="150" name="Google Shape;150;p8"/>
          <p:cNvSpPr txBox="1"/>
          <p:nvPr/>
        </p:nvSpPr>
        <p:spPr>
          <a:xfrm>
            <a:off x="1066800" y="3168650"/>
            <a:ext cx="14478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0000"/>
                </a:solidFill>
                <a:latin typeface="Open Sans ExtraBold"/>
                <a:ea typeface="Open Sans ExtraBold"/>
                <a:cs typeface="Open Sans ExtraBold"/>
                <a:sym typeface="Open Sans ExtraBold"/>
              </a:rPr>
              <a:t>Segment</a:t>
            </a:r>
            <a:endParaRPr b="0" i="0" sz="1400" u="none" cap="none" strike="noStrike">
              <a:solidFill>
                <a:srgbClr val="000000"/>
              </a:solidFill>
              <a:latin typeface="Arial"/>
              <a:ea typeface="Arial"/>
              <a:cs typeface="Arial"/>
              <a:sym typeface="Arial"/>
            </a:endParaRPr>
          </a:p>
        </p:txBody>
      </p:sp>
      <p:cxnSp>
        <p:nvCxnSpPr>
          <p:cNvPr id="151" name="Google Shape;151;p8"/>
          <p:cNvCxnSpPr/>
          <p:nvPr/>
        </p:nvCxnSpPr>
        <p:spPr>
          <a:xfrm>
            <a:off x="3352800" y="2803525"/>
            <a:ext cx="304800" cy="381000"/>
          </a:xfrm>
          <a:prstGeom prst="straightConnector1">
            <a:avLst/>
          </a:prstGeom>
          <a:noFill/>
          <a:ln cap="flat" cmpd="sng" w="38100">
            <a:solidFill>
              <a:srgbClr val="CC00CC"/>
            </a:solidFill>
            <a:prstDash val="solid"/>
            <a:round/>
            <a:headEnd len="sm" w="sm" type="none"/>
            <a:tailEnd len="med" w="med" type="triangle"/>
          </a:ln>
        </p:spPr>
      </p:cxnSp>
      <p:sp>
        <p:nvSpPr>
          <p:cNvPr id="152" name="Google Shape;152;p8"/>
          <p:cNvSpPr txBox="1"/>
          <p:nvPr/>
        </p:nvSpPr>
        <p:spPr>
          <a:xfrm>
            <a:off x="2895600" y="3184525"/>
            <a:ext cx="14478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0000"/>
                </a:solidFill>
                <a:latin typeface="Open Sans ExtraBold"/>
                <a:ea typeface="Open Sans ExtraBold"/>
                <a:cs typeface="Open Sans ExtraBold"/>
                <a:sym typeface="Open Sans ExtraBold"/>
              </a:rPr>
              <a:t>Offset</a:t>
            </a:r>
            <a:endParaRPr b="0" i="0" sz="1400" u="none" cap="none" strike="noStrike">
              <a:solidFill>
                <a:srgbClr val="000000"/>
              </a:solidFill>
              <a:latin typeface="Arial"/>
              <a:ea typeface="Arial"/>
              <a:cs typeface="Arial"/>
              <a:sym typeface="Arial"/>
            </a:endParaRPr>
          </a:p>
        </p:txBody>
      </p:sp>
      <p:sp>
        <p:nvSpPr>
          <p:cNvPr id="153" name="Google Shape;153;p8"/>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Segmented Memory Address</a:t>
            </a:r>
            <a:endParaRPr/>
          </a:p>
        </p:txBody>
      </p:sp>
      <p:sp>
        <p:nvSpPr>
          <p:cNvPr id="160" name="Google Shape;160;p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graphicFrame>
        <p:nvGraphicFramePr>
          <p:cNvPr id="161" name="Google Shape;161;p9"/>
          <p:cNvGraphicFramePr/>
          <p:nvPr/>
        </p:nvGraphicFramePr>
        <p:xfrm>
          <a:off x="486123" y="1204887"/>
          <a:ext cx="3000000" cy="3000000"/>
        </p:xfrm>
        <a:graphic>
          <a:graphicData uri="http://schemas.openxmlformats.org/drawingml/2006/table">
            <a:tbl>
              <a:tblPr bandRow="1" firstRow="1">
                <a:noFill/>
                <a:tableStyleId>{FF5551A4-6F11-4066-8FA7-33F719FFEE3D}</a:tableStyleId>
              </a:tblPr>
              <a:tblGrid>
                <a:gridCol w="1219200"/>
              </a:tblGrid>
              <a:tr h="55880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55880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55880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55880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55880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55880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bl>
          </a:graphicData>
        </a:graphic>
      </p:graphicFrame>
      <p:sp>
        <p:nvSpPr>
          <p:cNvPr id="162" name="Google Shape;162;p9"/>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cxnSp>
        <p:nvCxnSpPr>
          <p:cNvPr id="163" name="Google Shape;163;p9"/>
          <p:cNvCxnSpPr/>
          <p:nvPr/>
        </p:nvCxnSpPr>
        <p:spPr>
          <a:xfrm>
            <a:off x="2227377" y="3490799"/>
            <a:ext cx="0" cy="725269"/>
          </a:xfrm>
          <a:prstGeom prst="straightConnector1">
            <a:avLst/>
          </a:prstGeom>
          <a:noFill/>
          <a:ln cap="flat" cmpd="sng" w="9525">
            <a:solidFill>
              <a:schemeClr val="accent1"/>
            </a:solidFill>
            <a:prstDash val="solid"/>
            <a:round/>
            <a:headEnd len="sm" w="sm" type="none"/>
            <a:tailEnd len="med" w="med" type="triangle"/>
          </a:ln>
        </p:spPr>
      </p:cxnSp>
      <p:sp>
        <p:nvSpPr>
          <p:cNvPr id="164" name="Google Shape;164;p9"/>
          <p:cNvSpPr txBox="1"/>
          <p:nvPr/>
        </p:nvSpPr>
        <p:spPr>
          <a:xfrm>
            <a:off x="1676393" y="3114433"/>
            <a:ext cx="213391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Offset 4872 (16 bits)</a:t>
            </a:r>
            <a:endParaRPr b="0" i="0" sz="1400" u="none" cap="none" strike="noStrike">
              <a:solidFill>
                <a:srgbClr val="000000"/>
              </a:solidFill>
              <a:latin typeface="Arial"/>
              <a:ea typeface="Arial"/>
              <a:cs typeface="Arial"/>
              <a:sym typeface="Arial"/>
            </a:endParaRPr>
          </a:p>
        </p:txBody>
      </p:sp>
      <p:cxnSp>
        <p:nvCxnSpPr>
          <p:cNvPr id="165" name="Google Shape;165;p9"/>
          <p:cNvCxnSpPr/>
          <p:nvPr/>
        </p:nvCxnSpPr>
        <p:spPr>
          <a:xfrm rot="10800000">
            <a:off x="2227378" y="2535535"/>
            <a:ext cx="0" cy="533400"/>
          </a:xfrm>
          <a:prstGeom prst="straightConnector1">
            <a:avLst/>
          </a:prstGeom>
          <a:noFill/>
          <a:ln cap="flat" cmpd="sng" w="9525">
            <a:solidFill>
              <a:schemeClr val="accent1"/>
            </a:solidFill>
            <a:prstDash val="solid"/>
            <a:round/>
            <a:headEnd len="sm" w="sm" type="none"/>
            <a:tailEnd len="med" w="med" type="triangle"/>
          </a:ln>
        </p:spPr>
      </p:cxnSp>
      <p:sp>
        <p:nvSpPr>
          <p:cNvPr id="166" name="Google Shape;166;p9"/>
          <p:cNvSpPr txBox="1"/>
          <p:nvPr/>
        </p:nvSpPr>
        <p:spPr>
          <a:xfrm>
            <a:off x="2088284" y="989100"/>
            <a:ext cx="3877985"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br>
              <a:rPr b="0" i="0" lang="en-US" sz="1800" u="none" cap="none" strike="noStrike">
                <a:solidFill>
                  <a:schemeClr val="dk1"/>
                </a:solidFill>
                <a:latin typeface="Gill Sans"/>
                <a:ea typeface="Gill Sans"/>
                <a:cs typeface="Gill Sans"/>
                <a:sym typeface="Gill Sans"/>
              </a:rPr>
            </a:br>
            <a:r>
              <a:rPr b="0" i="0" lang="en-US" sz="1800" u="none" cap="none" strike="noStrike">
                <a:solidFill>
                  <a:schemeClr val="dk1"/>
                </a:solidFill>
                <a:latin typeface="Gill Sans"/>
                <a:ea typeface="Gill Sans"/>
                <a:cs typeface="Gill Sans"/>
                <a:sym typeface="Gill Sans"/>
              </a:rPr>
              <a:t>Highest Address:  A4FB:FFFF  = A4FB0</a:t>
            </a:r>
            <a:br>
              <a:rPr b="0" i="0" lang="en-US" sz="1800" u="none" cap="none" strike="noStrike">
                <a:solidFill>
                  <a:schemeClr val="dk1"/>
                </a:solidFill>
                <a:latin typeface="Gill Sans"/>
                <a:ea typeface="Gill Sans"/>
                <a:cs typeface="Gill Sans"/>
                <a:sym typeface="Gill Sans"/>
              </a:rPr>
            </a:br>
            <a:r>
              <a:rPr b="0" i="0" lang="en-US" sz="1800" u="none" cap="none" strike="noStrike">
                <a:solidFill>
                  <a:schemeClr val="dk1"/>
                </a:solidFill>
                <a:latin typeface="Gill Sans"/>
                <a:ea typeface="Gill Sans"/>
                <a:cs typeface="Gill Sans"/>
                <a:sym typeface="Gill Sans"/>
              </a:rPr>
              <a:t>			      FFFF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			   B4FAF	</a:t>
            </a:r>
            <a:endParaRPr b="0" i="0" sz="1400" u="none" cap="none" strike="noStrike">
              <a:solidFill>
                <a:srgbClr val="000000"/>
              </a:solidFill>
              <a:latin typeface="Arial"/>
              <a:ea typeface="Arial"/>
              <a:cs typeface="Arial"/>
              <a:sym typeface="Arial"/>
            </a:endParaRPr>
          </a:p>
        </p:txBody>
      </p:sp>
      <p:sp>
        <p:nvSpPr>
          <p:cNvPr id="167" name="Google Shape;167;p9"/>
          <p:cNvSpPr txBox="1"/>
          <p:nvPr/>
        </p:nvSpPr>
        <p:spPr>
          <a:xfrm>
            <a:off x="2088284" y="4695535"/>
            <a:ext cx="374307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Lowest Address:   A4FB:0000 = A4FB0</a:t>
            </a:r>
            <a:br>
              <a:rPr b="0" i="0" lang="en-US" sz="1800" u="none" cap="none" strike="noStrike">
                <a:solidFill>
                  <a:schemeClr val="dk1"/>
                </a:solidFill>
                <a:latin typeface="Gill Sans"/>
                <a:ea typeface="Gill Sans"/>
                <a:cs typeface="Gill Sans"/>
                <a:sym typeface="Gill Sans"/>
              </a:rPr>
            </a:br>
            <a:endParaRPr b="0" i="0" sz="1800" u="none" cap="none" strike="noStrike">
              <a:solidFill>
                <a:schemeClr val="dk1"/>
              </a:solidFill>
              <a:latin typeface="Gill Sans"/>
              <a:ea typeface="Gill Sans"/>
              <a:cs typeface="Gill Sans"/>
              <a:sym typeface="Gill Sans"/>
            </a:endParaRPr>
          </a:p>
        </p:txBody>
      </p:sp>
      <p:cxnSp>
        <p:nvCxnSpPr>
          <p:cNvPr id="168" name="Google Shape;168;p9"/>
          <p:cNvCxnSpPr/>
          <p:nvPr/>
        </p:nvCxnSpPr>
        <p:spPr>
          <a:xfrm>
            <a:off x="4953000" y="1866483"/>
            <a:ext cx="838200" cy="0"/>
          </a:xfrm>
          <a:prstGeom prst="straightConnector1">
            <a:avLst/>
          </a:prstGeom>
          <a:noFill/>
          <a:ln cap="flat" cmpd="sng" w="9525">
            <a:solidFill>
              <a:schemeClr val="accent1"/>
            </a:solidFill>
            <a:prstDash val="solid"/>
            <a:round/>
            <a:headEnd len="sm" w="sm" type="none"/>
            <a:tailEnd len="sm" w="sm" type="none"/>
          </a:ln>
        </p:spPr>
      </p:cxnSp>
      <p:sp>
        <p:nvSpPr>
          <p:cNvPr id="169" name="Google Shape;169;p9"/>
          <p:cNvSpPr txBox="1"/>
          <p:nvPr/>
        </p:nvSpPr>
        <p:spPr>
          <a:xfrm>
            <a:off x="1823260" y="4216068"/>
            <a:ext cx="164981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A4FB0 (20 bits)</a:t>
            </a:r>
            <a:endParaRPr b="0" i="0" sz="1400" u="none" cap="none" strike="noStrike">
              <a:solidFill>
                <a:srgbClr val="000000"/>
              </a:solidFill>
              <a:latin typeface="Arial"/>
              <a:ea typeface="Arial"/>
              <a:cs typeface="Arial"/>
              <a:sym typeface="Arial"/>
            </a:endParaRPr>
          </a:p>
        </p:txBody>
      </p:sp>
      <p:sp>
        <p:nvSpPr>
          <p:cNvPr id="170" name="Google Shape;170;p9"/>
          <p:cNvSpPr txBox="1"/>
          <p:nvPr/>
        </p:nvSpPr>
        <p:spPr>
          <a:xfrm>
            <a:off x="1783783" y="2256632"/>
            <a:ext cx="187381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A9822 (20 bits)</a:t>
            </a:r>
            <a:endParaRPr b="0" i="0" sz="1400" u="none" cap="none" strike="noStrike">
              <a:solidFill>
                <a:srgbClr val="000000"/>
              </a:solidFill>
              <a:latin typeface="Arial"/>
              <a:ea typeface="Arial"/>
              <a:cs typeface="Arial"/>
              <a:sym typeface="Arial"/>
            </a:endParaRPr>
          </a:p>
        </p:txBody>
      </p:sp>
      <p:sp>
        <p:nvSpPr>
          <p:cNvPr id="171" name="Google Shape;171;p9"/>
          <p:cNvSpPr txBox="1"/>
          <p:nvPr/>
        </p:nvSpPr>
        <p:spPr>
          <a:xfrm>
            <a:off x="6324600" y="3068935"/>
            <a:ext cx="201997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Base address:  A4FB</a:t>
            </a:r>
            <a:br>
              <a:rPr b="0" i="0" lang="en-US" sz="1800" u="none" cap="none" strike="noStrike">
                <a:solidFill>
                  <a:schemeClr val="dk1"/>
                </a:solidFill>
                <a:latin typeface="Gill Sans"/>
                <a:ea typeface="Gill Sans"/>
                <a:cs typeface="Gill Sans"/>
                <a:sym typeface="Gill Sans"/>
              </a:rPr>
            </a:br>
            <a:r>
              <a:rPr b="0" i="0" lang="en-US" sz="1800" u="none" cap="none" strike="noStrike">
                <a:solidFill>
                  <a:schemeClr val="dk1"/>
                </a:solidFill>
                <a:latin typeface="Gill Sans"/>
                <a:ea typeface="Gill Sans"/>
                <a:cs typeface="Gill Sans"/>
                <a:sym typeface="Gill Sans"/>
              </a:rPr>
              <a:t>(16 bits)</a:t>
            </a:r>
            <a:endParaRPr b="0" i="0" sz="1400" u="none" cap="none" strike="noStrike">
              <a:solidFill>
                <a:srgbClr val="000000"/>
              </a:solidFill>
              <a:latin typeface="Arial"/>
              <a:ea typeface="Arial"/>
              <a:cs typeface="Arial"/>
              <a:sym typeface="Arial"/>
            </a:endParaRPr>
          </a:p>
        </p:txBody>
      </p:sp>
      <p:sp>
        <p:nvSpPr>
          <p:cNvPr id="172" name="Google Shape;172;p9"/>
          <p:cNvSpPr txBox="1"/>
          <p:nvPr/>
        </p:nvSpPr>
        <p:spPr>
          <a:xfrm>
            <a:off x="457200" y="5638800"/>
            <a:ext cx="5634428"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4Hex digits = 4 x 4 = 16 digits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so lowest value can be 0000 and highest value can be FFFF</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Segmented Memory Address</a:t>
            </a:r>
            <a:endParaRPr/>
          </a:p>
        </p:txBody>
      </p:sp>
      <p:sp>
        <p:nvSpPr>
          <p:cNvPr id="178" name="Google Shape;178;p1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cxnSp>
        <p:nvCxnSpPr>
          <p:cNvPr id="179" name="Google Shape;179;p10"/>
          <p:cNvCxnSpPr/>
          <p:nvPr/>
        </p:nvCxnSpPr>
        <p:spPr>
          <a:xfrm>
            <a:off x="5943600" y="5867400"/>
            <a:ext cx="1295400" cy="0"/>
          </a:xfrm>
          <a:prstGeom prst="straightConnector1">
            <a:avLst/>
          </a:prstGeom>
          <a:noFill/>
          <a:ln cap="flat" cmpd="sng" w="28575">
            <a:solidFill>
              <a:schemeClr val="dk1"/>
            </a:solidFill>
            <a:prstDash val="solid"/>
            <a:round/>
            <a:headEnd len="sm" w="sm" type="none"/>
            <a:tailEnd len="sm" w="sm" type="none"/>
          </a:ln>
        </p:spPr>
      </p:cxnSp>
      <p:sp>
        <p:nvSpPr>
          <p:cNvPr id="180" name="Google Shape;180;p10"/>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Autofit/>
          </a:bodyPr>
          <a:lstStyle/>
          <a:p>
            <a:pPr indent="-274320" lvl="0" marL="274320" rtl="0" algn="l">
              <a:lnSpc>
                <a:spcPct val="100000"/>
              </a:lnSpc>
              <a:spcBef>
                <a:spcPts val="0"/>
              </a:spcBef>
              <a:spcAft>
                <a:spcPts val="0"/>
              </a:spcAft>
              <a:buSzPts val="1824"/>
              <a:buChar char="?"/>
            </a:pPr>
            <a:r>
              <a:rPr lang="en-US" sz="2400"/>
              <a:t>Start location of the segment must be 20 bits  🡪  the absolute address is obtained by appending  a hexadecimal zero (0H = 0000) to the segment number, i.e. , </a:t>
            </a:r>
            <a:r>
              <a:rPr b="1" lang="en-US" sz="2400"/>
              <a:t>multiplying  by 16(10</a:t>
            </a:r>
            <a:r>
              <a:rPr b="1" baseline="-25000" lang="en-US" sz="2400"/>
              <a:t>h</a:t>
            </a:r>
            <a:r>
              <a:rPr b="1" lang="en-US" sz="2400"/>
              <a:t>).</a:t>
            </a:r>
            <a:endParaRPr sz="2400"/>
          </a:p>
          <a:p>
            <a:pPr indent="-274320" lvl="1" marL="548640" rtl="0" algn="l">
              <a:lnSpc>
                <a:spcPct val="100000"/>
              </a:lnSpc>
              <a:spcBef>
                <a:spcPts val="500"/>
              </a:spcBef>
              <a:spcAft>
                <a:spcPts val="0"/>
              </a:spcAft>
              <a:buSzPts val="1520"/>
              <a:buChar char="?"/>
            </a:pPr>
            <a:r>
              <a:rPr lang="en-US" sz="2000">
                <a:solidFill>
                  <a:schemeClr val="dk1"/>
                </a:solidFill>
              </a:rPr>
              <a:t>Adds 4 Nibble bits at the lower portion of each 16-bit address.</a:t>
            </a:r>
            <a:endParaRPr/>
          </a:p>
          <a:p>
            <a:pPr indent="0" lvl="1" marL="274320" rtl="0" algn="l">
              <a:lnSpc>
                <a:spcPct val="100000"/>
              </a:lnSpc>
              <a:spcBef>
                <a:spcPts val="500"/>
              </a:spcBef>
              <a:spcAft>
                <a:spcPts val="0"/>
              </a:spcAft>
              <a:buSzPts val="1368"/>
              <a:buNone/>
            </a:pPr>
            <a:r>
              <a:rPr b="1" lang="en-US" sz="1800">
                <a:solidFill>
                  <a:srgbClr val="002060"/>
                </a:solidFill>
              </a:rPr>
              <a:t>Starting location Address = Segment number X 10</a:t>
            </a:r>
            <a:r>
              <a:rPr b="1" baseline="-25000" lang="en-US" sz="1800">
                <a:solidFill>
                  <a:srgbClr val="002060"/>
                </a:solidFill>
              </a:rPr>
              <a:t>h </a:t>
            </a:r>
            <a:r>
              <a:rPr b="1" lang="en-US" sz="2400">
                <a:solidFill>
                  <a:srgbClr val="002060"/>
                </a:solidFill>
              </a:rPr>
              <a:t>= A4FB0 </a:t>
            </a:r>
            <a:endParaRPr sz="2400"/>
          </a:p>
          <a:p>
            <a:pPr indent="-274320" lvl="0" marL="274320" rtl="0" algn="l">
              <a:lnSpc>
                <a:spcPct val="100000"/>
              </a:lnSpc>
              <a:spcBef>
                <a:spcPts val="600"/>
              </a:spcBef>
              <a:spcAft>
                <a:spcPts val="0"/>
              </a:spcAft>
              <a:buSzPts val="1824"/>
              <a:buChar char="?"/>
            </a:pPr>
            <a:r>
              <a:rPr lang="en-US" sz="2400"/>
              <a:t>So, the </a:t>
            </a:r>
            <a:r>
              <a:rPr b="1" lang="en-US" sz="2400"/>
              <a:t>Physical Memory Address </a:t>
            </a:r>
            <a:r>
              <a:rPr lang="en-US" sz="2400"/>
              <a:t>is equal to:</a:t>
            </a:r>
            <a:endParaRPr/>
          </a:p>
          <a:p>
            <a:pPr indent="-274320" lvl="0" marL="274320" rtl="0" algn="l">
              <a:lnSpc>
                <a:spcPct val="40000"/>
              </a:lnSpc>
              <a:spcBef>
                <a:spcPts val="600"/>
              </a:spcBef>
              <a:spcAft>
                <a:spcPts val="0"/>
              </a:spcAft>
              <a:buSzPts val="1824"/>
              <a:buNone/>
            </a:pPr>
            <a:r>
              <a:t/>
            </a:r>
            <a:endParaRPr b="1" sz="2400">
              <a:solidFill>
                <a:srgbClr val="006600"/>
              </a:solidFill>
            </a:endParaRPr>
          </a:p>
          <a:p>
            <a:pPr indent="-274320" lvl="0" marL="274320" rtl="0" algn="ctr">
              <a:lnSpc>
                <a:spcPct val="40000"/>
              </a:lnSpc>
              <a:spcBef>
                <a:spcPts val="600"/>
              </a:spcBef>
              <a:spcAft>
                <a:spcPts val="0"/>
              </a:spcAft>
              <a:buSzPts val="1824"/>
              <a:buNone/>
            </a:pPr>
            <a:r>
              <a:rPr b="1" lang="en-US" sz="2400">
                <a:solidFill>
                  <a:srgbClr val="002060"/>
                </a:solidFill>
              </a:rPr>
              <a:t>Physical Address = Segment number X 10</a:t>
            </a:r>
            <a:r>
              <a:rPr b="1" baseline="-25000" lang="en-US" sz="2400">
                <a:solidFill>
                  <a:srgbClr val="002060"/>
                </a:solidFill>
              </a:rPr>
              <a:t>h </a:t>
            </a:r>
            <a:r>
              <a:rPr b="1" lang="en-US" sz="2400">
                <a:solidFill>
                  <a:srgbClr val="002060"/>
                </a:solidFill>
              </a:rPr>
              <a:t>+  Offset</a:t>
            </a:r>
            <a:endParaRPr b="1" sz="2400" u="sng">
              <a:solidFill>
                <a:srgbClr val="002060"/>
              </a:solidFill>
            </a:endParaRPr>
          </a:p>
          <a:p>
            <a:pPr indent="-158496" lvl="0" marL="274320" rtl="0" algn="l">
              <a:lnSpc>
                <a:spcPct val="100000"/>
              </a:lnSpc>
              <a:spcBef>
                <a:spcPts val="600"/>
              </a:spcBef>
              <a:spcAft>
                <a:spcPts val="0"/>
              </a:spcAft>
              <a:buSzPts val="1824"/>
              <a:buNone/>
            </a:pPr>
            <a:r>
              <a:t/>
            </a:r>
            <a:endParaRPr sz="2400"/>
          </a:p>
          <a:p>
            <a:pPr indent="-274320" lvl="0" marL="274320" rtl="0" algn="l">
              <a:lnSpc>
                <a:spcPct val="100000"/>
              </a:lnSpc>
              <a:spcBef>
                <a:spcPts val="600"/>
              </a:spcBef>
              <a:spcAft>
                <a:spcPts val="0"/>
              </a:spcAft>
              <a:buSzPts val="1824"/>
              <a:buChar char="?"/>
            </a:pPr>
            <a:r>
              <a:rPr lang="en-US" sz="2400"/>
              <a:t>Physical </a:t>
            </a:r>
            <a:r>
              <a:rPr b="1" lang="en-US" sz="2400"/>
              <a:t>Address</a:t>
            </a:r>
            <a:r>
              <a:rPr lang="en-US" sz="2400"/>
              <a:t> for </a:t>
            </a:r>
            <a:r>
              <a:rPr b="1" lang="en-US" sz="2400"/>
              <a:t>A4FB : 4872</a:t>
            </a:r>
            <a:endParaRPr sz="2400"/>
          </a:p>
          <a:p>
            <a:pPr indent="-274320" lvl="0" marL="274320" rtl="0" algn="l">
              <a:lnSpc>
                <a:spcPct val="100000"/>
              </a:lnSpc>
              <a:spcBef>
                <a:spcPts val="600"/>
              </a:spcBef>
              <a:spcAft>
                <a:spcPts val="0"/>
              </a:spcAft>
              <a:buSzPts val="1824"/>
              <a:buNone/>
            </a:pPr>
            <a:r>
              <a:rPr b="1" lang="en-US" sz="2400"/>
              <a:t>							A4FB0 h</a:t>
            </a:r>
            <a:endParaRPr/>
          </a:p>
          <a:p>
            <a:pPr indent="-274320" lvl="0" marL="274320" rtl="0" algn="l">
              <a:lnSpc>
                <a:spcPct val="100000"/>
              </a:lnSpc>
              <a:spcBef>
                <a:spcPts val="600"/>
              </a:spcBef>
              <a:spcAft>
                <a:spcPts val="0"/>
              </a:spcAft>
              <a:buSzPts val="1824"/>
              <a:buNone/>
            </a:pPr>
            <a:r>
              <a:rPr b="1" lang="en-US" sz="2400"/>
              <a:t>							+ 4872  h</a:t>
            </a:r>
            <a:endParaRPr/>
          </a:p>
          <a:p>
            <a:pPr indent="-274320" lvl="0" marL="274320" rtl="0" algn="l">
              <a:lnSpc>
                <a:spcPct val="100000"/>
              </a:lnSpc>
              <a:spcBef>
                <a:spcPts val="600"/>
              </a:spcBef>
              <a:spcAft>
                <a:spcPts val="0"/>
              </a:spcAft>
              <a:buSzPts val="1824"/>
              <a:buNone/>
            </a:pPr>
            <a:r>
              <a:rPr b="1" lang="en-US" sz="2400"/>
              <a:t>                                   			A9822</a:t>
            </a:r>
            <a:r>
              <a:rPr lang="en-US" sz="2400"/>
              <a:t>  </a:t>
            </a:r>
            <a:r>
              <a:rPr b="1" lang="en-US" sz="2400"/>
              <a:t>h </a:t>
            </a:r>
            <a:r>
              <a:rPr lang="en-US" sz="2400"/>
              <a:t>(20 Bits)</a:t>
            </a:r>
            <a:endParaRPr b="1" sz="2400"/>
          </a:p>
        </p:txBody>
      </p:sp>
      <p:sp>
        <p:nvSpPr>
          <p:cNvPr id="181" name="Google Shape;181;p10"/>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
        <p:nvSpPr>
          <p:cNvPr id="182" name="Google Shape;182;p10"/>
          <p:cNvSpPr txBox="1"/>
          <p:nvPr/>
        </p:nvSpPr>
        <p:spPr>
          <a:xfrm>
            <a:off x="622026" y="5177135"/>
            <a:ext cx="5579091"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Here, A4FB0  =1010 0100 1111 1011 0000 (16+4=20bits)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           4872  =	  0100 1000 0111 0010 (16 bits)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         A9822  =1010 1001 1000 0010 0010 (20 bits)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Memory Segmentation</a:t>
            </a:r>
            <a:endParaRPr/>
          </a:p>
        </p:txBody>
      </p:sp>
      <p:sp>
        <p:nvSpPr>
          <p:cNvPr id="188" name="Google Shape;188;p11"/>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189" name="Google Shape;189;p11"/>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
        <p:nvSpPr>
          <p:cNvPr id="190" name="Google Shape;190;p11"/>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976"/>
              <a:buChar char="?"/>
            </a:pPr>
            <a:r>
              <a:rPr b="1" lang="en-US"/>
              <a:t>Types Of Segmentation –</a:t>
            </a:r>
            <a:endParaRPr/>
          </a:p>
          <a:p>
            <a:pPr indent="-274320" lvl="0" marL="274320" rtl="0" algn="l">
              <a:lnSpc>
                <a:spcPct val="100000"/>
              </a:lnSpc>
              <a:spcBef>
                <a:spcPts val="600"/>
              </a:spcBef>
              <a:spcAft>
                <a:spcPts val="0"/>
              </a:spcAft>
              <a:buSzPts val="1976"/>
              <a:buChar char="?"/>
            </a:pPr>
            <a:r>
              <a:rPr b="1" lang="en-US"/>
              <a:t>Overlapping Segment –</a:t>
            </a:r>
            <a:r>
              <a:rPr lang="en-US"/>
              <a:t> A segment starts at a particular address and its maximum size can go up to 64kilobytes. But if another segment starts along with this 64kilobytes location of the first segment, then the two are said to be </a:t>
            </a:r>
            <a:r>
              <a:rPr i="1" lang="en-US"/>
              <a:t>Overlapping Segment</a:t>
            </a:r>
            <a:r>
              <a:rPr lang="en-US"/>
              <a:t>.</a:t>
            </a:r>
            <a:endParaRPr/>
          </a:p>
          <a:p>
            <a:pPr indent="-274320" lvl="0" marL="274320" rtl="0" algn="l">
              <a:lnSpc>
                <a:spcPct val="100000"/>
              </a:lnSpc>
              <a:spcBef>
                <a:spcPts val="600"/>
              </a:spcBef>
              <a:spcAft>
                <a:spcPts val="0"/>
              </a:spcAft>
              <a:buSzPts val="1976"/>
              <a:buChar char="?"/>
            </a:pPr>
            <a:r>
              <a:rPr b="1" lang="en-US"/>
              <a:t>Non-Overlapped Segment –</a:t>
            </a:r>
            <a:r>
              <a:rPr lang="en-US"/>
              <a:t> A segment starts at a particular address and its maximum size can go up to 64kilobytes. But if another segment starts before or after this 64kilobytes location of the first segment, then the two segments are said to be </a:t>
            </a:r>
            <a:r>
              <a:rPr i="1" lang="en-US"/>
              <a:t>Non-Overlapped Segment</a:t>
            </a:r>
            <a:r>
              <a:rPr lang="en-US"/>
              <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Physical Location of Segments</a:t>
            </a:r>
            <a:endParaRPr/>
          </a:p>
        </p:txBody>
      </p:sp>
      <p:sp>
        <p:nvSpPr>
          <p:cNvPr id="196" name="Google Shape;196;p1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197" name="Google Shape;197;p1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148844" lvl="0" marL="274320" rtl="0" algn="l">
              <a:lnSpc>
                <a:spcPct val="100000"/>
              </a:lnSpc>
              <a:spcBef>
                <a:spcPts val="0"/>
              </a:spcBef>
              <a:spcAft>
                <a:spcPts val="0"/>
              </a:spcAft>
              <a:buSzPts val="1976"/>
              <a:buNone/>
            </a:pPr>
            <a:r>
              <a:t/>
            </a:r>
            <a:endParaRPr/>
          </a:p>
        </p:txBody>
      </p:sp>
      <p:sp>
        <p:nvSpPr>
          <p:cNvPr id="198" name="Google Shape;198;p12"/>
          <p:cNvSpPr txBox="1"/>
          <p:nvPr/>
        </p:nvSpPr>
        <p:spPr>
          <a:xfrm>
            <a:off x="1676400" y="381000"/>
            <a:ext cx="5791200" cy="6019800"/>
          </a:xfrm>
          <a:prstGeom prst="rect">
            <a:avLst/>
          </a:prstGeom>
          <a:noFill/>
          <a:ln>
            <a:noFill/>
          </a:ln>
        </p:spPr>
        <p:txBody>
          <a:bodyPr anchorCtr="0" anchor="b"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600"/>
              <a:buFont typeface="Bookman Old Style"/>
              <a:buNone/>
            </a:pPr>
            <a:r>
              <a:rPr b="1" i="0" lang="en-US" sz="1600" u="none" cap="none" strike="noStrike">
                <a:solidFill>
                  <a:schemeClr val="dk1"/>
                </a:solidFill>
                <a:latin typeface="Bookman Old Style"/>
                <a:ea typeface="Bookman Old Style"/>
                <a:cs typeface="Bookman Old Style"/>
                <a:sym typeface="Bookman Old Style"/>
              </a:rPr>
              <a:t>Segment</a:t>
            </a:r>
            <a:r>
              <a:rPr b="1" i="0" lang="en-US" sz="1200" u="none" cap="none" strike="noStrike">
                <a:solidFill>
                  <a:schemeClr val="dk1"/>
                </a:solidFill>
                <a:latin typeface="Bookman Old Style"/>
                <a:ea typeface="Bookman Old Style"/>
                <a:cs typeface="Bookman Old Style"/>
                <a:sym typeface="Bookman Old Style"/>
              </a:rPr>
              <a:t>                </a:t>
            </a:r>
            <a:r>
              <a:rPr b="1" i="0" lang="en-US" sz="1400" u="none" cap="none" strike="noStrike">
                <a:solidFill>
                  <a:schemeClr val="dk1"/>
                </a:solidFill>
                <a:latin typeface="Bookman Old Style"/>
                <a:ea typeface="Bookman Old Style"/>
                <a:cs typeface="Bookman Old Style"/>
                <a:sym typeface="Bookman Old Style"/>
              </a:rPr>
              <a:t>Physical Address (hex)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10021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10020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B050"/>
              </a:buClr>
              <a:buSzPts val="1200"/>
              <a:buFont typeface="Bookman Old Style"/>
              <a:buNone/>
            </a:pPr>
            <a:r>
              <a:rPr b="1" i="0" lang="en-US" sz="1200" u="none" cap="none" strike="noStrike">
                <a:solidFill>
                  <a:srgbClr val="00B050"/>
                </a:solidFill>
                <a:latin typeface="Bookman Old Style"/>
                <a:ea typeface="Bookman Old Style"/>
                <a:cs typeface="Bookman Old Style"/>
                <a:sym typeface="Bookman Old Style"/>
              </a:rPr>
              <a:t>End of Segment 2 </a:t>
            </a:r>
            <a:r>
              <a:rPr b="1" i="0" lang="en-US" sz="1200" u="none" cap="none" strike="noStrike">
                <a:solidFill>
                  <a:schemeClr val="dk2"/>
                </a:solidFill>
                <a:latin typeface="Bookman Old Style"/>
                <a:ea typeface="Bookman Old Style"/>
                <a:cs typeface="Bookman Old Style"/>
                <a:sym typeface="Bookman Old Style"/>
              </a:rPr>
              <a:t>	</a:t>
            </a:r>
            <a:r>
              <a:rPr b="1" i="0" lang="en-US" sz="1200" u="none" cap="none" strike="noStrike">
                <a:solidFill>
                  <a:srgbClr val="00B050"/>
                </a:solidFill>
                <a:latin typeface="Bookman Old Style"/>
                <a:ea typeface="Bookman Old Style"/>
                <a:cs typeface="Bookman Old Style"/>
                <a:sym typeface="Bookman Old Style"/>
              </a:rPr>
              <a:t>1001F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1001E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10010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200"/>
              <a:buFont typeface="Bookman Old Style"/>
              <a:buNone/>
            </a:pPr>
            <a:r>
              <a:rPr b="1" i="0" lang="en-US" sz="1200" u="none" cap="none" strike="noStrike">
                <a:solidFill>
                  <a:srgbClr val="FF0000"/>
                </a:solidFill>
                <a:latin typeface="Bookman Old Style"/>
                <a:ea typeface="Bookman Old Style"/>
                <a:cs typeface="Bookman Old Style"/>
                <a:sym typeface="Bookman Old Style"/>
              </a:rPr>
              <a:t>End of Segment 1 </a:t>
            </a:r>
            <a:r>
              <a:rPr b="1" i="0" lang="en-US" sz="1200" u="none" cap="none" strike="noStrike">
                <a:solidFill>
                  <a:schemeClr val="dk2"/>
                </a:solidFill>
                <a:latin typeface="Bookman Old Style"/>
                <a:ea typeface="Bookman Old Style"/>
                <a:cs typeface="Bookman Old Style"/>
                <a:sym typeface="Bookman Old Style"/>
              </a:rPr>
              <a:t>	</a:t>
            </a:r>
            <a:r>
              <a:rPr b="1" i="0" lang="en-US" sz="1200" u="none" cap="none" strike="noStrike">
                <a:solidFill>
                  <a:srgbClr val="FF0000"/>
                </a:solidFill>
                <a:latin typeface="Bookman Old Style"/>
                <a:ea typeface="Bookman Old Style"/>
                <a:cs typeface="Bookman Old Style"/>
                <a:sym typeface="Bookman Old Style"/>
              </a:rPr>
              <a:t>1000F</a:t>
            </a:r>
            <a:r>
              <a:rPr b="1" i="0" lang="en-US" sz="1200" u="none" cap="none" strike="noStrike">
                <a:solidFill>
                  <a:schemeClr val="dk2"/>
                </a:solidFill>
                <a:latin typeface="Bookman Old Style"/>
                <a:ea typeface="Bookman Old Style"/>
                <a:cs typeface="Bookman Old Style"/>
                <a:sym typeface="Bookman Old Style"/>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1000E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10000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CC00CC"/>
              </a:buClr>
              <a:buSzPts val="1200"/>
              <a:buFont typeface="Bookman Old Style"/>
              <a:buNone/>
            </a:pPr>
            <a:r>
              <a:rPr b="1" i="0" lang="en-US" sz="1200" u="none" cap="none" strike="noStrike">
                <a:solidFill>
                  <a:srgbClr val="CC00CC"/>
                </a:solidFill>
                <a:latin typeface="Bookman Old Style"/>
                <a:ea typeface="Bookman Old Style"/>
                <a:cs typeface="Bookman Old Style"/>
                <a:sym typeface="Bookman Old Style"/>
              </a:rPr>
              <a:t>End of Segment 0 </a:t>
            </a:r>
            <a:r>
              <a:rPr b="1" i="0" lang="en-US" sz="1200" u="none" cap="none" strike="noStrike">
                <a:solidFill>
                  <a:schemeClr val="dk2"/>
                </a:solidFill>
                <a:latin typeface="Bookman Old Style"/>
                <a:ea typeface="Bookman Old Style"/>
                <a:cs typeface="Bookman Old Style"/>
                <a:sym typeface="Bookman Old Style"/>
              </a:rPr>
              <a:t>	</a:t>
            </a:r>
            <a:r>
              <a:rPr b="1" i="0" lang="en-US" sz="1200" u="none" cap="none" strike="noStrike">
                <a:solidFill>
                  <a:srgbClr val="CC00CC"/>
                </a:solidFill>
                <a:latin typeface="Bookman Old Style"/>
                <a:ea typeface="Bookman Old Style"/>
                <a:cs typeface="Bookman Old Style"/>
                <a:sym typeface="Bookman Old Style"/>
              </a:rPr>
              <a:t>0FFFF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0FFFE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00021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B050"/>
              </a:buClr>
              <a:buSzPts val="1200"/>
              <a:buFont typeface="Bookman Old Style"/>
              <a:buNone/>
            </a:pPr>
            <a:r>
              <a:rPr b="1" i="0" lang="en-US" sz="1200" u="none" cap="none" strike="noStrike">
                <a:solidFill>
                  <a:srgbClr val="00B050"/>
                </a:solidFill>
                <a:latin typeface="Bookman Old Style"/>
                <a:ea typeface="Bookman Old Style"/>
                <a:cs typeface="Bookman Old Style"/>
                <a:sym typeface="Bookman Old Style"/>
              </a:rPr>
              <a:t>Start of Segment 2 </a:t>
            </a:r>
            <a:r>
              <a:rPr b="1" i="0" lang="en-US" sz="1200" u="none" cap="none" strike="noStrike">
                <a:solidFill>
                  <a:schemeClr val="dk2"/>
                </a:solidFill>
                <a:latin typeface="Bookman Old Style"/>
                <a:ea typeface="Bookman Old Style"/>
                <a:cs typeface="Bookman Old Style"/>
                <a:sym typeface="Bookman Old Style"/>
              </a:rPr>
              <a:t>	</a:t>
            </a:r>
            <a:r>
              <a:rPr b="1" i="0" lang="en-US" sz="1200" u="none" cap="none" strike="noStrike">
                <a:solidFill>
                  <a:srgbClr val="00B050"/>
                </a:solidFill>
                <a:latin typeface="Bookman Old Style"/>
                <a:ea typeface="Bookman Old Style"/>
                <a:cs typeface="Bookman Old Style"/>
                <a:sym typeface="Bookman Old Style"/>
              </a:rPr>
              <a:t>00020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0001F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00011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200"/>
              <a:buFont typeface="Bookman Old Style"/>
              <a:buNone/>
            </a:pPr>
            <a:r>
              <a:rPr b="1" i="0" lang="en-US" sz="1200" u="none" cap="none" strike="noStrike">
                <a:solidFill>
                  <a:srgbClr val="FF0000"/>
                </a:solidFill>
                <a:latin typeface="Bookman Old Style"/>
                <a:ea typeface="Bookman Old Style"/>
                <a:cs typeface="Bookman Old Style"/>
                <a:sym typeface="Bookman Old Style"/>
              </a:rPr>
              <a:t>Start of Segment 1 </a:t>
            </a:r>
            <a:r>
              <a:rPr b="1" i="0" lang="en-US" sz="1200" u="none" cap="none" strike="noStrike">
                <a:solidFill>
                  <a:schemeClr val="dk2"/>
                </a:solidFill>
                <a:latin typeface="Bookman Old Style"/>
                <a:ea typeface="Bookman Old Style"/>
                <a:cs typeface="Bookman Old Style"/>
                <a:sym typeface="Bookman Old Style"/>
              </a:rPr>
              <a:t>	</a:t>
            </a:r>
            <a:r>
              <a:rPr b="1" i="0" lang="en-US" sz="1200" u="none" cap="none" strike="noStrike">
                <a:solidFill>
                  <a:srgbClr val="FF0000"/>
                </a:solidFill>
                <a:latin typeface="Bookman Old Style"/>
                <a:ea typeface="Bookman Old Style"/>
                <a:cs typeface="Bookman Old Style"/>
                <a:sym typeface="Bookman Old Style"/>
              </a:rPr>
              <a:t>00010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0000F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00003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00002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200"/>
              <a:buFont typeface="Bookman Old Style"/>
              <a:buNone/>
            </a:pPr>
            <a:r>
              <a:rPr b="1" i="0" lang="en-US" sz="1200" u="none" cap="none" strike="noStrike">
                <a:solidFill>
                  <a:schemeClr val="dk2"/>
                </a:solidFill>
                <a:latin typeface="Bookman Old Style"/>
                <a:ea typeface="Bookman Old Style"/>
                <a:cs typeface="Bookman Old Style"/>
                <a:sym typeface="Bookman Old Style"/>
              </a:rPr>
              <a:t>                      	00001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CC00CC"/>
              </a:buClr>
              <a:buSzPts val="1200"/>
              <a:buFont typeface="Bookman Old Style"/>
              <a:buNone/>
            </a:pPr>
            <a:r>
              <a:rPr b="1" i="0" lang="en-US" sz="1200" u="none" cap="none" strike="noStrike">
                <a:solidFill>
                  <a:srgbClr val="CC00CC"/>
                </a:solidFill>
                <a:latin typeface="Bookman Old Style"/>
                <a:ea typeface="Bookman Old Style"/>
                <a:cs typeface="Bookman Old Style"/>
                <a:sym typeface="Bookman Old Style"/>
              </a:rPr>
              <a:t>Start of Segment 0 </a:t>
            </a:r>
            <a:r>
              <a:rPr b="1" i="0" lang="en-US" sz="1200" u="none" cap="none" strike="noStrike">
                <a:solidFill>
                  <a:schemeClr val="dk2"/>
                </a:solidFill>
                <a:latin typeface="Bookman Old Style"/>
                <a:ea typeface="Bookman Old Style"/>
                <a:cs typeface="Bookman Old Style"/>
                <a:sym typeface="Bookman Old Style"/>
              </a:rPr>
              <a:t>	</a:t>
            </a:r>
            <a:r>
              <a:rPr b="1" i="0" lang="en-US" sz="1200" u="none" cap="none" strike="noStrike">
                <a:solidFill>
                  <a:srgbClr val="CC00CC"/>
                </a:solidFill>
                <a:latin typeface="Bookman Old Style"/>
                <a:ea typeface="Bookman Old Style"/>
                <a:cs typeface="Bookman Old Style"/>
                <a:sym typeface="Bookman Old Style"/>
              </a:rPr>
              <a:t>00000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Gill Sans"/>
              <a:buNone/>
            </a:pPr>
            <a:r>
              <a:t/>
            </a:r>
            <a:endParaRPr b="1" i="0" sz="1200" u="none" cap="none" strike="noStrike">
              <a:solidFill>
                <a:schemeClr val="dk2"/>
              </a:solidFill>
              <a:latin typeface="Bookman Old Style"/>
              <a:ea typeface="Bookman Old Style"/>
              <a:cs typeface="Bookman Old Style"/>
              <a:sym typeface="Bookman Old Style"/>
            </a:endParaRPr>
          </a:p>
        </p:txBody>
      </p:sp>
      <p:cxnSp>
        <p:nvCxnSpPr>
          <p:cNvPr id="199" name="Google Shape;199;p12"/>
          <p:cNvCxnSpPr/>
          <p:nvPr/>
        </p:nvCxnSpPr>
        <p:spPr>
          <a:xfrm>
            <a:off x="1371600" y="6202363"/>
            <a:ext cx="381000" cy="0"/>
          </a:xfrm>
          <a:prstGeom prst="straightConnector1">
            <a:avLst/>
          </a:prstGeom>
          <a:noFill/>
          <a:ln cap="flat" cmpd="sng" w="9525">
            <a:solidFill>
              <a:schemeClr val="dk1"/>
            </a:solidFill>
            <a:prstDash val="solid"/>
            <a:round/>
            <a:headEnd len="sm" w="sm" type="none"/>
            <a:tailEnd len="med" w="med" type="triangle"/>
          </a:ln>
        </p:spPr>
      </p:cxnSp>
      <p:cxnSp>
        <p:nvCxnSpPr>
          <p:cNvPr id="200" name="Google Shape;200;p12"/>
          <p:cNvCxnSpPr/>
          <p:nvPr/>
        </p:nvCxnSpPr>
        <p:spPr>
          <a:xfrm rot="10800000">
            <a:off x="1371600" y="3505199"/>
            <a:ext cx="0" cy="2697163"/>
          </a:xfrm>
          <a:prstGeom prst="straightConnector1">
            <a:avLst/>
          </a:prstGeom>
          <a:noFill/>
          <a:ln cap="flat" cmpd="sng" w="9525">
            <a:solidFill>
              <a:schemeClr val="dk1"/>
            </a:solidFill>
            <a:prstDash val="solid"/>
            <a:round/>
            <a:headEnd len="sm" w="sm" type="none"/>
            <a:tailEnd len="sm" w="sm" type="none"/>
          </a:ln>
        </p:spPr>
      </p:cxnSp>
      <p:cxnSp>
        <p:nvCxnSpPr>
          <p:cNvPr id="201" name="Google Shape;201;p12"/>
          <p:cNvCxnSpPr/>
          <p:nvPr/>
        </p:nvCxnSpPr>
        <p:spPr>
          <a:xfrm>
            <a:off x="1371600" y="3505200"/>
            <a:ext cx="304800" cy="0"/>
          </a:xfrm>
          <a:prstGeom prst="straightConnector1">
            <a:avLst/>
          </a:prstGeom>
          <a:noFill/>
          <a:ln cap="flat" cmpd="sng" w="9525">
            <a:solidFill>
              <a:schemeClr val="dk1"/>
            </a:solidFill>
            <a:prstDash val="solid"/>
            <a:round/>
            <a:headEnd len="sm" w="sm" type="none"/>
            <a:tailEnd len="med" w="med" type="triangle"/>
          </a:ln>
        </p:spPr>
      </p:cxnSp>
      <p:cxnSp>
        <p:nvCxnSpPr>
          <p:cNvPr id="202" name="Google Shape;202;p12"/>
          <p:cNvCxnSpPr/>
          <p:nvPr/>
        </p:nvCxnSpPr>
        <p:spPr>
          <a:xfrm>
            <a:off x="1447800" y="4906963"/>
            <a:ext cx="228600" cy="0"/>
          </a:xfrm>
          <a:prstGeom prst="straightConnector1">
            <a:avLst/>
          </a:prstGeom>
          <a:noFill/>
          <a:ln cap="flat" cmpd="sng" w="9525">
            <a:solidFill>
              <a:schemeClr val="dk1"/>
            </a:solidFill>
            <a:prstDash val="solid"/>
            <a:round/>
            <a:headEnd len="sm" w="sm" type="none"/>
            <a:tailEnd len="med" w="med" type="triangle"/>
          </a:ln>
        </p:spPr>
      </p:cxnSp>
      <p:cxnSp>
        <p:nvCxnSpPr>
          <p:cNvPr id="203" name="Google Shape;203;p12"/>
          <p:cNvCxnSpPr/>
          <p:nvPr/>
        </p:nvCxnSpPr>
        <p:spPr>
          <a:xfrm rot="10800000">
            <a:off x="1447800" y="2743199"/>
            <a:ext cx="0" cy="2163763"/>
          </a:xfrm>
          <a:prstGeom prst="straightConnector1">
            <a:avLst/>
          </a:prstGeom>
          <a:noFill/>
          <a:ln cap="flat" cmpd="sng" w="9525">
            <a:solidFill>
              <a:schemeClr val="dk1"/>
            </a:solidFill>
            <a:prstDash val="solid"/>
            <a:round/>
            <a:headEnd len="sm" w="sm" type="none"/>
            <a:tailEnd len="sm" w="sm" type="none"/>
          </a:ln>
        </p:spPr>
      </p:cxnSp>
      <p:cxnSp>
        <p:nvCxnSpPr>
          <p:cNvPr id="204" name="Google Shape;204;p12"/>
          <p:cNvCxnSpPr/>
          <p:nvPr/>
        </p:nvCxnSpPr>
        <p:spPr>
          <a:xfrm>
            <a:off x="1447800" y="2743200"/>
            <a:ext cx="228600" cy="0"/>
          </a:xfrm>
          <a:prstGeom prst="straightConnector1">
            <a:avLst/>
          </a:prstGeom>
          <a:noFill/>
          <a:ln cap="flat" cmpd="sng" w="9525">
            <a:solidFill>
              <a:schemeClr val="dk1"/>
            </a:solidFill>
            <a:prstDash val="solid"/>
            <a:round/>
            <a:headEnd len="sm" w="sm" type="none"/>
            <a:tailEnd len="med" w="med" type="triangle"/>
          </a:ln>
        </p:spPr>
      </p:cxnSp>
      <p:cxnSp>
        <p:nvCxnSpPr>
          <p:cNvPr id="205" name="Google Shape;205;p12"/>
          <p:cNvCxnSpPr/>
          <p:nvPr/>
        </p:nvCxnSpPr>
        <p:spPr>
          <a:xfrm>
            <a:off x="1524000" y="4068763"/>
            <a:ext cx="152400" cy="0"/>
          </a:xfrm>
          <a:prstGeom prst="straightConnector1">
            <a:avLst/>
          </a:prstGeom>
          <a:noFill/>
          <a:ln cap="flat" cmpd="sng" w="9525">
            <a:solidFill>
              <a:schemeClr val="dk1"/>
            </a:solidFill>
            <a:prstDash val="solid"/>
            <a:round/>
            <a:headEnd len="sm" w="sm" type="none"/>
            <a:tailEnd len="med" w="med" type="triangle"/>
          </a:ln>
        </p:spPr>
      </p:cxnSp>
      <p:cxnSp>
        <p:nvCxnSpPr>
          <p:cNvPr id="206" name="Google Shape;206;p12"/>
          <p:cNvCxnSpPr/>
          <p:nvPr/>
        </p:nvCxnSpPr>
        <p:spPr>
          <a:xfrm rot="10800000">
            <a:off x="1524000" y="2057399"/>
            <a:ext cx="0" cy="2011363"/>
          </a:xfrm>
          <a:prstGeom prst="straightConnector1">
            <a:avLst/>
          </a:prstGeom>
          <a:noFill/>
          <a:ln cap="flat" cmpd="sng" w="9525">
            <a:solidFill>
              <a:schemeClr val="dk1"/>
            </a:solidFill>
            <a:prstDash val="solid"/>
            <a:round/>
            <a:headEnd len="sm" w="sm" type="none"/>
            <a:tailEnd len="sm" w="sm" type="none"/>
          </a:ln>
        </p:spPr>
      </p:cxnSp>
      <p:cxnSp>
        <p:nvCxnSpPr>
          <p:cNvPr id="207" name="Google Shape;207;p12"/>
          <p:cNvCxnSpPr/>
          <p:nvPr/>
        </p:nvCxnSpPr>
        <p:spPr>
          <a:xfrm>
            <a:off x="1524000" y="2057400"/>
            <a:ext cx="228600" cy="0"/>
          </a:xfrm>
          <a:prstGeom prst="straightConnector1">
            <a:avLst/>
          </a:prstGeom>
          <a:noFill/>
          <a:ln cap="flat" cmpd="sng" w="9525">
            <a:solidFill>
              <a:schemeClr val="dk1"/>
            </a:solidFill>
            <a:prstDash val="solid"/>
            <a:round/>
            <a:headEnd len="sm" w="sm" type="none"/>
            <a:tailEnd len="med" w="med" type="triangle"/>
          </a:ln>
        </p:spPr>
      </p:cxnSp>
      <p:sp>
        <p:nvSpPr>
          <p:cNvPr id="208" name="Google Shape;208;p12"/>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
        <p:nvSpPr>
          <p:cNvPr id="209" name="Google Shape;209;p12"/>
          <p:cNvSpPr txBox="1"/>
          <p:nvPr/>
        </p:nvSpPr>
        <p:spPr>
          <a:xfrm>
            <a:off x="5486400" y="1905000"/>
            <a:ext cx="2665538" cy="25853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0001F physical address has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Different logical address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Gill Sans"/>
                <a:ea typeface="Gill Sans"/>
                <a:cs typeface="Gill Sans"/>
                <a:sym typeface="Gill Sans"/>
              </a:rPr>
              <a:t>For Segment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Base address = 0000</a:t>
            </a:r>
            <a:br>
              <a:rPr b="0" i="0" lang="en-US" sz="1800" u="none" cap="none" strike="noStrike">
                <a:solidFill>
                  <a:schemeClr val="dk1"/>
                </a:solidFill>
                <a:latin typeface="Gill Sans"/>
                <a:ea typeface="Gill Sans"/>
                <a:cs typeface="Gill Sans"/>
                <a:sym typeface="Gill Sans"/>
              </a:rPr>
            </a:br>
            <a:r>
              <a:rPr b="0" i="0" lang="en-US" sz="1800" u="none" cap="none" strike="noStrike">
                <a:solidFill>
                  <a:schemeClr val="dk1"/>
                </a:solidFill>
                <a:latin typeface="Gill Sans"/>
                <a:ea typeface="Gill Sans"/>
                <a:cs typeface="Gill Sans"/>
                <a:sym typeface="Gill Sans"/>
              </a:rPr>
              <a:t>offset = 001F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Gill Sans"/>
                <a:ea typeface="Gill Sans"/>
                <a:cs typeface="Gill Sans"/>
                <a:sym typeface="Gill Sans"/>
              </a:rPr>
              <a:t>For Segment 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Base address = 0001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Offset = 000F</a:t>
            </a:r>
            <a:endParaRPr b="0" i="0" sz="1400" u="none" cap="none" strike="noStrike">
              <a:solidFill>
                <a:srgbClr val="000000"/>
              </a:solidFill>
              <a:latin typeface="Arial"/>
              <a:ea typeface="Arial"/>
              <a:cs typeface="Arial"/>
              <a:sym typeface="Arial"/>
            </a:endParaRPr>
          </a:p>
        </p:txBody>
      </p:sp>
      <p:sp>
        <p:nvSpPr>
          <p:cNvPr id="210" name="Google Shape;210;p12"/>
          <p:cNvSpPr txBox="1"/>
          <p:nvPr/>
        </p:nvSpPr>
        <p:spPr>
          <a:xfrm>
            <a:off x="479906" y="4499531"/>
            <a:ext cx="96789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64Kbyte</a:t>
            </a:r>
            <a:endParaRPr b="0" i="0" sz="1400" u="none" cap="none" strike="noStrike">
              <a:solidFill>
                <a:srgbClr val="000000"/>
              </a:solidFill>
              <a:latin typeface="Arial"/>
              <a:ea typeface="Arial"/>
              <a:cs typeface="Arial"/>
              <a:sym typeface="Arial"/>
            </a:endParaRPr>
          </a:p>
        </p:txBody>
      </p:sp>
      <p:cxnSp>
        <p:nvCxnSpPr>
          <p:cNvPr id="211" name="Google Shape;211;p12"/>
          <p:cNvCxnSpPr/>
          <p:nvPr/>
        </p:nvCxnSpPr>
        <p:spPr>
          <a:xfrm rot="10800000">
            <a:off x="992062" y="3581400"/>
            <a:ext cx="0" cy="762000"/>
          </a:xfrm>
          <a:prstGeom prst="straightConnector1">
            <a:avLst/>
          </a:prstGeom>
          <a:noFill/>
          <a:ln cap="flat" cmpd="sng" w="9525">
            <a:solidFill>
              <a:schemeClr val="accent1"/>
            </a:solidFill>
            <a:prstDash val="solid"/>
            <a:round/>
            <a:headEnd len="sm" w="sm" type="none"/>
            <a:tailEnd len="med" w="med" type="triangle"/>
          </a:ln>
        </p:spPr>
      </p:cxnSp>
      <p:cxnSp>
        <p:nvCxnSpPr>
          <p:cNvPr id="212" name="Google Shape;212;p12"/>
          <p:cNvCxnSpPr/>
          <p:nvPr/>
        </p:nvCxnSpPr>
        <p:spPr>
          <a:xfrm>
            <a:off x="963853" y="4868863"/>
            <a:ext cx="0" cy="1333499"/>
          </a:xfrm>
          <a:prstGeom prst="straightConnector1">
            <a:avLst/>
          </a:prstGeom>
          <a:noFill/>
          <a:ln cap="flat" cmpd="sng" w="9525">
            <a:solidFill>
              <a:schemeClr val="accent1"/>
            </a:solidFill>
            <a:prstDash val="solid"/>
            <a:round/>
            <a:headEnd len="sm" w="sm"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Registers:</a:t>
            </a:r>
            <a:endParaRPr/>
          </a:p>
        </p:txBody>
      </p:sp>
      <p:sp>
        <p:nvSpPr>
          <p:cNvPr id="218" name="Google Shape;218;p1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219" name="Google Shape;219;p1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824"/>
              <a:buChar char="?"/>
            </a:pPr>
            <a:r>
              <a:rPr b="1" lang="en-US" sz="2400">
                <a:latin typeface="Open Sans ExtraBold"/>
                <a:ea typeface="Open Sans ExtraBold"/>
                <a:cs typeface="Open Sans ExtraBold"/>
                <a:sym typeface="Open Sans ExtraBold"/>
              </a:rPr>
              <a:t>Registers:</a:t>
            </a:r>
            <a:endParaRPr/>
          </a:p>
          <a:p>
            <a:pPr indent="-274319" lvl="1" marL="548640" rtl="0" algn="l">
              <a:lnSpc>
                <a:spcPct val="100000"/>
              </a:lnSpc>
              <a:spcBef>
                <a:spcPts val="500"/>
              </a:spcBef>
              <a:spcAft>
                <a:spcPts val="0"/>
              </a:spcAft>
              <a:buSzPts val="1824"/>
              <a:buChar char="?"/>
            </a:pPr>
            <a:r>
              <a:rPr b="1" lang="en-US" sz="2400">
                <a:solidFill>
                  <a:schemeClr val="dk1"/>
                </a:solidFill>
                <a:latin typeface="Open Sans ExtraBold"/>
                <a:ea typeface="Open Sans ExtraBold"/>
                <a:cs typeface="Open Sans ExtraBold"/>
                <a:sym typeface="Open Sans ExtraBold"/>
              </a:rPr>
              <a:t>Information is stored in registers</a:t>
            </a:r>
            <a:endParaRPr/>
          </a:p>
          <a:p>
            <a:pPr indent="-274319" lvl="1" marL="548640" rtl="0" algn="l">
              <a:lnSpc>
                <a:spcPct val="100000"/>
              </a:lnSpc>
              <a:spcBef>
                <a:spcPts val="500"/>
              </a:spcBef>
              <a:spcAft>
                <a:spcPts val="0"/>
              </a:spcAft>
              <a:buSzPts val="1824"/>
              <a:buChar char="?"/>
            </a:pPr>
            <a:r>
              <a:rPr b="1" lang="en-US" sz="2400">
                <a:solidFill>
                  <a:schemeClr val="dk1"/>
                </a:solidFill>
                <a:latin typeface="Open Sans ExtraBold"/>
                <a:ea typeface="Open Sans ExtraBold"/>
                <a:cs typeface="Open Sans ExtraBold"/>
                <a:sym typeface="Open Sans ExtraBold"/>
              </a:rPr>
              <a:t>Registers are classified according to the functions they perform</a:t>
            </a:r>
            <a:endParaRPr/>
          </a:p>
          <a:p>
            <a:pPr indent="-274319" lvl="1" marL="548640" rtl="0" algn="l">
              <a:lnSpc>
                <a:spcPct val="100000"/>
              </a:lnSpc>
              <a:spcBef>
                <a:spcPts val="500"/>
              </a:spcBef>
              <a:spcAft>
                <a:spcPts val="0"/>
              </a:spcAft>
              <a:buSzPts val="1824"/>
              <a:buChar char="?"/>
            </a:pPr>
            <a:r>
              <a:rPr b="1" lang="en-US" sz="2400">
                <a:solidFill>
                  <a:schemeClr val="dk1"/>
                </a:solidFill>
                <a:latin typeface="Open Sans ExtraBold"/>
                <a:ea typeface="Open Sans ExtraBold"/>
                <a:cs typeface="Open Sans ExtraBold"/>
                <a:sym typeface="Open Sans ExtraBold"/>
              </a:rPr>
              <a:t>All Processors have internal registers some are visible and some are not visible to the programmers.</a:t>
            </a:r>
            <a:endParaRPr/>
          </a:p>
          <a:p>
            <a:pPr indent="-274319" lvl="1" marL="548640" rtl="0" algn="l">
              <a:lnSpc>
                <a:spcPct val="100000"/>
              </a:lnSpc>
              <a:spcBef>
                <a:spcPts val="500"/>
              </a:spcBef>
              <a:spcAft>
                <a:spcPts val="0"/>
              </a:spcAft>
              <a:buSzPts val="1824"/>
              <a:buChar char="?"/>
            </a:pPr>
            <a:r>
              <a:rPr b="1" lang="en-US" sz="2400">
                <a:solidFill>
                  <a:schemeClr val="dk1"/>
                </a:solidFill>
                <a:latin typeface="Open Sans ExtraBold"/>
                <a:ea typeface="Open Sans ExtraBold"/>
                <a:cs typeface="Open Sans ExtraBold"/>
                <a:sym typeface="Open Sans ExtraBold"/>
              </a:rPr>
              <a:t>Internal Registers are used as temporary storage for operands, and if the operand is already in memory, it takes less time for execution of the associated instruction.</a:t>
            </a:r>
            <a:endParaRPr/>
          </a:p>
        </p:txBody>
      </p:sp>
      <p:sp>
        <p:nvSpPr>
          <p:cNvPr id="220" name="Google Shape;220;p13"/>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8086 Register Categories</a:t>
            </a:r>
            <a:endParaRPr/>
          </a:p>
        </p:txBody>
      </p:sp>
      <p:sp>
        <p:nvSpPr>
          <p:cNvPr id="226" name="Google Shape;226;p1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227" name="Google Shape;227;p14"/>
          <p:cNvSpPr txBox="1"/>
          <p:nvPr>
            <p:ph idx="1" type="body"/>
          </p:nvPr>
        </p:nvSpPr>
        <p:spPr>
          <a:xfrm>
            <a:off x="457200" y="1219200"/>
            <a:ext cx="3276600" cy="4937760"/>
          </a:xfrm>
          <a:prstGeom prst="rect">
            <a:avLst/>
          </a:prstGeom>
          <a:noFill/>
          <a:ln>
            <a:noFill/>
          </a:ln>
        </p:spPr>
        <p:txBody>
          <a:bodyPr anchorCtr="0" anchor="t" bIns="45700" lIns="91425" spcFirstLastPara="1" rIns="91425" wrap="square" tIns="45700">
            <a:normAutofit fontScale="92500"/>
          </a:bodyPr>
          <a:lstStyle/>
          <a:p>
            <a:pPr indent="-457200" lvl="0" marL="457200" rtl="0" algn="l">
              <a:lnSpc>
                <a:spcPct val="100000"/>
              </a:lnSpc>
              <a:spcBef>
                <a:spcPts val="0"/>
              </a:spcBef>
              <a:spcAft>
                <a:spcPts val="0"/>
              </a:spcAft>
              <a:buSzPct val="76000"/>
              <a:buChar char="?"/>
            </a:pPr>
            <a:r>
              <a:rPr b="1" lang="en-US" sz="2400"/>
              <a:t>Data registers (4)</a:t>
            </a:r>
            <a:r>
              <a:rPr lang="en-US" sz="2400"/>
              <a:t>: General data registers hold data for an operation (AX, BX, CX, DX).</a:t>
            </a:r>
            <a:endParaRPr/>
          </a:p>
          <a:p>
            <a:pPr indent="-457200" lvl="0" marL="457200" rtl="0" algn="l">
              <a:lnSpc>
                <a:spcPct val="100000"/>
              </a:lnSpc>
              <a:spcBef>
                <a:spcPts val="600"/>
              </a:spcBef>
              <a:spcAft>
                <a:spcPts val="0"/>
              </a:spcAft>
              <a:buSzPct val="76000"/>
              <a:buChar char="?"/>
            </a:pPr>
            <a:r>
              <a:rPr b="1" lang="en-US" sz="2400"/>
              <a:t>Address registers (9)</a:t>
            </a:r>
            <a:r>
              <a:rPr lang="en-US" sz="2400"/>
              <a:t>: (Segment, Pointer and Index registers) hold the address of an instruction or data.</a:t>
            </a:r>
            <a:endParaRPr/>
          </a:p>
          <a:p>
            <a:pPr indent="-457200" lvl="0" marL="457200" rtl="0" algn="l">
              <a:lnSpc>
                <a:spcPct val="100000"/>
              </a:lnSpc>
              <a:spcBef>
                <a:spcPts val="600"/>
              </a:spcBef>
              <a:spcAft>
                <a:spcPts val="0"/>
              </a:spcAft>
              <a:buSzPct val="76000"/>
              <a:buChar char="?"/>
            </a:pPr>
            <a:r>
              <a:rPr b="1" lang="en-US" sz="2400"/>
              <a:t>Status register (1)</a:t>
            </a:r>
            <a:r>
              <a:rPr lang="en-US" sz="2400"/>
              <a:t>: FLAG register keeps the current states of the processor.</a:t>
            </a:r>
            <a:endParaRPr/>
          </a:p>
          <a:p>
            <a:pPr indent="-167182" lvl="0" marL="274320" rtl="0" algn="l">
              <a:lnSpc>
                <a:spcPct val="100000"/>
              </a:lnSpc>
              <a:spcBef>
                <a:spcPts val="600"/>
              </a:spcBef>
              <a:spcAft>
                <a:spcPts val="0"/>
              </a:spcAft>
              <a:buSzPct val="76000"/>
              <a:buNone/>
            </a:pPr>
            <a:r>
              <a:t/>
            </a:r>
            <a:endParaRPr sz="2400"/>
          </a:p>
        </p:txBody>
      </p:sp>
      <p:pic>
        <p:nvPicPr>
          <p:cNvPr descr="registers" id="228" name="Google Shape;228;p14"/>
          <p:cNvPicPr preferRelativeResize="0"/>
          <p:nvPr/>
        </p:nvPicPr>
        <p:blipFill rotWithShape="1">
          <a:blip r:embed="rId3">
            <a:alphaModFix/>
          </a:blip>
          <a:srcRect b="0" l="0" r="0" t="0"/>
          <a:stretch/>
        </p:blipFill>
        <p:spPr>
          <a:xfrm>
            <a:off x="3733484" y="1219200"/>
            <a:ext cx="5410516" cy="3505200"/>
          </a:xfrm>
          <a:prstGeom prst="rect">
            <a:avLst/>
          </a:prstGeom>
          <a:noFill/>
          <a:ln>
            <a:noFill/>
          </a:ln>
        </p:spPr>
      </p:pic>
      <p:sp>
        <p:nvSpPr>
          <p:cNvPr id="229" name="Google Shape;229;p14"/>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8086 Registers and Memory</a:t>
            </a:r>
            <a:endParaRPr/>
          </a:p>
        </p:txBody>
      </p:sp>
      <p:sp>
        <p:nvSpPr>
          <p:cNvPr id="235" name="Google Shape;235;p1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236" name="Google Shape;236;p15"/>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824"/>
              <a:buNone/>
            </a:pPr>
            <a:r>
              <a:rPr b="1" lang="en-US" sz="2400"/>
              <a:t>Number of Registers: </a:t>
            </a:r>
            <a:r>
              <a:rPr lang="en-US" sz="2400"/>
              <a:t>14, each of that16-bit registers  </a:t>
            </a:r>
            <a:endParaRPr/>
          </a:p>
          <a:p>
            <a:pPr indent="-274320" lvl="0" marL="274320" rtl="0" algn="l">
              <a:lnSpc>
                <a:spcPct val="100000"/>
              </a:lnSpc>
              <a:spcBef>
                <a:spcPts val="600"/>
              </a:spcBef>
              <a:spcAft>
                <a:spcPts val="0"/>
              </a:spcAft>
              <a:buSzPts val="1824"/>
              <a:buNone/>
            </a:pPr>
            <a:r>
              <a:rPr b="1" lang="en-US" sz="2400"/>
              <a:t>Memory Size: </a:t>
            </a:r>
            <a:r>
              <a:rPr lang="en-US" sz="2400"/>
              <a:t>1M Bytes</a:t>
            </a:r>
            <a:endParaRPr/>
          </a:p>
          <a:p>
            <a:pPr indent="-274320" lvl="0" marL="274320" rtl="0" algn="l">
              <a:lnSpc>
                <a:spcPct val="100000"/>
              </a:lnSpc>
              <a:spcBef>
                <a:spcPts val="600"/>
              </a:spcBef>
              <a:spcAft>
                <a:spcPts val="0"/>
              </a:spcAft>
              <a:buSzPts val="1824"/>
              <a:buNone/>
            </a:pPr>
            <a:r>
              <a:t/>
            </a:r>
            <a:endParaRPr sz="2400"/>
          </a:p>
          <a:p>
            <a:pPr indent="-148844" lvl="0" marL="274320" rtl="0" algn="l">
              <a:lnSpc>
                <a:spcPct val="100000"/>
              </a:lnSpc>
              <a:spcBef>
                <a:spcPts val="600"/>
              </a:spcBef>
              <a:spcAft>
                <a:spcPts val="0"/>
              </a:spcAft>
              <a:buSzPts val="1976"/>
              <a:buNone/>
            </a:pPr>
            <a:r>
              <a:t/>
            </a:r>
            <a:endParaRPr/>
          </a:p>
        </p:txBody>
      </p:sp>
      <p:pic>
        <p:nvPicPr>
          <p:cNvPr id="237" name="Google Shape;237;p15"/>
          <p:cNvPicPr preferRelativeResize="0"/>
          <p:nvPr/>
        </p:nvPicPr>
        <p:blipFill rotWithShape="1">
          <a:blip r:embed="rId3">
            <a:alphaModFix/>
          </a:blip>
          <a:srcRect b="0" l="0" r="0" t="0"/>
          <a:stretch/>
        </p:blipFill>
        <p:spPr>
          <a:xfrm>
            <a:off x="1676400" y="2025238"/>
            <a:ext cx="5486400" cy="4328599"/>
          </a:xfrm>
          <a:prstGeom prst="rect">
            <a:avLst/>
          </a:prstGeom>
          <a:noFill/>
          <a:ln>
            <a:noFill/>
          </a:ln>
        </p:spPr>
      </p:pic>
      <p:sp>
        <p:nvSpPr>
          <p:cNvPr id="238" name="Google Shape;238;p15"/>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100000"/>
              <a:buFont typeface="Bookman Old Style"/>
              <a:buNone/>
            </a:pPr>
            <a:r>
              <a:rPr lang="en-US">
                <a:solidFill>
                  <a:schemeClr val="dk1"/>
                </a:solidFill>
              </a:rPr>
              <a:t>Memory Segment and Segment Registers</a:t>
            </a:r>
            <a:endParaRPr/>
          </a:p>
        </p:txBody>
      </p:sp>
      <p:sp>
        <p:nvSpPr>
          <p:cNvPr id="244" name="Google Shape;244;p1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245" name="Google Shape;245;p16"/>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lnSpcReduction="10000"/>
          </a:bodyPr>
          <a:lstStyle/>
          <a:p>
            <a:pPr indent="-274320" lvl="0" marL="274320" rtl="0" algn="l">
              <a:lnSpc>
                <a:spcPct val="100000"/>
              </a:lnSpc>
              <a:spcBef>
                <a:spcPts val="0"/>
              </a:spcBef>
              <a:spcAft>
                <a:spcPts val="0"/>
              </a:spcAft>
              <a:buSzPts val="1976"/>
              <a:buChar char="?"/>
            </a:pPr>
            <a:r>
              <a:rPr lang="en-US"/>
              <a:t>Note that, 8086 does not work with the whole 1MB memory at a given time, it works only with four 64KB segments within the whole memory, namely</a:t>
            </a:r>
            <a:endParaRPr/>
          </a:p>
          <a:p>
            <a:pPr indent="-274320" lvl="1" marL="548640" rtl="0" algn="l">
              <a:lnSpc>
                <a:spcPct val="100000"/>
              </a:lnSpc>
              <a:spcBef>
                <a:spcPts val="500"/>
              </a:spcBef>
              <a:spcAft>
                <a:spcPts val="0"/>
              </a:spcAft>
              <a:buSzPts val="1748"/>
              <a:buChar char="?"/>
            </a:pPr>
            <a:r>
              <a:rPr b="1" lang="en-US">
                <a:solidFill>
                  <a:schemeClr val="dk1"/>
                </a:solidFill>
                <a:latin typeface="Open Sans ExtraBold"/>
                <a:ea typeface="Open Sans ExtraBold"/>
                <a:cs typeface="Open Sans ExtraBold"/>
                <a:sym typeface="Open Sans ExtraBold"/>
              </a:rPr>
              <a:t>Code segment  CS: holds segment number of the code segment.</a:t>
            </a:r>
            <a:endParaRPr/>
          </a:p>
          <a:p>
            <a:pPr indent="-274320" lvl="1" marL="548640" rtl="0" algn="l">
              <a:lnSpc>
                <a:spcPct val="100000"/>
              </a:lnSpc>
              <a:spcBef>
                <a:spcPts val="500"/>
              </a:spcBef>
              <a:spcAft>
                <a:spcPts val="0"/>
              </a:spcAft>
              <a:buSzPts val="1748"/>
              <a:buChar char="?"/>
            </a:pPr>
            <a:r>
              <a:rPr b="1" lang="en-US">
                <a:solidFill>
                  <a:schemeClr val="dk1"/>
                </a:solidFill>
                <a:latin typeface="Open Sans ExtraBold"/>
                <a:ea typeface="Open Sans ExtraBold"/>
                <a:cs typeface="Open Sans ExtraBold"/>
                <a:sym typeface="Open Sans ExtraBold"/>
              </a:rPr>
              <a:t>Data Segment  DS: holds segment number of the data segment.</a:t>
            </a:r>
            <a:endParaRPr/>
          </a:p>
          <a:p>
            <a:pPr indent="-274320" lvl="1" marL="548640" rtl="0" algn="l">
              <a:lnSpc>
                <a:spcPct val="100000"/>
              </a:lnSpc>
              <a:spcBef>
                <a:spcPts val="500"/>
              </a:spcBef>
              <a:spcAft>
                <a:spcPts val="0"/>
              </a:spcAft>
              <a:buSzPts val="1748"/>
              <a:buChar char="?"/>
            </a:pPr>
            <a:r>
              <a:rPr b="1" lang="en-US">
                <a:solidFill>
                  <a:schemeClr val="dk1"/>
                </a:solidFill>
                <a:latin typeface="Open Sans ExtraBold"/>
                <a:ea typeface="Open Sans ExtraBold"/>
                <a:cs typeface="Open Sans ExtraBold"/>
                <a:sym typeface="Open Sans ExtraBold"/>
              </a:rPr>
              <a:t>Extra Segment ES: extra segment : holds alternate segment number of the data segment.</a:t>
            </a:r>
            <a:endParaRPr/>
          </a:p>
          <a:p>
            <a:pPr indent="-274320" lvl="1" marL="548640" rtl="0" algn="l">
              <a:lnSpc>
                <a:spcPct val="100000"/>
              </a:lnSpc>
              <a:spcBef>
                <a:spcPts val="500"/>
              </a:spcBef>
              <a:spcAft>
                <a:spcPts val="0"/>
              </a:spcAft>
              <a:buSzPts val="1748"/>
              <a:buChar char="?"/>
            </a:pPr>
            <a:r>
              <a:rPr b="1" lang="en-US">
                <a:solidFill>
                  <a:schemeClr val="dk1"/>
                </a:solidFill>
                <a:latin typeface="Open Sans ExtraBold"/>
                <a:ea typeface="Open Sans ExtraBold"/>
                <a:cs typeface="Open Sans ExtraBold"/>
                <a:sym typeface="Open Sans ExtraBold"/>
              </a:rPr>
              <a:t>Stack Segment SS: holds segment number of the stack segment and used when sub-program executes.</a:t>
            </a:r>
            <a:endParaRPr/>
          </a:p>
          <a:p>
            <a:pPr indent="-274320" lvl="0" marL="274320" rtl="0" algn="l">
              <a:lnSpc>
                <a:spcPct val="100000"/>
              </a:lnSpc>
              <a:spcBef>
                <a:spcPts val="600"/>
              </a:spcBef>
              <a:spcAft>
                <a:spcPts val="0"/>
              </a:spcAft>
              <a:buSzPts val="1976"/>
              <a:buChar char="?"/>
            </a:pPr>
            <a:r>
              <a:rPr lang="en-US"/>
              <a:t>Codes , data , and stack are loaded into different memory segments (registers).</a:t>
            </a:r>
            <a:endParaRPr/>
          </a:p>
          <a:p>
            <a:pPr indent="-148844" lvl="0" marL="274320" rtl="0" algn="l">
              <a:lnSpc>
                <a:spcPct val="100000"/>
              </a:lnSpc>
              <a:spcBef>
                <a:spcPts val="600"/>
              </a:spcBef>
              <a:spcAft>
                <a:spcPts val="0"/>
              </a:spcAft>
              <a:buSzPts val="1976"/>
              <a:buNone/>
            </a:pPr>
            <a:r>
              <a:t/>
            </a:r>
            <a:endParaRPr/>
          </a:p>
          <a:p>
            <a:pPr indent="-148844" lvl="0" marL="274320" rtl="0" algn="l">
              <a:lnSpc>
                <a:spcPct val="100000"/>
              </a:lnSpc>
              <a:spcBef>
                <a:spcPts val="600"/>
              </a:spcBef>
              <a:spcAft>
                <a:spcPts val="0"/>
              </a:spcAft>
              <a:buSzPts val="1976"/>
              <a:buNone/>
            </a:pPr>
            <a:r>
              <a:t/>
            </a:r>
            <a:endParaRPr>
              <a:solidFill>
                <a:schemeClr val="dk1"/>
              </a:solidFill>
            </a:endParaRPr>
          </a:p>
        </p:txBody>
      </p:sp>
      <p:sp>
        <p:nvSpPr>
          <p:cNvPr id="246" name="Google Shape;246;p16"/>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General Data Registers</a:t>
            </a:r>
            <a:endParaRPr/>
          </a:p>
        </p:txBody>
      </p:sp>
      <p:sp>
        <p:nvSpPr>
          <p:cNvPr id="252" name="Google Shape;252;p1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253" name="Google Shape;253;p17"/>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lnSpcReduction="10000"/>
          </a:bodyPr>
          <a:lstStyle/>
          <a:p>
            <a:pPr indent="-274320" lvl="0" marL="274320" rtl="0" algn="l">
              <a:lnSpc>
                <a:spcPct val="90000"/>
              </a:lnSpc>
              <a:spcBef>
                <a:spcPts val="0"/>
              </a:spcBef>
              <a:spcAft>
                <a:spcPts val="0"/>
              </a:spcAft>
              <a:buSzPts val="1824"/>
              <a:buChar char="?"/>
            </a:pPr>
            <a:r>
              <a:rPr lang="en-US" sz="2400"/>
              <a:t>These are 16-bit registers and can also be used as two 8 bit registers: </a:t>
            </a:r>
            <a:r>
              <a:rPr b="1" i="1" lang="en-US" sz="2400"/>
              <a:t>low and high bytes</a:t>
            </a:r>
            <a:r>
              <a:rPr lang="en-US" sz="2400"/>
              <a:t> can be accessed separately</a:t>
            </a:r>
            <a:endParaRPr/>
          </a:p>
          <a:p>
            <a:pPr indent="-274320" lvl="0" marL="274320" rtl="0" algn="l">
              <a:lnSpc>
                <a:spcPct val="100000"/>
              </a:lnSpc>
              <a:spcBef>
                <a:spcPts val="600"/>
              </a:spcBef>
              <a:spcAft>
                <a:spcPts val="0"/>
              </a:spcAft>
              <a:buSzPts val="1520"/>
              <a:buChar char="?"/>
            </a:pPr>
            <a:r>
              <a:rPr b="1" lang="en-US" sz="2000"/>
              <a:t>AX (Accumulator)</a:t>
            </a:r>
            <a:endParaRPr/>
          </a:p>
          <a:p>
            <a:pPr indent="-274320" lvl="1" marL="548640" rtl="0" algn="l">
              <a:lnSpc>
                <a:spcPct val="100000"/>
              </a:lnSpc>
              <a:spcBef>
                <a:spcPts val="500"/>
              </a:spcBef>
              <a:spcAft>
                <a:spcPts val="0"/>
              </a:spcAft>
              <a:buSzPts val="1520"/>
              <a:buChar char="?"/>
            </a:pPr>
            <a:r>
              <a:rPr lang="en-US" sz="2000">
                <a:solidFill>
                  <a:schemeClr val="dk1"/>
                </a:solidFill>
              </a:rPr>
              <a:t>Can be partitioned into AH, AL</a:t>
            </a:r>
            <a:endParaRPr/>
          </a:p>
          <a:p>
            <a:pPr indent="-274320" lvl="1" marL="548640" rtl="0" algn="l">
              <a:lnSpc>
                <a:spcPct val="100000"/>
              </a:lnSpc>
              <a:spcBef>
                <a:spcPts val="500"/>
              </a:spcBef>
              <a:spcAft>
                <a:spcPts val="0"/>
              </a:spcAft>
              <a:buSzPts val="1520"/>
              <a:buChar char="?"/>
            </a:pPr>
            <a:r>
              <a:rPr lang="en-US" sz="2000">
                <a:solidFill>
                  <a:schemeClr val="dk1"/>
                </a:solidFill>
              </a:rPr>
              <a:t>Most efficient register for arithmetic, logic operations and data transfer: the use of AX generates the shortest machine code.</a:t>
            </a:r>
            <a:endParaRPr/>
          </a:p>
          <a:p>
            <a:pPr indent="-274320" lvl="1" marL="548640" rtl="0" algn="l">
              <a:lnSpc>
                <a:spcPct val="100000"/>
              </a:lnSpc>
              <a:spcBef>
                <a:spcPts val="500"/>
              </a:spcBef>
              <a:spcAft>
                <a:spcPts val="0"/>
              </a:spcAft>
              <a:buSzPts val="1520"/>
              <a:buChar char="?"/>
            </a:pPr>
            <a:r>
              <a:rPr lang="en-US" sz="2000">
                <a:solidFill>
                  <a:schemeClr val="dk1"/>
                </a:solidFill>
              </a:rPr>
              <a:t>In multiplication and division operations, one of the numbers involved must be in AL or AX</a:t>
            </a:r>
            <a:endParaRPr/>
          </a:p>
          <a:p>
            <a:pPr indent="-274320" lvl="0" marL="274320" rtl="0" algn="l">
              <a:lnSpc>
                <a:spcPct val="100000"/>
              </a:lnSpc>
              <a:spcBef>
                <a:spcPts val="600"/>
              </a:spcBef>
              <a:spcAft>
                <a:spcPts val="0"/>
              </a:spcAft>
              <a:buSzPts val="1520"/>
              <a:buChar char="?"/>
            </a:pPr>
            <a:r>
              <a:rPr b="1" lang="en-US" sz="2000"/>
              <a:t>BX (Base)</a:t>
            </a:r>
            <a:endParaRPr/>
          </a:p>
          <a:p>
            <a:pPr indent="-274320" lvl="1" marL="548640" rtl="0" algn="l">
              <a:lnSpc>
                <a:spcPct val="100000"/>
              </a:lnSpc>
              <a:spcBef>
                <a:spcPts val="500"/>
              </a:spcBef>
              <a:spcAft>
                <a:spcPts val="0"/>
              </a:spcAft>
              <a:buSzPts val="1520"/>
              <a:buChar char="?"/>
            </a:pPr>
            <a:r>
              <a:rPr lang="en-US" sz="2000">
                <a:solidFill>
                  <a:schemeClr val="dk1"/>
                </a:solidFill>
              </a:rPr>
              <a:t>The base address register (offset)</a:t>
            </a:r>
            <a:endParaRPr/>
          </a:p>
          <a:p>
            <a:pPr indent="-274320" lvl="0" marL="274320" rtl="0" algn="l">
              <a:lnSpc>
                <a:spcPct val="100000"/>
              </a:lnSpc>
              <a:spcBef>
                <a:spcPts val="600"/>
              </a:spcBef>
              <a:spcAft>
                <a:spcPts val="0"/>
              </a:spcAft>
              <a:buSzPts val="1520"/>
              <a:buChar char="?"/>
            </a:pPr>
            <a:r>
              <a:rPr b="1" lang="en-US" sz="2000"/>
              <a:t>CX (Counter)</a:t>
            </a:r>
            <a:endParaRPr/>
          </a:p>
          <a:p>
            <a:pPr indent="-274320" lvl="1" marL="548640" rtl="0" algn="l">
              <a:lnSpc>
                <a:spcPct val="100000"/>
              </a:lnSpc>
              <a:spcBef>
                <a:spcPts val="500"/>
              </a:spcBef>
              <a:spcAft>
                <a:spcPts val="0"/>
              </a:spcAft>
              <a:buSzPts val="1520"/>
              <a:buChar char="?"/>
            </a:pPr>
            <a:r>
              <a:rPr lang="en-US" sz="2000">
                <a:solidFill>
                  <a:schemeClr val="dk1"/>
                </a:solidFill>
              </a:rPr>
              <a:t>Counter for looping operations: loop counter, in REP instruction, and in the shift and rotate bits</a:t>
            </a:r>
            <a:endParaRPr/>
          </a:p>
          <a:p>
            <a:pPr indent="-274320" lvl="0" marL="274320" rtl="0" algn="l">
              <a:lnSpc>
                <a:spcPct val="100000"/>
              </a:lnSpc>
              <a:spcBef>
                <a:spcPts val="600"/>
              </a:spcBef>
              <a:spcAft>
                <a:spcPts val="0"/>
              </a:spcAft>
              <a:buSzPts val="1520"/>
              <a:buChar char="?"/>
            </a:pPr>
            <a:r>
              <a:rPr b="1" lang="en-US" sz="2000"/>
              <a:t>DX (Data)</a:t>
            </a:r>
            <a:endParaRPr/>
          </a:p>
          <a:p>
            <a:pPr indent="-274320" lvl="1" marL="548640" rtl="0" algn="l">
              <a:lnSpc>
                <a:spcPct val="100000"/>
              </a:lnSpc>
              <a:spcBef>
                <a:spcPts val="500"/>
              </a:spcBef>
              <a:spcAft>
                <a:spcPts val="0"/>
              </a:spcAft>
              <a:buSzPts val="1520"/>
              <a:buChar char="?"/>
            </a:pPr>
            <a:r>
              <a:rPr lang="en-US" sz="2000">
                <a:solidFill>
                  <a:schemeClr val="dk1"/>
                </a:solidFill>
              </a:rPr>
              <a:t>Used in multiply and divide, also used in I/O operations</a:t>
            </a:r>
            <a:endParaRPr/>
          </a:p>
          <a:p>
            <a:pPr indent="-148844" lvl="0" marL="274320" rtl="0" algn="l">
              <a:lnSpc>
                <a:spcPct val="100000"/>
              </a:lnSpc>
              <a:spcBef>
                <a:spcPts val="600"/>
              </a:spcBef>
              <a:spcAft>
                <a:spcPts val="0"/>
              </a:spcAft>
              <a:buSzPts val="1976"/>
              <a:buNone/>
            </a:pPr>
            <a:r>
              <a:t/>
            </a:r>
            <a:endParaRPr/>
          </a:p>
        </p:txBody>
      </p:sp>
      <p:sp>
        <p:nvSpPr>
          <p:cNvPr id="254" name="Google Shape;254;p17"/>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Pointer and Index Registers</a:t>
            </a:r>
            <a:endParaRPr/>
          </a:p>
        </p:txBody>
      </p:sp>
      <p:sp>
        <p:nvSpPr>
          <p:cNvPr id="260" name="Google Shape;260;p1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261" name="Google Shape;261;p18"/>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lnSpcReduction="10000"/>
          </a:bodyPr>
          <a:lstStyle/>
          <a:p>
            <a:pPr indent="-274320" lvl="0" marL="274320" rtl="0" algn="l">
              <a:lnSpc>
                <a:spcPct val="100000"/>
              </a:lnSpc>
              <a:spcBef>
                <a:spcPts val="0"/>
              </a:spcBef>
              <a:spcAft>
                <a:spcPts val="0"/>
              </a:spcAft>
              <a:buSzPts val="1824"/>
              <a:buChar char="?"/>
            </a:pPr>
            <a:r>
              <a:rPr b="1" lang="en-US" sz="2400">
                <a:latin typeface="Open Sans ExtraBold"/>
                <a:ea typeface="Open Sans ExtraBold"/>
                <a:cs typeface="Open Sans ExtraBold"/>
                <a:sym typeface="Open Sans ExtraBold"/>
              </a:rPr>
              <a:t>Used for offset of data, often used as pointers. Unlike segment registers, they can be used in arithmetic and other operations.</a:t>
            </a:r>
            <a:endParaRPr/>
          </a:p>
          <a:p>
            <a:pPr indent="-274320" lvl="0" marL="274320" rtl="0" algn="l">
              <a:lnSpc>
                <a:spcPct val="100000"/>
              </a:lnSpc>
              <a:spcBef>
                <a:spcPts val="600"/>
              </a:spcBef>
              <a:spcAft>
                <a:spcPts val="0"/>
              </a:spcAft>
              <a:buSzPts val="1900"/>
              <a:buChar char="?"/>
            </a:pPr>
            <a:r>
              <a:rPr b="1" lang="en-US" sz="2500">
                <a:latin typeface="Open Sans ExtraBold"/>
                <a:ea typeface="Open Sans ExtraBold"/>
                <a:cs typeface="Open Sans ExtraBold"/>
                <a:sym typeface="Open Sans ExtraBold"/>
              </a:rPr>
              <a:t>SP (Stack Pointer): </a:t>
            </a:r>
            <a:endParaRPr/>
          </a:p>
          <a:p>
            <a:pPr indent="-274319" lvl="1" marL="548640" rtl="0" algn="l">
              <a:lnSpc>
                <a:spcPct val="100000"/>
              </a:lnSpc>
              <a:spcBef>
                <a:spcPts val="500"/>
              </a:spcBef>
              <a:spcAft>
                <a:spcPts val="0"/>
              </a:spcAft>
              <a:buSzPts val="1824"/>
              <a:buChar char="?"/>
            </a:pPr>
            <a:r>
              <a:rPr lang="en-US" sz="2400">
                <a:solidFill>
                  <a:schemeClr val="dk1"/>
                </a:solidFill>
              </a:rPr>
              <a:t>Used with SS for accessing the stack segment.</a:t>
            </a:r>
            <a:endParaRPr/>
          </a:p>
          <a:p>
            <a:pPr indent="-274319" lvl="1" marL="548640" rtl="0" algn="l">
              <a:lnSpc>
                <a:spcPct val="100000"/>
              </a:lnSpc>
              <a:spcBef>
                <a:spcPts val="500"/>
              </a:spcBef>
              <a:spcAft>
                <a:spcPts val="0"/>
              </a:spcAft>
              <a:buSzPts val="1824"/>
              <a:buChar char="?"/>
            </a:pPr>
            <a:r>
              <a:rPr lang="en-US" sz="2400">
                <a:solidFill>
                  <a:schemeClr val="dk1"/>
                </a:solidFill>
              </a:rPr>
              <a:t>Holds </a:t>
            </a:r>
            <a:r>
              <a:rPr b="1" lang="en-US" sz="2400">
                <a:solidFill>
                  <a:schemeClr val="dk1"/>
                </a:solidFill>
              </a:rPr>
              <a:t>Offset</a:t>
            </a:r>
            <a:r>
              <a:rPr lang="en-US" sz="2400">
                <a:solidFill>
                  <a:schemeClr val="dk1"/>
                </a:solidFill>
              </a:rPr>
              <a:t> address relative to SS</a:t>
            </a:r>
            <a:endParaRPr/>
          </a:p>
          <a:p>
            <a:pPr indent="-274319" lvl="1" marL="548640" rtl="0" algn="l">
              <a:lnSpc>
                <a:spcPct val="100000"/>
              </a:lnSpc>
              <a:spcBef>
                <a:spcPts val="500"/>
              </a:spcBef>
              <a:spcAft>
                <a:spcPts val="0"/>
              </a:spcAft>
              <a:buSzPts val="1824"/>
              <a:buChar char="?"/>
            </a:pPr>
            <a:r>
              <a:rPr lang="en-US" sz="2400">
                <a:solidFill>
                  <a:schemeClr val="dk1"/>
                </a:solidFill>
              </a:rPr>
              <a:t>Always points to word (byte at even address)</a:t>
            </a:r>
            <a:endParaRPr/>
          </a:p>
          <a:p>
            <a:pPr indent="-274319" lvl="1" marL="548640" rtl="0" algn="l">
              <a:lnSpc>
                <a:spcPct val="100000"/>
              </a:lnSpc>
              <a:spcBef>
                <a:spcPts val="500"/>
              </a:spcBef>
              <a:spcAft>
                <a:spcPts val="0"/>
              </a:spcAft>
              <a:buSzPts val="1824"/>
              <a:buChar char="?"/>
            </a:pPr>
            <a:r>
              <a:rPr lang="en-US" sz="2400">
                <a:solidFill>
                  <a:schemeClr val="dk1"/>
                </a:solidFill>
              </a:rPr>
              <a:t>An empty stack will had SP = FFFEh</a:t>
            </a:r>
            <a:endParaRPr b="1" sz="2400">
              <a:solidFill>
                <a:schemeClr val="dk1"/>
              </a:solidFill>
              <a:latin typeface="Open Sans ExtraBold"/>
              <a:ea typeface="Open Sans ExtraBold"/>
              <a:cs typeface="Open Sans ExtraBold"/>
              <a:sym typeface="Open Sans ExtraBold"/>
            </a:endParaRPr>
          </a:p>
          <a:p>
            <a:pPr indent="-274320" lvl="0" marL="274320" rtl="0" algn="l">
              <a:lnSpc>
                <a:spcPct val="100000"/>
              </a:lnSpc>
              <a:spcBef>
                <a:spcPts val="600"/>
              </a:spcBef>
              <a:spcAft>
                <a:spcPts val="0"/>
              </a:spcAft>
              <a:buSzPts val="1900"/>
              <a:buChar char="?"/>
            </a:pPr>
            <a:r>
              <a:rPr b="1" lang="en-US" sz="2500">
                <a:latin typeface="Open Sans ExtraBold"/>
                <a:ea typeface="Open Sans ExtraBold"/>
                <a:cs typeface="Open Sans ExtraBold"/>
                <a:sym typeface="Open Sans ExtraBold"/>
              </a:rPr>
              <a:t>BP (Base Pointer): </a:t>
            </a:r>
            <a:endParaRPr/>
          </a:p>
          <a:p>
            <a:pPr indent="-274319" lvl="1" marL="548640" rtl="0" algn="l">
              <a:lnSpc>
                <a:spcPct val="100000"/>
              </a:lnSpc>
              <a:spcBef>
                <a:spcPts val="500"/>
              </a:spcBef>
              <a:spcAft>
                <a:spcPts val="0"/>
              </a:spcAft>
              <a:buSzPts val="1824"/>
              <a:buChar char="?"/>
            </a:pPr>
            <a:r>
              <a:rPr lang="en-US" sz="2400">
                <a:solidFill>
                  <a:schemeClr val="dk1"/>
                </a:solidFill>
              </a:rPr>
              <a:t>Used with SS to access data on the stack. However, unlike SP, BP can be used to access data in other segments.</a:t>
            </a:r>
            <a:endParaRPr/>
          </a:p>
          <a:p>
            <a:pPr indent="-274319" lvl="1" marL="548640" rtl="0" algn="l">
              <a:lnSpc>
                <a:spcPct val="100000"/>
              </a:lnSpc>
              <a:spcBef>
                <a:spcPts val="500"/>
              </a:spcBef>
              <a:spcAft>
                <a:spcPts val="0"/>
              </a:spcAft>
              <a:buSzPts val="1824"/>
              <a:buChar char="?"/>
            </a:pPr>
            <a:r>
              <a:rPr lang="en-US" sz="2400">
                <a:solidFill>
                  <a:schemeClr val="dk1"/>
                </a:solidFill>
              </a:rPr>
              <a:t>Primarily used to access parameters passed via the stack</a:t>
            </a:r>
            <a:endParaRPr/>
          </a:p>
          <a:p>
            <a:pPr indent="-274319" lvl="1" marL="548640" rtl="0" algn="l">
              <a:lnSpc>
                <a:spcPct val="100000"/>
              </a:lnSpc>
              <a:spcBef>
                <a:spcPts val="500"/>
              </a:spcBef>
              <a:spcAft>
                <a:spcPts val="0"/>
              </a:spcAft>
              <a:buSzPts val="1824"/>
              <a:buChar char="?"/>
            </a:pPr>
            <a:r>
              <a:rPr lang="en-US" sz="2400">
                <a:solidFill>
                  <a:schemeClr val="dk1"/>
                </a:solidFill>
              </a:rPr>
              <a:t>Holds </a:t>
            </a:r>
            <a:r>
              <a:rPr b="1" lang="en-US" sz="2400">
                <a:solidFill>
                  <a:schemeClr val="dk1"/>
                </a:solidFill>
              </a:rPr>
              <a:t>Offset</a:t>
            </a:r>
            <a:r>
              <a:rPr lang="en-US" sz="2400">
                <a:solidFill>
                  <a:schemeClr val="dk1"/>
                </a:solidFill>
              </a:rPr>
              <a:t> address relative to SS</a:t>
            </a:r>
            <a:endParaRPr b="1" sz="2400">
              <a:solidFill>
                <a:schemeClr val="dk1"/>
              </a:solidFill>
              <a:latin typeface="Open Sans ExtraBold"/>
              <a:ea typeface="Open Sans ExtraBold"/>
              <a:cs typeface="Open Sans ExtraBold"/>
              <a:sym typeface="Open Sans ExtraBold"/>
            </a:endParaRPr>
          </a:p>
          <a:p>
            <a:pPr indent="-158496" lvl="0" marL="274320" rtl="0" algn="l">
              <a:lnSpc>
                <a:spcPct val="100000"/>
              </a:lnSpc>
              <a:spcBef>
                <a:spcPts val="600"/>
              </a:spcBef>
              <a:spcAft>
                <a:spcPts val="0"/>
              </a:spcAft>
              <a:buSzPts val="1824"/>
              <a:buNone/>
            </a:pPr>
            <a:r>
              <a:t/>
            </a:r>
            <a:endParaRPr sz="2400"/>
          </a:p>
          <a:p>
            <a:pPr indent="-148844" lvl="0" marL="274320" rtl="0" algn="l">
              <a:lnSpc>
                <a:spcPct val="100000"/>
              </a:lnSpc>
              <a:spcBef>
                <a:spcPts val="600"/>
              </a:spcBef>
              <a:spcAft>
                <a:spcPts val="0"/>
              </a:spcAft>
              <a:buSzPts val="1976"/>
              <a:buNone/>
            </a:pPr>
            <a:r>
              <a:t/>
            </a:r>
            <a:endParaRPr/>
          </a:p>
        </p:txBody>
      </p:sp>
      <p:sp>
        <p:nvSpPr>
          <p:cNvPr id="262" name="Google Shape;262;p18"/>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Pointer and Index Registers</a:t>
            </a:r>
            <a:endParaRPr/>
          </a:p>
        </p:txBody>
      </p:sp>
      <p:sp>
        <p:nvSpPr>
          <p:cNvPr id="268" name="Google Shape;268;p1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269" name="Google Shape;269;p19"/>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fontScale="92500" lnSpcReduction="20000"/>
          </a:bodyPr>
          <a:lstStyle/>
          <a:p>
            <a:pPr indent="-274344" lvl="0" marL="274320" rtl="0" algn="l">
              <a:lnSpc>
                <a:spcPct val="100000"/>
              </a:lnSpc>
              <a:spcBef>
                <a:spcPts val="0"/>
              </a:spcBef>
              <a:spcAft>
                <a:spcPts val="0"/>
              </a:spcAft>
              <a:buSzPct val="76000"/>
              <a:buChar char="?"/>
            </a:pPr>
            <a:r>
              <a:rPr b="1" lang="en-US" sz="2500">
                <a:latin typeface="Open Sans ExtraBold"/>
                <a:ea typeface="Open Sans ExtraBold"/>
                <a:cs typeface="Open Sans ExtraBold"/>
                <a:sym typeface="Open Sans ExtraBold"/>
              </a:rPr>
              <a:t>SI (Source Index): </a:t>
            </a:r>
            <a:endParaRPr/>
          </a:p>
          <a:p>
            <a:pPr indent="-274320" lvl="1" marL="548640" rtl="0" algn="l">
              <a:lnSpc>
                <a:spcPct val="100000"/>
              </a:lnSpc>
              <a:spcBef>
                <a:spcPts val="500"/>
              </a:spcBef>
              <a:spcAft>
                <a:spcPts val="0"/>
              </a:spcAft>
              <a:buSzPct val="76000"/>
              <a:buChar char="?"/>
            </a:pPr>
            <a:r>
              <a:rPr lang="en-US" sz="2400">
                <a:solidFill>
                  <a:schemeClr val="dk1"/>
                </a:solidFill>
              </a:rPr>
              <a:t>Source of string operations. Used with DS (or ES).</a:t>
            </a:r>
            <a:endParaRPr/>
          </a:p>
          <a:p>
            <a:pPr indent="-274320" lvl="1" marL="548640" rtl="0" algn="l">
              <a:lnSpc>
                <a:spcPct val="100000"/>
              </a:lnSpc>
              <a:spcBef>
                <a:spcPts val="500"/>
              </a:spcBef>
              <a:spcAft>
                <a:spcPts val="0"/>
              </a:spcAft>
              <a:buSzPct val="76000"/>
              <a:buChar char="?"/>
            </a:pPr>
            <a:r>
              <a:rPr lang="en-US" sz="2400">
                <a:solidFill>
                  <a:schemeClr val="dk1"/>
                </a:solidFill>
              </a:rPr>
              <a:t>Can be used for pointer addressing of data with effective address (EA)</a:t>
            </a:r>
            <a:endParaRPr/>
          </a:p>
          <a:p>
            <a:pPr indent="-274320" lvl="1" marL="548640" rtl="0" algn="l">
              <a:lnSpc>
                <a:spcPct val="100000"/>
              </a:lnSpc>
              <a:spcBef>
                <a:spcPts val="500"/>
              </a:spcBef>
              <a:spcAft>
                <a:spcPts val="0"/>
              </a:spcAft>
              <a:buSzPct val="76000"/>
              <a:buChar char="?"/>
            </a:pPr>
            <a:r>
              <a:rPr lang="en-US" sz="2400">
                <a:solidFill>
                  <a:schemeClr val="dk1"/>
                </a:solidFill>
              </a:rPr>
              <a:t>Used as source in some string processing instructions</a:t>
            </a:r>
            <a:endParaRPr/>
          </a:p>
          <a:p>
            <a:pPr indent="-274320" lvl="1" marL="548640" rtl="0" algn="l">
              <a:lnSpc>
                <a:spcPct val="100000"/>
              </a:lnSpc>
              <a:spcBef>
                <a:spcPts val="500"/>
              </a:spcBef>
              <a:spcAft>
                <a:spcPts val="0"/>
              </a:spcAft>
              <a:buSzPct val="76000"/>
              <a:buChar char="?"/>
            </a:pPr>
            <a:r>
              <a:rPr lang="en-US" sz="2400">
                <a:solidFill>
                  <a:schemeClr val="dk1"/>
                </a:solidFill>
              </a:rPr>
              <a:t>Offset address relative to DS</a:t>
            </a:r>
            <a:endParaRPr/>
          </a:p>
          <a:p>
            <a:pPr indent="-274344" lvl="0" marL="274320" rtl="0" algn="l">
              <a:lnSpc>
                <a:spcPct val="100000"/>
              </a:lnSpc>
              <a:spcBef>
                <a:spcPts val="600"/>
              </a:spcBef>
              <a:spcAft>
                <a:spcPts val="0"/>
              </a:spcAft>
              <a:buSzPct val="76000"/>
              <a:buChar char="?"/>
            </a:pPr>
            <a:r>
              <a:rPr b="1" lang="en-US" sz="2500">
                <a:latin typeface="Open Sans ExtraBold"/>
                <a:ea typeface="Open Sans ExtraBold"/>
                <a:cs typeface="Open Sans ExtraBold"/>
                <a:sym typeface="Open Sans ExtraBold"/>
              </a:rPr>
              <a:t>DI (Destination Index): </a:t>
            </a:r>
            <a:endParaRPr/>
          </a:p>
          <a:p>
            <a:pPr indent="-274320" lvl="1" marL="548640" rtl="0" algn="l">
              <a:lnSpc>
                <a:spcPct val="100000"/>
              </a:lnSpc>
              <a:spcBef>
                <a:spcPts val="500"/>
              </a:spcBef>
              <a:spcAft>
                <a:spcPts val="0"/>
              </a:spcAft>
              <a:buSzPct val="76000"/>
              <a:buChar char="?"/>
            </a:pPr>
            <a:r>
              <a:rPr lang="en-US" sz="2400">
                <a:solidFill>
                  <a:schemeClr val="dk1"/>
                </a:solidFill>
              </a:rPr>
              <a:t>Destination of string operation. Used with ES (or DS).</a:t>
            </a:r>
            <a:endParaRPr/>
          </a:p>
          <a:p>
            <a:pPr indent="-274320" lvl="1" marL="548640" rtl="0" algn="l">
              <a:lnSpc>
                <a:spcPct val="100000"/>
              </a:lnSpc>
              <a:spcBef>
                <a:spcPts val="500"/>
              </a:spcBef>
              <a:spcAft>
                <a:spcPts val="0"/>
              </a:spcAft>
              <a:buSzPct val="76000"/>
              <a:buChar char="?"/>
            </a:pPr>
            <a:r>
              <a:rPr lang="en-US" sz="2400">
                <a:solidFill>
                  <a:schemeClr val="dk1"/>
                </a:solidFill>
              </a:rPr>
              <a:t>Can be used for pointer addressing of data</a:t>
            </a:r>
            <a:endParaRPr/>
          </a:p>
          <a:p>
            <a:pPr indent="-274320" lvl="1" marL="548640" rtl="0" algn="l">
              <a:lnSpc>
                <a:spcPct val="100000"/>
              </a:lnSpc>
              <a:spcBef>
                <a:spcPts val="500"/>
              </a:spcBef>
              <a:spcAft>
                <a:spcPts val="0"/>
              </a:spcAft>
              <a:buSzPct val="76000"/>
              <a:buChar char="?"/>
            </a:pPr>
            <a:r>
              <a:rPr lang="en-US" sz="2400">
                <a:solidFill>
                  <a:schemeClr val="dk1"/>
                </a:solidFill>
              </a:rPr>
              <a:t>Used as destination in some string processing instructions</a:t>
            </a:r>
            <a:endParaRPr/>
          </a:p>
          <a:p>
            <a:pPr indent="-274320" lvl="1" marL="548640" rtl="0" algn="l">
              <a:lnSpc>
                <a:spcPct val="100000"/>
              </a:lnSpc>
              <a:spcBef>
                <a:spcPts val="500"/>
              </a:spcBef>
              <a:spcAft>
                <a:spcPts val="0"/>
              </a:spcAft>
              <a:buSzPct val="76000"/>
              <a:buChar char="?"/>
            </a:pPr>
            <a:r>
              <a:rPr lang="en-US" sz="2400">
                <a:solidFill>
                  <a:schemeClr val="dk1"/>
                </a:solidFill>
              </a:rPr>
              <a:t>Offset address relative to ES</a:t>
            </a:r>
            <a:endParaRPr b="1" sz="2400">
              <a:solidFill>
                <a:schemeClr val="dk1"/>
              </a:solidFill>
              <a:latin typeface="Open Sans ExtraBold"/>
              <a:ea typeface="Open Sans ExtraBold"/>
              <a:cs typeface="Open Sans ExtraBold"/>
              <a:sym typeface="Open Sans ExtraBold"/>
            </a:endParaRPr>
          </a:p>
          <a:p>
            <a:pPr indent="-274344" lvl="0" marL="274320" rtl="0" algn="l">
              <a:lnSpc>
                <a:spcPct val="100000"/>
              </a:lnSpc>
              <a:spcBef>
                <a:spcPts val="600"/>
              </a:spcBef>
              <a:spcAft>
                <a:spcPts val="0"/>
              </a:spcAft>
              <a:buSzPct val="76000"/>
              <a:buChar char="?"/>
            </a:pPr>
            <a:r>
              <a:rPr b="1" lang="en-US" sz="2500">
                <a:latin typeface="Open Sans"/>
                <a:ea typeface="Open Sans"/>
                <a:cs typeface="Open Sans"/>
                <a:sym typeface="Open Sans"/>
              </a:rPr>
              <a:t>IP (Instruction pointer):</a:t>
            </a:r>
            <a:r>
              <a:rPr lang="en-US" sz="2500"/>
              <a:t>  </a:t>
            </a:r>
            <a:endParaRPr/>
          </a:p>
          <a:p>
            <a:pPr indent="-274320" lvl="1" marL="548640" rtl="0" algn="l">
              <a:lnSpc>
                <a:spcPct val="100000"/>
              </a:lnSpc>
              <a:spcBef>
                <a:spcPts val="500"/>
              </a:spcBef>
              <a:spcAft>
                <a:spcPts val="0"/>
              </a:spcAft>
              <a:buSzPct val="76000"/>
              <a:buChar char="?"/>
            </a:pPr>
            <a:r>
              <a:rPr lang="en-US" sz="2400">
                <a:solidFill>
                  <a:schemeClr val="dk1"/>
                </a:solidFill>
              </a:rPr>
              <a:t>Points to the next instruction.  </a:t>
            </a:r>
            <a:endParaRPr/>
          </a:p>
          <a:p>
            <a:pPr indent="-274320" lvl="1" marL="548640" rtl="0" algn="l">
              <a:lnSpc>
                <a:spcPct val="100000"/>
              </a:lnSpc>
              <a:spcBef>
                <a:spcPts val="500"/>
              </a:spcBef>
              <a:spcAft>
                <a:spcPts val="0"/>
              </a:spcAft>
              <a:buSzPct val="76000"/>
              <a:buChar char="?"/>
            </a:pPr>
            <a:r>
              <a:rPr lang="en-US" sz="2400">
                <a:solidFill>
                  <a:schemeClr val="dk1"/>
                </a:solidFill>
              </a:rPr>
              <a:t>Offset address relative to CS</a:t>
            </a:r>
            <a:endParaRPr/>
          </a:p>
          <a:p>
            <a:pPr indent="-158254" lvl="0" marL="274320" rtl="0" algn="l">
              <a:lnSpc>
                <a:spcPct val="100000"/>
              </a:lnSpc>
              <a:spcBef>
                <a:spcPts val="600"/>
              </a:spcBef>
              <a:spcAft>
                <a:spcPts val="0"/>
              </a:spcAft>
              <a:buSzPct val="76000"/>
              <a:buNone/>
            </a:pPr>
            <a:r>
              <a:t/>
            </a:r>
            <a:endParaRPr/>
          </a:p>
        </p:txBody>
      </p:sp>
      <p:sp>
        <p:nvSpPr>
          <p:cNvPr id="270" name="Google Shape;270;p19"/>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Memory Segmentation</a:t>
            </a:r>
            <a:endParaRPr/>
          </a:p>
        </p:txBody>
      </p:sp>
      <p:sp>
        <p:nvSpPr>
          <p:cNvPr id="276" name="Google Shape;276;p2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277" name="Google Shape;277;p20"/>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
        <p:nvSpPr>
          <p:cNvPr id="278" name="Google Shape;278;p20"/>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976"/>
              <a:buChar char="?"/>
            </a:pPr>
            <a:r>
              <a:rPr b="1" lang="en-US"/>
              <a:t>Rules of the Segmentation: </a:t>
            </a:r>
            <a:r>
              <a:rPr lang="en-US"/>
              <a:t>Segmentation process follows some rules:</a:t>
            </a:r>
            <a:endParaRPr/>
          </a:p>
          <a:p>
            <a:pPr indent="-274320" lvl="0" marL="274320" rtl="0" algn="l">
              <a:lnSpc>
                <a:spcPct val="100000"/>
              </a:lnSpc>
              <a:spcBef>
                <a:spcPts val="600"/>
              </a:spcBef>
              <a:spcAft>
                <a:spcPts val="0"/>
              </a:spcAft>
              <a:buSzPts val="1976"/>
              <a:buChar char="?"/>
            </a:pPr>
            <a:r>
              <a:rPr lang="en-US"/>
              <a:t>The starting address of a segment should be such that it can be evenly divided by 16.</a:t>
            </a:r>
            <a:endParaRPr/>
          </a:p>
          <a:p>
            <a:pPr indent="-274320" lvl="0" marL="274320" rtl="0" algn="l">
              <a:lnSpc>
                <a:spcPct val="100000"/>
              </a:lnSpc>
              <a:spcBef>
                <a:spcPts val="600"/>
              </a:spcBef>
              <a:spcAft>
                <a:spcPts val="0"/>
              </a:spcAft>
              <a:buSzPts val="1976"/>
              <a:buChar char="?"/>
            </a:pPr>
            <a:r>
              <a:rPr lang="en-US"/>
              <a:t>Minimum size of a segment can be 16 bytes and the maximum can be 64 kB.</a:t>
            </a:r>
            <a:endParaRPr/>
          </a:p>
          <a:p>
            <a:pPr indent="-148844" lvl="0" marL="274320" rtl="0" algn="l">
              <a:lnSpc>
                <a:spcPct val="100000"/>
              </a:lnSpc>
              <a:spcBef>
                <a:spcPts val="600"/>
              </a:spcBef>
              <a:spcAft>
                <a:spcPts val="0"/>
              </a:spcAft>
              <a:buSzPts val="1976"/>
              <a:buNone/>
            </a:pPr>
            <a:r>
              <a:t/>
            </a:r>
            <a:endParaRPr/>
          </a:p>
        </p:txBody>
      </p:sp>
      <p:pic>
        <p:nvPicPr>
          <p:cNvPr id="279" name="Google Shape;279;p20"/>
          <p:cNvPicPr preferRelativeResize="0"/>
          <p:nvPr/>
        </p:nvPicPr>
        <p:blipFill rotWithShape="1">
          <a:blip r:embed="rId3">
            <a:alphaModFix/>
          </a:blip>
          <a:srcRect b="0" l="0" r="0" t="0"/>
          <a:stretch/>
        </p:blipFill>
        <p:spPr>
          <a:xfrm>
            <a:off x="838200" y="3962400"/>
            <a:ext cx="7480301" cy="219456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Memory Segmentation</a:t>
            </a:r>
            <a:endParaRPr/>
          </a:p>
        </p:txBody>
      </p:sp>
      <p:sp>
        <p:nvSpPr>
          <p:cNvPr id="285" name="Google Shape;285;p21"/>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286" name="Google Shape;286;p21"/>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
        <p:nvSpPr>
          <p:cNvPr id="287" name="Google Shape;287;p21"/>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lnSpc>
                <a:spcPct val="100000"/>
              </a:lnSpc>
              <a:spcBef>
                <a:spcPts val="0"/>
              </a:spcBef>
              <a:spcAft>
                <a:spcPts val="0"/>
              </a:spcAft>
              <a:buSzPct val="76000"/>
              <a:buChar char="?"/>
            </a:pPr>
            <a:r>
              <a:rPr b="1" lang="en-US"/>
              <a:t>Advantages of the Segmentation</a:t>
            </a:r>
            <a:r>
              <a:rPr lang="en-US"/>
              <a:t> The main advantages of segmentation are as follows:</a:t>
            </a:r>
            <a:endParaRPr/>
          </a:p>
          <a:p>
            <a:pPr indent="-274368" lvl="1" marL="548640" rtl="0" algn="l">
              <a:lnSpc>
                <a:spcPct val="100000"/>
              </a:lnSpc>
              <a:spcBef>
                <a:spcPts val="500"/>
              </a:spcBef>
              <a:spcAft>
                <a:spcPts val="0"/>
              </a:spcAft>
              <a:buSzPct val="76000"/>
              <a:buChar char="?"/>
            </a:pPr>
            <a:r>
              <a:rPr lang="en-US"/>
              <a:t>It provides a powerful memory management mechanism.</a:t>
            </a:r>
            <a:endParaRPr/>
          </a:p>
          <a:p>
            <a:pPr indent="-274368" lvl="1" marL="548640" rtl="0" algn="l">
              <a:lnSpc>
                <a:spcPct val="100000"/>
              </a:lnSpc>
              <a:spcBef>
                <a:spcPts val="500"/>
              </a:spcBef>
              <a:spcAft>
                <a:spcPts val="0"/>
              </a:spcAft>
              <a:buSzPct val="76000"/>
              <a:buChar char="?"/>
            </a:pPr>
            <a:r>
              <a:rPr lang="en-US"/>
              <a:t>Data related or stack related operations can be performed in different segments.</a:t>
            </a:r>
            <a:endParaRPr/>
          </a:p>
          <a:p>
            <a:pPr indent="-274368" lvl="1" marL="548640" rtl="0" algn="l">
              <a:lnSpc>
                <a:spcPct val="100000"/>
              </a:lnSpc>
              <a:spcBef>
                <a:spcPts val="500"/>
              </a:spcBef>
              <a:spcAft>
                <a:spcPts val="0"/>
              </a:spcAft>
              <a:buSzPct val="76000"/>
              <a:buChar char="?"/>
            </a:pPr>
            <a:r>
              <a:rPr lang="en-US"/>
              <a:t>Code related operation can be done in separate code segments.</a:t>
            </a:r>
            <a:endParaRPr/>
          </a:p>
          <a:p>
            <a:pPr indent="-274368" lvl="1" marL="548640" rtl="0" algn="l">
              <a:lnSpc>
                <a:spcPct val="100000"/>
              </a:lnSpc>
              <a:spcBef>
                <a:spcPts val="500"/>
              </a:spcBef>
              <a:spcAft>
                <a:spcPts val="0"/>
              </a:spcAft>
              <a:buSzPct val="76000"/>
              <a:buChar char="?"/>
            </a:pPr>
            <a:r>
              <a:rPr lang="en-US"/>
              <a:t>It allows to processes to easily share data.</a:t>
            </a:r>
            <a:endParaRPr/>
          </a:p>
          <a:p>
            <a:pPr indent="-274368" lvl="1" marL="548640" rtl="0" algn="l">
              <a:lnSpc>
                <a:spcPct val="100000"/>
              </a:lnSpc>
              <a:spcBef>
                <a:spcPts val="500"/>
              </a:spcBef>
              <a:spcAft>
                <a:spcPts val="0"/>
              </a:spcAft>
              <a:buSzPct val="76000"/>
              <a:buChar char="?"/>
            </a:pPr>
            <a:r>
              <a:rPr lang="en-US"/>
              <a:t>It allows to extend the address ability of the processor, i.e. segmentation allows the use of 16 bit registers to give an addressing capability of 1 Megabytes. Without segmentation, it would require 20 bit registers.</a:t>
            </a:r>
            <a:endParaRPr/>
          </a:p>
          <a:p>
            <a:pPr indent="-274368" lvl="1" marL="548640" rtl="0" algn="l">
              <a:lnSpc>
                <a:spcPct val="100000"/>
              </a:lnSpc>
              <a:spcBef>
                <a:spcPts val="500"/>
              </a:spcBef>
              <a:spcAft>
                <a:spcPts val="0"/>
              </a:spcAft>
              <a:buSzPct val="76000"/>
              <a:buChar char="?"/>
            </a:pPr>
            <a:r>
              <a:rPr lang="en-US"/>
              <a:t>It is possible to enhance the memory size of code, data or stack segments beyond 64 KB by allotting more than one segment for each area.</a:t>
            </a:r>
            <a:endParaRPr/>
          </a:p>
          <a:p>
            <a:pPr indent="-158254" lvl="0" marL="274320" rtl="0" algn="l">
              <a:lnSpc>
                <a:spcPct val="100000"/>
              </a:lnSpc>
              <a:spcBef>
                <a:spcPts val="600"/>
              </a:spcBef>
              <a:spcAft>
                <a:spcPts val="0"/>
              </a:spcAft>
              <a:buSzPct val="760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Task</a:t>
            </a:r>
            <a:endParaRPr/>
          </a:p>
        </p:txBody>
      </p:sp>
      <p:sp>
        <p:nvSpPr>
          <p:cNvPr id="293" name="Google Shape;293;p2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294" name="Google Shape;294;p2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976"/>
              <a:buChar char="?"/>
            </a:pPr>
            <a:r>
              <a:rPr lang="en-US"/>
              <a:t>Q1. Suppose, segment no = 1111 H, offset = 1332 H,</a:t>
            </a:r>
            <a:endParaRPr/>
          </a:p>
          <a:p>
            <a:pPr indent="0" lvl="0" marL="0" rtl="0" algn="l">
              <a:lnSpc>
                <a:spcPct val="100000"/>
              </a:lnSpc>
              <a:spcBef>
                <a:spcPts val="600"/>
              </a:spcBef>
              <a:spcAft>
                <a:spcPts val="0"/>
              </a:spcAft>
              <a:buSzPts val="1976"/>
              <a:buNone/>
            </a:pPr>
            <a:r>
              <a:rPr lang="en-US"/>
              <a:t>calculate the physical address?</a:t>
            </a:r>
            <a:endParaRPr/>
          </a:p>
          <a:p>
            <a:pPr indent="0" lvl="0" marL="0" rtl="0" algn="l">
              <a:lnSpc>
                <a:spcPct val="100000"/>
              </a:lnSpc>
              <a:spcBef>
                <a:spcPts val="600"/>
              </a:spcBef>
              <a:spcAft>
                <a:spcPts val="0"/>
              </a:spcAft>
              <a:buSzPts val="1976"/>
              <a:buNone/>
            </a:pPr>
            <a:r>
              <a:t/>
            </a:r>
            <a:endParaRPr/>
          </a:p>
          <a:p>
            <a:pPr indent="0" lvl="0" marL="0" rtl="0" algn="l">
              <a:lnSpc>
                <a:spcPct val="100000"/>
              </a:lnSpc>
              <a:spcBef>
                <a:spcPts val="600"/>
              </a:spcBef>
              <a:spcAft>
                <a:spcPts val="0"/>
              </a:spcAft>
              <a:buSzPts val="1976"/>
              <a:buNone/>
            </a:pPr>
            <a:r>
              <a:rPr lang="en-US"/>
              <a:t>Q2. Suppose, physical address = 33330, offset = 0020, calculate the segment no?</a:t>
            </a:r>
            <a:endParaRPr/>
          </a:p>
        </p:txBody>
      </p:sp>
      <p:sp>
        <p:nvSpPr>
          <p:cNvPr id="295" name="Google Shape;295;p22"/>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Gill Sans"/>
                <a:ea typeface="Gill Sans"/>
                <a:cs typeface="Gill Sans"/>
                <a:sym typeface="Gill Sans"/>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3"/>
          <p:cNvSpPr txBox="1"/>
          <p:nvPr>
            <p:ph type="title"/>
          </p:nvPr>
        </p:nvSpPr>
        <p:spPr>
          <a:xfrm>
            <a:off x="2133600" y="2697480"/>
            <a:ext cx="5483352"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lang="en-US">
                <a:solidFill>
                  <a:schemeClr val="dk1"/>
                </a:solidFill>
              </a:rPr>
              <a:t>Thank You !!</a:t>
            </a:r>
            <a:endParaRPr/>
          </a:p>
        </p:txBody>
      </p:sp>
      <p:sp>
        <p:nvSpPr>
          <p:cNvPr id="301" name="Google Shape;301;p2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302" name="Google Shape;302;p2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148844" lvl="0" marL="274320" rtl="0" algn="l">
              <a:lnSpc>
                <a:spcPct val="100000"/>
              </a:lnSpc>
              <a:spcBef>
                <a:spcPts val="0"/>
              </a:spcBef>
              <a:spcAft>
                <a:spcPts val="0"/>
              </a:spcAft>
              <a:buSzPts val="1976"/>
              <a:buNone/>
            </a:pPr>
            <a:r>
              <a:t/>
            </a:r>
            <a:endParaRPr/>
          </a:p>
          <a:p>
            <a:pPr indent="-148844" lvl="0" marL="274320" rtl="0" algn="l">
              <a:lnSpc>
                <a:spcPct val="100000"/>
              </a:lnSpc>
              <a:spcBef>
                <a:spcPts val="600"/>
              </a:spcBef>
              <a:spcAft>
                <a:spcPts val="0"/>
              </a:spcAft>
              <a:buSzPts val="1976"/>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rigin">
  <a:themeElements>
    <a:clrScheme name="Origin">
      <a:dk1>
        <a:srgbClr val="000000"/>
      </a:dk1>
      <a:lt1>
        <a:srgbClr val="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Rupam</dc:creator>
</cp:coreProperties>
</file>