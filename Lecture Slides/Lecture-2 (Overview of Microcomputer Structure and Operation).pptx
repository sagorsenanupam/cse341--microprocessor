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315200" cy="9601200"/>
  <p:embeddedFontLs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jFh9Qdg7n6pHMpekh1vVIboy3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illSans-bold.fntdata"/><Relationship Id="rId23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19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19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9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9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18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1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en.wikipedia.org/wiki/File:Pentiumd.JPG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/>
        </p:nvSpPr>
        <p:spPr>
          <a:xfrm>
            <a:off x="0" y="1371600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Overview of Microcomputer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Structure and Operation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>
            <p:ph idx="1" type="subTitle"/>
          </p:nvPr>
        </p:nvSpPr>
        <p:spPr>
          <a:xfrm>
            <a:off x="1219200" y="49720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1447800" y="525780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ID:</a:t>
            </a:r>
            <a:r>
              <a:rPr b="0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CSE - 341</a:t>
            </a:r>
            <a:endParaRPr b="0" i="0" sz="1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Title: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Microprocessors</a:t>
            </a:r>
            <a:endParaRPr b="0" i="0" sz="1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1143000" y="3352800"/>
            <a:ext cx="685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Department of Computer Science &amp; Engineering</a:t>
            </a:r>
            <a:b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BRAC University.</a:t>
            </a:r>
            <a:endParaRPr b="0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 University Jobs 2020- Jobs in BRAC University- careerz360.com" id="42" name="Google Shape;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Block Diagram of a Microcomputer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"/>
          <p:cNvSpPr txBox="1"/>
          <p:nvPr>
            <p:ph idx="1" type="body"/>
          </p:nvPr>
        </p:nvSpPr>
        <p:spPr>
          <a:xfrm>
            <a:off x="457200" y="12192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Components of Microcomputer:</a:t>
            </a:r>
            <a:endParaRPr/>
          </a:p>
          <a:p>
            <a:pPr indent="-609600" lvl="1" marL="8839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(Microprocessor)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1" marL="8839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(RAM, ROM etc.)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1" marL="8839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1" marL="8839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Buses:	</a:t>
            </a:r>
            <a:endParaRPr/>
          </a:p>
          <a:p>
            <a:pPr indent="-342900" lvl="2" marL="10744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Font typeface="Noto Sans Symbols"/>
              <a:buChar char="▪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Address bus</a:t>
            </a:r>
            <a:endParaRPr/>
          </a:p>
          <a:p>
            <a:pPr indent="-342900" lvl="2" marL="10744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Font typeface="Noto Sans Symbols"/>
              <a:buChar char="▪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Data bus</a:t>
            </a:r>
            <a:endParaRPr/>
          </a:p>
          <a:p>
            <a:pPr indent="-342900" lvl="2" marL="10744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Font typeface="Noto Sans Symbols"/>
              <a:buChar char="▪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Control bus</a:t>
            </a:r>
            <a:endParaRPr/>
          </a:p>
          <a:p>
            <a:pPr indent="-214718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022475" y="4283075"/>
            <a:ext cx="1030288" cy="82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71888" y="4283075"/>
            <a:ext cx="1028700" cy="82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319713" y="4283075"/>
            <a:ext cx="1647825" cy="82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I/O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588250" y="4283075"/>
            <a:ext cx="1319213" cy="82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I/O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2"/>
          <p:cNvCxnSpPr/>
          <p:nvPr/>
        </p:nvCxnSpPr>
        <p:spPr>
          <a:xfrm>
            <a:off x="2435225" y="3871912"/>
            <a:ext cx="0" cy="4111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" name="Google Shape;55;p2"/>
          <p:cNvCxnSpPr/>
          <p:nvPr/>
        </p:nvCxnSpPr>
        <p:spPr>
          <a:xfrm>
            <a:off x="1403350" y="3871912"/>
            <a:ext cx="494823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2"/>
          <p:cNvCxnSpPr/>
          <p:nvPr/>
        </p:nvCxnSpPr>
        <p:spPr>
          <a:xfrm>
            <a:off x="4289425" y="3871912"/>
            <a:ext cx="0" cy="4111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" name="Google Shape;57;p2"/>
          <p:cNvCxnSpPr/>
          <p:nvPr/>
        </p:nvCxnSpPr>
        <p:spPr>
          <a:xfrm rot="10800000">
            <a:off x="6351588" y="5108575"/>
            <a:ext cx="0" cy="4127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8" name="Google Shape;58;p2"/>
          <p:cNvCxnSpPr/>
          <p:nvPr/>
        </p:nvCxnSpPr>
        <p:spPr>
          <a:xfrm>
            <a:off x="2435225" y="5108575"/>
            <a:ext cx="0" cy="4127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" name="Google Shape;59;p2"/>
          <p:cNvCxnSpPr/>
          <p:nvPr/>
        </p:nvCxnSpPr>
        <p:spPr>
          <a:xfrm rot="10800000">
            <a:off x="4083050" y="5108575"/>
            <a:ext cx="0" cy="4127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" name="Google Shape;60;p2"/>
          <p:cNvCxnSpPr/>
          <p:nvPr/>
        </p:nvCxnSpPr>
        <p:spPr>
          <a:xfrm rot="10800000">
            <a:off x="1403350" y="5521325"/>
            <a:ext cx="494823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" name="Google Shape;61;p2"/>
          <p:cNvSpPr/>
          <p:nvPr/>
        </p:nvSpPr>
        <p:spPr>
          <a:xfrm>
            <a:off x="373063" y="3665537"/>
            <a:ext cx="1027112" cy="2679700"/>
          </a:xfrm>
          <a:prstGeom prst="flowChartProcess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2"/>
          <p:cNvCxnSpPr/>
          <p:nvPr/>
        </p:nvCxnSpPr>
        <p:spPr>
          <a:xfrm rot="10800000">
            <a:off x="1403350" y="6138862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" name="Google Shape;63;p2"/>
          <p:cNvCxnSpPr/>
          <p:nvPr/>
        </p:nvCxnSpPr>
        <p:spPr>
          <a:xfrm rot="10800000">
            <a:off x="6762750" y="5108575"/>
            <a:ext cx="0" cy="10302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" name="Google Shape;64;p2"/>
          <p:cNvCxnSpPr/>
          <p:nvPr/>
        </p:nvCxnSpPr>
        <p:spPr>
          <a:xfrm>
            <a:off x="6969125" y="4695825"/>
            <a:ext cx="6191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" name="Google Shape;65;p2"/>
          <p:cNvCxnSpPr/>
          <p:nvPr/>
        </p:nvCxnSpPr>
        <p:spPr>
          <a:xfrm>
            <a:off x="6351588" y="3871912"/>
            <a:ext cx="0" cy="4111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2"/>
          <p:cNvSpPr txBox="1"/>
          <p:nvPr/>
        </p:nvSpPr>
        <p:spPr>
          <a:xfrm>
            <a:off x="4643438" y="3505200"/>
            <a:ext cx="15128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572000" y="5521325"/>
            <a:ext cx="151288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804025" y="5521325"/>
            <a:ext cx="100806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Control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CPU - Central Processing Unit</a:t>
            </a:r>
            <a:endParaRPr/>
          </a:p>
        </p:txBody>
      </p:sp>
      <p:sp>
        <p:nvSpPr>
          <p:cNvPr id="76" name="Google Shape;76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457200" y="1219200"/>
            <a:ext cx="8229600" cy="5134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FETCH :</a:t>
            </a:r>
            <a:r>
              <a:rPr lang="en-US"/>
              <a:t> </a:t>
            </a:r>
            <a:r>
              <a:rPr lang="en-US" sz="2400"/>
              <a:t>Take in binary-coded instructions from memory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DECODE : </a:t>
            </a:r>
            <a:r>
              <a:rPr lang="en-US"/>
              <a:t> </a:t>
            </a:r>
            <a:r>
              <a:rPr lang="en-US" sz="2400"/>
              <a:t>Analyze or make sense of the instructions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EXECUTE :</a:t>
            </a:r>
            <a:r>
              <a:rPr lang="en-US"/>
              <a:t> </a:t>
            </a:r>
            <a:r>
              <a:rPr lang="en-US" sz="2400"/>
              <a:t>Carry out the instructions</a:t>
            </a:r>
            <a:r>
              <a:rPr lang="en-US"/>
              <a:t>, </a:t>
            </a:r>
            <a:r>
              <a:rPr lang="en-US"/>
              <a:t>Controls overall operation of the computer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Important components:  </a:t>
            </a:r>
            <a:r>
              <a:rPr lang="en-US"/>
              <a:t>Registers ,  ALU , Control Unit</a:t>
            </a:r>
            <a:endParaRPr sz="2600">
              <a:solidFill>
                <a:schemeClr val="dk1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250px-Pentiumd" id="78" name="Google Shape;78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4423122"/>
            <a:ext cx="238125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 txBox="1"/>
          <p:nvPr/>
        </p:nvSpPr>
        <p:spPr>
          <a:xfrm>
            <a:off x="2209800" y="5689947"/>
            <a:ext cx="49688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Pentium D dual core 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81" name="Google Shape;8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Memory</a:t>
            </a:r>
            <a:endParaRPr/>
          </a:p>
        </p:txBody>
      </p:sp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3850" lvl="0" marL="41624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This is where all the binary coded instructions and data are stored. Example: ROM, RAM etc.</a:t>
            </a:r>
            <a:endParaRPr/>
          </a:p>
          <a:p>
            <a:pPr indent="0" lvl="0" marL="923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0" lvl="0" marL="923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lang="en-US"/>
              <a:t>RAM (Random Access Memory) :</a:t>
            </a:r>
            <a:endParaRPr/>
          </a:p>
          <a:p>
            <a:pPr indent="-457200" lvl="0" marL="5495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❑"/>
            </a:pPr>
            <a:r>
              <a:rPr lang="en-US"/>
              <a:t>Can be read and written to anytime by the CPU.</a:t>
            </a:r>
            <a:endParaRPr/>
          </a:p>
          <a:p>
            <a:pPr indent="-457200" lvl="0" marL="5495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❑"/>
            </a:pPr>
            <a:r>
              <a:rPr lang="en-US"/>
              <a:t>It is volatile memory. That means contents of RAM are erased when the power to the computer is turned off. </a:t>
            </a:r>
            <a:endParaRPr/>
          </a:p>
          <a:p>
            <a:pPr indent="0" lvl="0" marL="923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0" lvl="0" marL="923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lang="en-US"/>
              <a:t>ROM (Read Only Memory) :</a:t>
            </a:r>
            <a:endParaRPr/>
          </a:p>
          <a:p>
            <a:pPr indent="-457200" lvl="0" marL="5495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❑"/>
            </a:pPr>
            <a:r>
              <a:rPr lang="en-US"/>
              <a:t>Can only be read by the CPU. </a:t>
            </a:r>
            <a:endParaRPr/>
          </a:p>
          <a:p>
            <a:pPr indent="-457200" lvl="0" marL="5495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❑"/>
            </a:pPr>
            <a:r>
              <a:rPr lang="en-US"/>
              <a:t>It is pre-loaded with data and software that never changes like computer's initial start-up instructions. </a:t>
            </a:r>
            <a:endParaRPr/>
          </a:p>
          <a:p>
            <a:pPr indent="-457200" lvl="0" marL="5495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❑"/>
            </a:pPr>
            <a:r>
              <a:rPr lang="en-US"/>
              <a:t>It is non volatile memory. That means contents of ROM are </a:t>
            </a:r>
            <a:r>
              <a:rPr b="1" lang="en-US"/>
              <a:t>NOT</a:t>
            </a:r>
            <a:r>
              <a:rPr lang="en-US"/>
              <a:t> erased when the power to the computer is turned off. </a:t>
            </a:r>
            <a:endParaRPr/>
          </a:p>
          <a:p>
            <a:pPr indent="-167665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I/O Unit</a:t>
            </a:r>
            <a:endParaRPr/>
          </a:p>
        </p:txBody>
      </p:sp>
      <p:sp>
        <p:nvSpPr>
          <p:cNvPr id="96" name="Google Shape;96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457200" y="1219200"/>
            <a:ext cx="8229600" cy="5134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1624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Input/output (I/O) units serve as a medium of communication between the user and the computer.</a:t>
            </a:r>
            <a:endParaRPr/>
          </a:p>
          <a:p>
            <a:pPr indent="-208026" lvl="0" marL="41624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  <a:p>
            <a:pPr indent="-323850" lvl="0" marL="41624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Inputs</a:t>
            </a:r>
            <a:r>
              <a:rPr lang="en-US" sz="2400"/>
              <a:t> are the signals or data received by the system, and </a:t>
            </a:r>
            <a:r>
              <a:rPr b="1" lang="en-US" sz="2400"/>
              <a:t>outputs</a:t>
            </a:r>
            <a:r>
              <a:rPr lang="en-US" sz="2400"/>
              <a:t> are the signals or data sent from it. </a:t>
            </a:r>
            <a:endParaRPr sz="2400"/>
          </a:p>
          <a:p>
            <a:pPr indent="-323850" lvl="0" marL="41624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Devices that provide input or output to the computer are called </a:t>
            </a:r>
            <a:r>
              <a:rPr b="1" i="1" lang="en-US" sz="2400"/>
              <a:t>peripherals</a:t>
            </a:r>
            <a:r>
              <a:rPr lang="en-US" sz="2400"/>
              <a:t>. </a:t>
            </a:r>
            <a:endParaRPr/>
          </a:p>
          <a:p>
            <a:pPr indent="-323850" lvl="0" marL="41624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For example: </a:t>
            </a:r>
            <a:endParaRPr/>
          </a:p>
          <a:p>
            <a:pPr indent="0" lvl="0" marL="923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rPr b="1" lang="en-US" sz="2200"/>
              <a:t>	keyboard</a:t>
            </a:r>
            <a:r>
              <a:rPr lang="en-US" sz="2200"/>
              <a:t>, </a:t>
            </a:r>
            <a:r>
              <a:rPr b="1" lang="en-US" sz="2200"/>
              <a:t>mouse</a:t>
            </a:r>
            <a:r>
              <a:rPr lang="en-US" sz="2200"/>
              <a:t> (input)</a:t>
            </a:r>
            <a:endParaRPr/>
          </a:p>
          <a:p>
            <a:pPr indent="0" lvl="0" marL="9239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rPr b="1" lang="en-US" sz="2200"/>
              <a:t>	display</a:t>
            </a:r>
            <a:r>
              <a:rPr lang="en-US" sz="2200"/>
              <a:t>, </a:t>
            </a:r>
            <a:r>
              <a:rPr b="1" lang="en-US" sz="2200"/>
              <a:t>printer(</a:t>
            </a:r>
            <a:r>
              <a:rPr lang="en-US" sz="2200"/>
              <a:t>output</a:t>
            </a:r>
            <a:r>
              <a:rPr b="1" lang="en-US" sz="2200"/>
              <a:t>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rPr lang="en-US" sz="2200"/>
              <a:t>	</a:t>
            </a:r>
            <a:endParaRPr sz="2200"/>
          </a:p>
        </p:txBody>
      </p:sp>
      <p:sp>
        <p:nvSpPr>
          <p:cNvPr id="98" name="Google Shape;98;p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System Bus</a:t>
            </a:r>
            <a:endParaRPr/>
          </a:p>
        </p:txBody>
      </p: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055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System bus is made up of three types of bus :</a:t>
            </a:r>
            <a:endParaRPr/>
          </a:p>
          <a:p>
            <a:pPr indent="-256030" lvl="3" marL="11887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</a:pPr>
            <a:r>
              <a:rPr lang="en-US"/>
              <a:t>Address Bus</a:t>
            </a:r>
            <a:endParaRPr/>
          </a:p>
          <a:p>
            <a:pPr indent="-256030" lvl="3" marL="11887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</a:pPr>
            <a:r>
              <a:rPr lang="en-US"/>
              <a:t>Data Bus</a:t>
            </a:r>
            <a:endParaRPr/>
          </a:p>
          <a:p>
            <a:pPr indent="-256030" lvl="3" marL="11887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</a:pPr>
            <a:r>
              <a:rPr lang="en-US"/>
              <a:t>Control Bus</a:t>
            </a:r>
            <a:endParaRPr/>
          </a:p>
          <a:p>
            <a:pPr indent="0" lvl="0" marL="1097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b="1"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WRITE operation :</a:t>
            </a:r>
            <a:r>
              <a:rPr b="1" i="1" lang="en-US"/>
              <a:t> </a:t>
            </a:r>
            <a:r>
              <a:rPr lang="en-US"/>
              <a:t>When data is written onto memory location or an I/O port by the processor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READ operation</a:t>
            </a:r>
            <a:r>
              <a:rPr b="1" i="1" lang="en-US"/>
              <a:t> </a:t>
            </a:r>
            <a:r>
              <a:rPr b="1" lang="en-US"/>
              <a:t>: </a:t>
            </a:r>
            <a:r>
              <a:rPr b="1" i="1" lang="en-US"/>
              <a:t> </a:t>
            </a:r>
            <a:r>
              <a:rPr lang="en-US"/>
              <a:t>When data is</a:t>
            </a:r>
            <a:r>
              <a:rPr b="1" i="1" lang="en-US"/>
              <a:t> </a:t>
            </a:r>
            <a:r>
              <a:rPr lang="en-US"/>
              <a:t>read from a selected memory location or an I/O port by the processor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Address Bus</a:t>
            </a:r>
            <a:endParaRPr/>
          </a:p>
        </p:txBody>
      </p:sp>
      <p:sp>
        <p:nvSpPr>
          <p:cNvPr id="114" name="Google Shape;114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6692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Carries memory address of the instructions which are to be executed</a:t>
            </a:r>
            <a:endParaRPr/>
          </a:p>
          <a:p>
            <a:pPr indent="-457200" lvl="0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chemeClr val="dk1"/>
                </a:solidFill>
              </a:rPr>
              <a:t>Information transfer takes place from the </a:t>
            </a:r>
            <a:r>
              <a:rPr lang="en-US"/>
              <a:t>processor</a:t>
            </a:r>
            <a:r>
              <a:rPr lang="en-US">
                <a:solidFill>
                  <a:schemeClr val="dk1"/>
                </a:solidFill>
              </a:rPr>
              <a:t> to the memory or I/O elements. </a:t>
            </a:r>
            <a:endParaRPr>
              <a:solidFill>
                <a:schemeClr val="dk1"/>
              </a:solidFill>
            </a:endParaRPr>
          </a:p>
          <a:p>
            <a:pPr indent="-457200" lvl="0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That is why address bus is </a:t>
            </a:r>
            <a:r>
              <a:rPr b="1" i="1" lang="en-US"/>
              <a:t>Unidirectional</a:t>
            </a:r>
            <a:r>
              <a:rPr i="1" lang="en-US"/>
              <a:t>.</a:t>
            </a:r>
            <a:endParaRPr/>
          </a:p>
          <a:p>
            <a:pPr indent="-457200" lvl="0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chemeClr val="dk1"/>
                </a:solidFill>
              </a:rPr>
              <a:t>The number of locations that the CPU can address is determined by the size of address bus</a:t>
            </a:r>
            <a:endParaRPr>
              <a:solidFill>
                <a:schemeClr val="dk1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914400" y="5257800"/>
            <a:ext cx="7286625" cy="107156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example : microprocessor with 32 bit address bus can</a:t>
            </a:r>
            <a:endParaRPr b="1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address 2</a:t>
            </a:r>
            <a:r>
              <a:rPr b="1" baseline="3000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32</a:t>
            </a: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memory locations</a:t>
            </a:r>
            <a:endParaRPr b="1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7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Data Bus</a:t>
            </a:r>
            <a:endParaRPr/>
          </a:p>
        </p:txBody>
      </p:sp>
      <p:sp>
        <p:nvSpPr>
          <p:cNvPr id="124" name="Google Shape;124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055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It is used to carry data.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It is a bidirectional. That means data can flow in both to or from the microprocessor. 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size of the data bus varies from one microprocessor to another.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Usually matches the </a:t>
            </a:r>
            <a:r>
              <a:rPr i="1" lang="en-US"/>
              <a:t>word length</a:t>
            </a:r>
            <a:r>
              <a:rPr lang="en-US"/>
              <a:t> of the microprocessor </a:t>
            </a:r>
            <a:endParaRPr/>
          </a:p>
          <a:p>
            <a:pPr indent="-256032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Control Bus</a:t>
            </a:r>
            <a:endParaRPr/>
          </a:p>
        </p:txBody>
      </p:sp>
      <p:sp>
        <p:nvSpPr>
          <p:cNvPr id="133" name="Google Shape;133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1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52"/>
              <a:buChar char="?"/>
            </a:pPr>
            <a:r>
              <a:rPr lang="en-US" sz="2700"/>
              <a:t>It carries timing and control signals generated by the CPU that are used to synchronize operation of the individual microcomputer elements.</a:t>
            </a:r>
            <a:endParaRPr/>
          </a:p>
          <a:p>
            <a:pPr indent="0" lvl="0" marL="1097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52"/>
              <a:buNone/>
            </a:pPr>
            <a:r>
              <a:t/>
            </a:r>
            <a:endParaRPr sz="2700"/>
          </a:p>
          <a:p>
            <a:pPr indent="-256031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52"/>
              <a:buChar char="?"/>
            </a:pPr>
            <a:r>
              <a:rPr lang="en-US" sz="2700"/>
              <a:t>It can carry many different signals. For e.g. </a:t>
            </a:r>
            <a:endParaRPr sz="2700"/>
          </a:p>
          <a:p>
            <a:pPr indent="-256032" lvl="1" marL="640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Char char="?"/>
            </a:pPr>
            <a:r>
              <a:rPr lang="en-US" sz="2500">
                <a:solidFill>
                  <a:schemeClr val="dk1"/>
                </a:solidFill>
              </a:rPr>
              <a:t>I/O Read</a:t>
            </a:r>
            <a:endParaRPr sz="2500">
              <a:solidFill>
                <a:schemeClr val="dk1"/>
              </a:solidFill>
            </a:endParaRPr>
          </a:p>
          <a:p>
            <a:pPr indent="-256032" lvl="1" marL="640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Char char="?"/>
            </a:pPr>
            <a:r>
              <a:rPr lang="en-US" sz="2500">
                <a:solidFill>
                  <a:schemeClr val="dk1"/>
                </a:solidFill>
              </a:rPr>
              <a:t>I/O Write</a:t>
            </a:r>
            <a:endParaRPr sz="2500">
              <a:solidFill>
                <a:schemeClr val="dk1"/>
              </a:solidFill>
            </a:endParaRPr>
          </a:p>
          <a:p>
            <a:pPr indent="-256032" lvl="1" marL="640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Char char="?"/>
            </a:pPr>
            <a:r>
              <a:rPr lang="en-US" sz="2500">
                <a:solidFill>
                  <a:schemeClr val="dk1"/>
                </a:solidFill>
              </a:rPr>
              <a:t>Interrupt</a:t>
            </a:r>
            <a:endParaRPr/>
          </a:p>
          <a:p>
            <a:pPr indent="-256032" lvl="1" marL="640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Char char="?"/>
            </a:pPr>
            <a:r>
              <a:rPr lang="en-US" sz="2500">
                <a:solidFill>
                  <a:schemeClr val="dk1"/>
                </a:solidFill>
              </a:rPr>
              <a:t>Memory read</a:t>
            </a:r>
            <a:endParaRPr/>
          </a:p>
          <a:p>
            <a:pPr indent="-256032" lvl="1" marL="640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Char char="?"/>
            </a:pPr>
            <a:r>
              <a:rPr lang="en-US" sz="2500">
                <a:solidFill>
                  <a:schemeClr val="dk1"/>
                </a:solidFill>
              </a:rPr>
              <a:t>Memory write</a:t>
            </a:r>
            <a:endParaRPr sz="2500">
              <a:solidFill>
                <a:schemeClr val="dk1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Fetch &amp; Execute Cycles</a:t>
            </a:r>
            <a:endParaRPr/>
          </a:p>
        </p:txBody>
      </p:sp>
      <p:sp>
        <p:nvSpPr>
          <p:cNvPr id="142" name="Google Shape;142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Fetch &amp; Execute Cycle of the CPU is composed of three basic operations :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Noto Sans Symbols"/>
              <a:buChar char="❑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Fetch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Noto Sans Symbols"/>
              <a:buChar char="❑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Noto Sans Symbols"/>
              <a:buChar char="❑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Fetch :</a:t>
            </a:r>
            <a:endParaRPr b="1"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The instruction required from memory is stored or copied in the instruction register.</a:t>
            </a:r>
            <a:endParaRPr sz="2400">
              <a:solidFill>
                <a:schemeClr val="dk1"/>
              </a:solidFill>
            </a:endParaRPr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 Increments the program counter so that it points to the next instruction.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ookman Old Style"/>
              <a:buNone/>
            </a:pPr>
            <a:r>
              <a:rPr lang="en-US" sz="2800"/>
              <a:t>The CPU’s Special Purpose Registers</a:t>
            </a:r>
            <a:endParaRPr sz="2800"/>
          </a:p>
        </p:txBody>
      </p:sp>
      <p:sp>
        <p:nvSpPr>
          <p:cNvPr id="151" name="Google Shape;151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8"/>
              <a:buChar char="?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Program Counter               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Holds address of next instruction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Instruction Register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Holds the instruction currently being executed 			          	     or decoded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Memory Address Register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Holds memory address from where data will 			          	     be fetched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Memory Data Register 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	  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Holds the data being transferred to the   				      memory or from the memory by the CPU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3459207"/>
            <a:ext cx="5105400" cy="2895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 University Jobs 2020- Jobs in BRAC University- careerz360.com" id="155" name="Google Shape;1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Fetching an Instruction</a:t>
            </a:r>
            <a:endParaRPr/>
          </a:p>
        </p:txBody>
      </p:sp>
      <p:sp>
        <p:nvSpPr>
          <p:cNvPr id="161" name="Google Shape;161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457200" y="1298575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Step 1</a:t>
            </a:r>
            <a:endParaRPr b="1"/>
          </a:p>
        </p:txBody>
      </p:sp>
      <p:sp>
        <p:nvSpPr>
          <p:cNvPr id="163" name="Google Shape;163;p12"/>
          <p:cNvSpPr txBox="1"/>
          <p:nvPr/>
        </p:nvSpPr>
        <p:spPr>
          <a:xfrm>
            <a:off x="684213" y="1836003"/>
            <a:ext cx="77755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Program Counter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or instruction pointer (IP) is a register that holds the address of the next instruction to be fetch.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 txBox="1"/>
          <p:nvPr>
            <p:ph idx="11" type="ftr"/>
          </p:nvPr>
        </p:nvSpPr>
        <p:spPr>
          <a:xfrm>
            <a:off x="1905000" y="635635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65" name="Google Shape;1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2740878"/>
            <a:ext cx="6131337" cy="327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/>
          <p:nvPr/>
        </p:nvSpPr>
        <p:spPr>
          <a:xfrm>
            <a:off x="1295400" y="3014662"/>
            <a:ext cx="1944688" cy="720725"/>
          </a:xfrm>
          <a:prstGeom prst="ellipse">
            <a:avLst/>
          </a:prstGeom>
          <a:noFill/>
          <a:ln cap="flat" cmpd="sng" w="28575">
            <a:solidFill>
              <a:srgbClr val="D31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4366120" y="2995322"/>
            <a:ext cx="1944688" cy="720725"/>
          </a:xfrm>
          <a:prstGeom prst="ellipse">
            <a:avLst/>
          </a:prstGeom>
          <a:noFill/>
          <a:ln cap="flat" cmpd="sng" w="28575">
            <a:solidFill>
              <a:srgbClr val="D31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Fetching an Instruction</a:t>
            </a:r>
            <a:endParaRPr/>
          </a:p>
        </p:txBody>
      </p:sp>
      <p:sp>
        <p:nvSpPr>
          <p:cNvPr id="174" name="Google Shape;174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457200" y="13716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Step 2</a:t>
            </a:r>
            <a:endParaRPr b="1"/>
          </a:p>
        </p:txBody>
      </p:sp>
      <p:sp>
        <p:nvSpPr>
          <p:cNvPr id="176" name="Google Shape;176;p1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912471"/>
            <a:ext cx="7924800" cy="443650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3"/>
          <p:cNvSpPr/>
          <p:nvPr/>
        </p:nvSpPr>
        <p:spPr>
          <a:xfrm flipH="1">
            <a:off x="1546817" y="3151492"/>
            <a:ext cx="396875" cy="358775"/>
          </a:xfrm>
          <a:prstGeom prst="downArrow">
            <a:avLst>
              <a:gd fmla="val 50000" name="adj1"/>
              <a:gd fmla="val 31044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 flipH="1" rot="5400000">
            <a:off x="1593695" y="3203799"/>
            <a:ext cx="303086" cy="198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1600793" y="3960090"/>
            <a:ext cx="288925" cy="358775"/>
          </a:xfrm>
          <a:prstGeom prst="downArrow">
            <a:avLst>
              <a:gd fmla="val 50000" name="adj1"/>
              <a:gd fmla="val 31044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 rot="5400000">
            <a:off x="1588273" y="4044808"/>
            <a:ext cx="313928" cy="14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2895600" y="3467451"/>
            <a:ext cx="1524000" cy="1265798"/>
          </a:xfrm>
          <a:prstGeom prst="rect">
            <a:avLst/>
          </a:prstGeom>
          <a:solidFill>
            <a:srgbClr val="D7E1EA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address moves over the address bus to the Memory Address Register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990600" y="5410200"/>
            <a:ext cx="1603248" cy="30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Address Register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2895600" y="2514600"/>
            <a:ext cx="1524000" cy="94548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Fetching an Instruction</a:t>
            </a:r>
            <a:endParaRPr/>
          </a:p>
        </p:txBody>
      </p:sp>
      <p:sp>
        <p:nvSpPr>
          <p:cNvPr id="191" name="Google Shape;191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468313" y="12954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Step 3</a:t>
            </a:r>
            <a:endParaRPr b="1"/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3" y="1943100"/>
            <a:ext cx="5859462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4"/>
          <p:cNvSpPr/>
          <p:nvPr/>
        </p:nvSpPr>
        <p:spPr>
          <a:xfrm rot="-2160787">
            <a:off x="1991282" y="3211973"/>
            <a:ext cx="2041013" cy="296072"/>
          </a:xfrm>
          <a:prstGeom prst="rightArrow">
            <a:avLst>
              <a:gd fmla="val 41176" name="adj1"/>
              <a:gd fmla="val 137354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3924300" y="2303463"/>
            <a:ext cx="1295400" cy="576262"/>
          </a:xfrm>
          <a:prstGeom prst="ellipse">
            <a:avLst/>
          </a:prstGeom>
          <a:noFill/>
          <a:ln cap="flat" cmpd="sng" w="28575">
            <a:solidFill>
              <a:srgbClr val="501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" name="Google Shape;196;p14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197" name="Google Shape;1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/>
          <p:nvPr/>
        </p:nvSpPr>
        <p:spPr>
          <a:xfrm>
            <a:off x="765048" y="4572000"/>
            <a:ext cx="1978152" cy="45084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Address Register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1045179" y="2404197"/>
            <a:ext cx="1676400" cy="95105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location of the instruction is located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1080596" y="3313785"/>
            <a:ext cx="838200" cy="253136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Fetching an Instruction</a:t>
            </a:r>
            <a:endParaRPr/>
          </a:p>
        </p:txBody>
      </p:sp>
      <p:sp>
        <p:nvSpPr>
          <p:cNvPr id="206" name="Google Shape;206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15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Step 4</a:t>
            </a:r>
            <a:endParaRPr/>
          </a:p>
        </p:txBody>
      </p:sp>
      <p:pic>
        <p:nvPicPr>
          <p:cNvPr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3" y="2276475"/>
            <a:ext cx="6769100" cy="374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/>
          <p:nvPr/>
        </p:nvSpPr>
        <p:spPr>
          <a:xfrm rot="10800000">
            <a:off x="1331913" y="1628775"/>
            <a:ext cx="5832475" cy="1079500"/>
          </a:xfrm>
          <a:prstGeom prst="curvedUpArrow">
            <a:avLst>
              <a:gd fmla="val 21362" name="adj1"/>
              <a:gd fmla="val 116964" name="adj2"/>
              <a:gd fmla="val 33380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1763713" y="3716338"/>
            <a:ext cx="287337" cy="792162"/>
          </a:xfrm>
          <a:prstGeom prst="downArrow">
            <a:avLst>
              <a:gd fmla="val 50000" name="adj1"/>
              <a:gd fmla="val 68923" name="adj2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 rot="5400000">
            <a:off x="1560798" y="3991061"/>
            <a:ext cx="693141" cy="14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2" name="Google Shape;212;p1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213" name="Google Shape;2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5"/>
          <p:cNvSpPr/>
          <p:nvPr/>
        </p:nvSpPr>
        <p:spPr>
          <a:xfrm>
            <a:off x="1025958" y="5468624"/>
            <a:ext cx="1978152" cy="45084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Data Register</a:t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2438400" y="4038600"/>
            <a:ext cx="1752600" cy="609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Fetching an Instruction</a:t>
            </a:r>
            <a:endParaRPr/>
          </a:p>
        </p:txBody>
      </p:sp>
      <p:sp>
        <p:nvSpPr>
          <p:cNvPr id="221" name="Google Shape;221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6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Step 5</a:t>
            </a:r>
            <a:endParaRPr/>
          </a:p>
        </p:txBody>
      </p:sp>
      <p:sp>
        <p:nvSpPr>
          <p:cNvPr id="223" name="Google Shape;223;p1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224" name="Google Shape;2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333" y="2281767"/>
            <a:ext cx="6133333" cy="3390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/>
          <p:nvPr/>
        </p:nvSpPr>
        <p:spPr>
          <a:xfrm>
            <a:off x="1685130" y="3350205"/>
            <a:ext cx="372270" cy="688395"/>
          </a:xfrm>
          <a:prstGeom prst="downArrow">
            <a:avLst>
              <a:gd fmla="val 50000" name="adj1"/>
              <a:gd fmla="val 68923" name="adj2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 rot="5400000">
            <a:off x="1591207" y="3537185"/>
            <a:ext cx="560105" cy="186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839723" y="2442157"/>
            <a:ext cx="1978152" cy="45084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Data Register</a:t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Food for thought</a:t>
            </a:r>
            <a:endParaRPr/>
          </a:p>
        </p:txBody>
      </p:sp>
      <p:sp>
        <p:nvSpPr>
          <p:cNvPr id="234" name="Google Shape;234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What do you mean by a 32 bit Data Bus ?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BIOS is a special program that orchestrates loading the computer's operating system.  Should it be stored in ROM or RAM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BRAC University Jobs 2020- Jobs in BRAC University- careerz360.com" id="237" name="Google Shape;2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45473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