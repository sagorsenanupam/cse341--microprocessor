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7010400" cy="9296400"/>
  <p:embeddedFontLs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faVOpFpkZJhm9JuZqzJk1BShq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422C03-B843-4E6F-B68D-E832013B76CB}">
  <a:tblStyle styleId="{99422C03-B843-4E6F-B68D-E832013B76CB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0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0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9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/>
        </p:nvSpPr>
        <p:spPr>
          <a:xfrm>
            <a:off x="0" y="1371600"/>
            <a:ext cx="91440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Internal 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8086 Microprocessor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1295400" y="502920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ID:</a:t>
            </a:r>
            <a:r>
              <a:rPr b="0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CSE - 341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Title: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Microprocessors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1143000" y="3352800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Department of Computer Science &amp; Engineering</a:t>
            </a:r>
            <a:b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BRAC University.</a:t>
            </a:r>
            <a:endParaRPr b="0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Book: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163322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Organization of the 8086 </a:t>
            </a:r>
            <a:endParaRPr/>
          </a:p>
        </p:txBody>
      </p:sp>
      <p:sp>
        <p:nvSpPr>
          <p:cNvPr id="54" name="Google Shape;54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Microprocessor </a:t>
            </a:r>
            <a:r>
              <a:rPr lang="en-US"/>
              <a:t>8086 is internally divided into two separate functional units. These are: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▪"/>
            </a:pPr>
            <a:r>
              <a:rPr b="1" lang="en-US"/>
              <a:t>Bus Interface Unit (BIU)</a:t>
            </a:r>
            <a:r>
              <a:rPr lang="en-US"/>
              <a:t> 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▪"/>
            </a:pPr>
            <a:r>
              <a:rPr b="1" lang="en-US"/>
              <a:t>Execution Unit (EU)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These two functional units can work simultaneously to increase system speed and hence the throughput.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Throughput is a measure of number of instructions executed per unit time.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These two units interact directly  with each other through Internal Bus</a:t>
            </a:r>
            <a:r>
              <a:rPr lang="en-US" sz="2400"/>
              <a:t>.</a:t>
            </a:r>
            <a:endParaRPr/>
          </a:p>
          <a:p>
            <a:pPr indent="-17297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b="1" sz="2400"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457200" y="152400"/>
            <a:ext cx="8229600" cy="6388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16-Bit 8086 Intel Processor Architecture </a:t>
            </a:r>
            <a:endParaRPr/>
          </a:p>
        </p:txBody>
      </p:sp>
      <p:sp>
        <p:nvSpPr>
          <p:cNvPr id="62" name="Google Shape;62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</p:txBody>
      </p:sp>
      <p:pic>
        <p:nvPicPr>
          <p:cNvPr descr="8086 registers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791210"/>
            <a:ext cx="8077200" cy="583819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940" y="1752600"/>
            <a:ext cx="1524000" cy="76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Physical address = segment no x 10h +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4"/>
          <p:cNvCxnSpPr>
            <a:stCxn id="66" idx="3"/>
          </p:cNvCxnSpPr>
          <p:nvPr/>
        </p:nvCxnSpPr>
        <p:spPr>
          <a:xfrm>
            <a:off x="1573940" y="2133600"/>
            <a:ext cx="407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4"/>
          <p:cNvSpPr/>
          <p:nvPr/>
        </p:nvSpPr>
        <p:spPr>
          <a:xfrm>
            <a:off x="7696200" y="3429000"/>
            <a:ext cx="1397860" cy="263779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AX,3H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BX,4H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AX,BX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AX, 2H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9" name="Google Shape;69;p4"/>
          <p:cNvCxnSpPr/>
          <p:nvPr/>
        </p:nvCxnSpPr>
        <p:spPr>
          <a:xfrm rot="10800000">
            <a:off x="6705600" y="4724400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4"/>
          <p:cNvSpPr txBox="1"/>
          <p:nvPr/>
        </p:nvSpPr>
        <p:spPr>
          <a:xfrm>
            <a:off x="3920041" y="4191000"/>
            <a:ext cx="5020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6553200" y="4191000"/>
            <a:ext cx="478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5203413" y="4191614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5562600" y="4560332"/>
            <a:ext cx="0" cy="1875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Bus Interface Unit</a:t>
            </a:r>
            <a:endParaRPr/>
          </a:p>
        </p:txBody>
      </p:sp>
      <p:sp>
        <p:nvSpPr>
          <p:cNvPr id="79" name="Google Shape;79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BIU:</a:t>
            </a:r>
            <a:r>
              <a:rPr lang="en-US"/>
              <a:t>  facilitates communication between the EU &amp; the memory or I/O circuits. It provides a full 16-bit bi-directional data bus and 20-bit address bus. 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Responsible for transmitting addresses, data, and control signals on the buses.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</a:rPr>
              <a:t>Registers</a:t>
            </a:r>
            <a:r>
              <a:rPr lang="en-US" sz="2400">
                <a:solidFill>
                  <a:schemeClr val="dk1"/>
                </a:solidFill>
              </a:rPr>
              <a:t> (CS, DS, ES, SS, and IP) hold addresses of memory locations.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</a:rPr>
              <a:t>IP</a:t>
            </a:r>
            <a:r>
              <a:rPr lang="en-US" sz="2400">
                <a:solidFill>
                  <a:schemeClr val="dk1"/>
                </a:solidFill>
              </a:rPr>
              <a:t> (instruction pointer) contain the address of the next instruction to be executed by the EU.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139192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sp>
        <p:nvSpPr>
          <p:cNvPr id="81" name="Google Shape;81;p5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Bus Interface Unit</a:t>
            </a:r>
            <a:endParaRPr/>
          </a:p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lang="en-US" sz="2800"/>
              <a:t>The bus interface unit is responsible for performing all external bus operations, as listed below.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sends address of the memory or I/O.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fetches instruction from memory.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reads data from port/memory.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Writes data into port/memory.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supports instruction queuing.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provides the address relocation facility.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139192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sp>
        <p:nvSpPr>
          <p:cNvPr id="89" name="Google Shape;89;p6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chemeClr val="dk1"/>
                </a:solidFill>
              </a:rPr>
              <a:t>Physical Address Calculation in BIU</a:t>
            </a:r>
            <a:endParaRPr sz="2800"/>
          </a:p>
        </p:txBody>
      </p:sp>
      <p:sp>
        <p:nvSpPr>
          <p:cNvPr id="95" name="Google Shape;95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02" y="3070121"/>
            <a:ext cx="7155236" cy="174932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762000" y="1326808"/>
            <a:ext cx="7620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generate 20 bit physical address Segment Registers (CS, DS, SS, ES) and Pointer and Index Registers (IP, SP, BP, SI, DI) are needed.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Memory Segment and Segment Registers</a:t>
            </a:r>
            <a:endParaRPr/>
          </a:p>
        </p:txBody>
      </p:sp>
      <p:sp>
        <p:nvSpPr>
          <p:cNvPr id="104" name="Google Shape;104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8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682" y="995022"/>
            <a:ext cx="3467318" cy="5401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chemeClr val="dk1"/>
                </a:solidFill>
              </a:rPr>
              <a:t>Physical Address Calculation Examples</a:t>
            </a:r>
            <a:endParaRPr sz="2800"/>
          </a:p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271" y="1371600"/>
            <a:ext cx="814848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257" y="3200400"/>
            <a:ext cx="3886742" cy="281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chemeClr val="dk1"/>
                </a:solidFill>
              </a:rPr>
              <a:t>Physical Address Calculation Examples</a:t>
            </a:r>
            <a:endParaRPr sz="2800"/>
          </a:p>
        </p:txBody>
      </p:sp>
      <p:sp>
        <p:nvSpPr>
          <p:cNvPr id="121" name="Google Shape;121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02" y="1459523"/>
            <a:ext cx="8318998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Instruction Queue</a:t>
            </a:r>
            <a:endParaRPr/>
          </a:p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To speed up program execution, the BIU fetches </a:t>
            </a:r>
            <a:r>
              <a:rPr b="1" lang="en-US"/>
              <a:t>six instruction bytes</a:t>
            </a:r>
            <a:r>
              <a:rPr lang="en-US"/>
              <a:t> ahead of time from the memory.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These prefetched instruction bytes are held for the execution unit in a group of registers called </a:t>
            </a:r>
            <a:r>
              <a:rPr b="1" lang="en-US"/>
              <a:t>Queue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With the help of queue it is possible to fetch next instruction when current instruction is in execution.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queue operates on the principle first in first out (FIFO). So that the execution unit gets the instructions for execution in the order they are fetched.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Exceptions: JUMP and CALL instructions</a:t>
            </a:r>
            <a:endParaRPr sz="2800"/>
          </a:p>
        </p:txBody>
      </p:sp>
      <p:sp>
        <p:nvSpPr>
          <p:cNvPr id="131" name="Google Shape;131;p11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Instruction Queue</a:t>
            </a:r>
            <a:endParaRPr/>
          </a:p>
        </p:txBody>
      </p:sp>
      <p:sp>
        <p:nvSpPr>
          <p:cNvPr id="137" name="Google Shape;137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12"/>
          <p:cNvGraphicFramePr/>
          <p:nvPr/>
        </p:nvGraphicFramePr>
        <p:xfrm>
          <a:off x="2060448" y="1752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{99422C03-B843-4E6F-B68D-E832013B76CB}</a:tableStyleId>
              </a:tblPr>
              <a:tblGrid>
                <a:gridCol w="106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0" name="Google Shape;140;p12"/>
          <p:cNvSpPr txBox="1"/>
          <p:nvPr/>
        </p:nvSpPr>
        <p:spPr>
          <a:xfrm>
            <a:off x="1049781" y="1753479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1014340" y="3216312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990599" y="3583857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1028995" y="3971052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1028994" y="2833797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1053575" y="2451282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1049781" y="2122811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3420017" y="1801274"/>
            <a:ext cx="2596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Current Instruction in EU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3420017" y="2817804"/>
            <a:ext cx="2353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Instructions prefetched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12"/>
          <p:cNvCxnSpPr/>
          <p:nvPr/>
        </p:nvCxnSpPr>
        <p:spPr>
          <a:xfrm rot="10800000">
            <a:off x="3962400" y="2170606"/>
            <a:ext cx="0" cy="64719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12"/>
          <p:cNvCxnSpPr/>
          <p:nvPr/>
        </p:nvCxnSpPr>
        <p:spPr>
          <a:xfrm>
            <a:off x="3962400" y="3464135"/>
            <a:ext cx="0" cy="87624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51" name="Google Shape;151;p12"/>
          <p:cNvGraphicFramePr/>
          <p:nvPr/>
        </p:nvGraphicFramePr>
        <p:xfrm>
          <a:off x="2060448" y="457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{99422C03-B843-4E6F-B68D-E832013B76CB}</a:tableStyleId>
              </a:tblPr>
              <a:tblGrid>
                <a:gridCol w="106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2" name="Google Shape;152;p12"/>
          <p:cNvSpPr txBox="1"/>
          <p:nvPr/>
        </p:nvSpPr>
        <p:spPr>
          <a:xfrm>
            <a:off x="1049781" y="45636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1040789" y="494919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1049874" y="5325709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1049968" y="5733659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 flipH="1">
            <a:off x="6966111" y="4438474"/>
            <a:ext cx="17649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By JUMP or CALL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3287258" y="2043313"/>
            <a:ext cx="3819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603248" y="1741584"/>
            <a:ext cx="1992787" cy="2933916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3344852" y="4548207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12"/>
          <p:cNvCxnSpPr>
            <a:stCxn id="159" idx="2"/>
          </p:cNvCxnSpPr>
          <p:nvPr/>
        </p:nvCxnSpPr>
        <p:spPr>
          <a:xfrm>
            <a:off x="3524549" y="4917539"/>
            <a:ext cx="0" cy="1137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12"/>
          <p:cNvCxnSpPr>
            <a:stCxn id="157" idx="2"/>
          </p:cNvCxnSpPr>
          <p:nvPr/>
        </p:nvCxnSpPr>
        <p:spPr>
          <a:xfrm>
            <a:off x="3478223" y="2412645"/>
            <a:ext cx="0" cy="192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12"/>
          <p:cNvSpPr txBox="1"/>
          <p:nvPr/>
        </p:nvSpPr>
        <p:spPr>
          <a:xfrm flipH="1">
            <a:off x="4145708" y="4487525"/>
            <a:ext cx="17649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CALL ADDITION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Instruction Queue</a:t>
            </a:r>
            <a:endParaRPr/>
          </a:p>
        </p:txBody>
      </p:sp>
      <p:sp>
        <p:nvSpPr>
          <p:cNvPr id="168" name="Google Shape;168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1" y="1594459"/>
            <a:ext cx="7180138" cy="396814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4038600" y="5644727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Fig: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Execution Unit (EU)</a:t>
            </a:r>
            <a:endParaRPr/>
          </a:p>
        </p:txBody>
      </p:sp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execution unit of Internal Architecture of 8086 tells the BIU from where to fetch instructions or data, decodes instructions and executes instructions. It contains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Control Circuitry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Instruction Decoder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Arithmetic Logic Unit (ALU)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Flag Register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General Purpose Registers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Pointers and Index Registers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Execution Unit (EU)</a:t>
            </a:r>
            <a:endParaRPr/>
          </a:p>
        </p:txBody>
      </p:sp>
      <p:sp>
        <p:nvSpPr>
          <p:cNvPr id="185" name="Google Shape;185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main components of the EU are General purpose registers, the ALU, Special purpose registers, Instruction Register and Instruction Decoder and the Flag/Status Register.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Fetches instructions from the Queue in BIU, decodes and executes arithmetic and logic operations using the ALU.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Sends control signals for internal data transfer operations within the microprocessor.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Sends request signals to the BIU to access the external module.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It operates with respect to T-states (clock cycles) and not machine cycles.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Arithmetic Logic Unit (ALU)</a:t>
            </a:r>
            <a:endParaRPr/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98" lvl="1" marL="617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chemeClr val="dk1"/>
                </a:solidFill>
              </a:rPr>
              <a:t>This unit performs all arithmetic and logical computations.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42898" lvl="1" marL="6172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Char char="?"/>
            </a:pPr>
            <a:r>
              <a:rPr b="1" lang="en-US" sz="2800">
                <a:solidFill>
                  <a:schemeClr val="dk1"/>
                </a:solidFill>
              </a:rPr>
              <a:t>Instructions </a:t>
            </a:r>
            <a:r>
              <a:rPr lang="en-US" sz="2800">
                <a:solidFill>
                  <a:schemeClr val="dk1"/>
                </a:solidFill>
              </a:rPr>
              <a:t>those are fetched and decoded, are executed in the ALU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42898" lvl="1" marL="6172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chemeClr val="dk1"/>
                </a:solidFill>
              </a:rPr>
              <a:t>Thus, ALU has direct access to General Purpose Registers and Flags.</a:t>
            </a:r>
            <a:endParaRPr sz="2400"/>
          </a:p>
        </p:txBody>
      </p:sp>
      <p:sp>
        <p:nvSpPr>
          <p:cNvPr id="195" name="Google Shape;195;p16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Temporary and Flag registers</a:t>
            </a:r>
            <a:endParaRPr/>
          </a:p>
        </p:txBody>
      </p:sp>
      <p:sp>
        <p:nvSpPr>
          <p:cNvPr id="201" name="Google Shape;201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98" lvl="1" marL="617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Every processor has some temporary registers those are not visible to the programmers. 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For these registers, our data are not lost in between different kinds of operations,</a:t>
            </a:r>
            <a:endParaRPr/>
          </a:p>
          <a:p>
            <a:pPr indent="-342898" lvl="2" marL="891539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XCNG CX, BX</a:t>
            </a:r>
            <a:endParaRPr/>
          </a:p>
          <a:p>
            <a:pPr indent="-342900" lvl="4" marL="14401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Char char="◻"/>
            </a:pPr>
            <a:r>
              <a:rPr lang="en-US" sz="1700"/>
              <a:t>MOV temp, CX</a:t>
            </a:r>
            <a:endParaRPr/>
          </a:p>
          <a:p>
            <a:pPr indent="-342900" lvl="4" marL="14401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Char char="◻"/>
            </a:pPr>
            <a:r>
              <a:rPr lang="en-US" sz="1700"/>
              <a:t>MOV CX, BX</a:t>
            </a:r>
            <a:endParaRPr/>
          </a:p>
          <a:p>
            <a:pPr indent="-342900" lvl="4" marL="14401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Char char="◻"/>
            </a:pPr>
            <a:r>
              <a:rPr lang="en-US" sz="1700"/>
              <a:t>MOV BX, temp</a:t>
            </a:r>
            <a:endParaRPr/>
          </a:p>
          <a:p>
            <a:pPr indent="0" lvl="4" marL="10972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None/>
            </a:pPr>
            <a:r>
              <a:t/>
            </a:r>
            <a:endParaRPr sz="1700"/>
          </a:p>
          <a:p>
            <a:pPr indent="-285749" lvl="4" marL="6254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Char char="⮚"/>
            </a:pPr>
            <a:r>
              <a:rPr lang="en-US" sz="2400"/>
              <a:t>FLAG Registers: A flag is a flip–flop which indicates some condition produced by the execution of an instruction or controls certain operations of the EU.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Thank You !!</a:t>
            </a:r>
            <a:endParaRPr/>
          </a:p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j0178141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2209800"/>
            <a:ext cx="353377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